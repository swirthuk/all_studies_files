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Arimo" panose="020B0604020202020204" charset="0"/>
      <p:regular r:id="rId11"/>
    </p:embeddedFont>
    <p:embeddedFont>
      <p:font typeface="Arimo Bold" panose="020B0604020202020204" charset="0"/>
      <p:regular r:id="rId12"/>
    </p:embeddedFont>
    <p:embeddedFont>
      <p:font typeface="Bobby Jones" panose="020B0604020202020204" charset="0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Intro" panose="02000000000000000000" charset="0"/>
      <p:regular r:id="rId18"/>
    </p:embeddedFont>
    <p:embeddedFont>
      <p:font typeface="Public Sans" panose="020B0604020202020204" charset="0"/>
      <p:regular r:id="rId19"/>
    </p:embeddedFont>
    <p:embeddedFont>
      <p:font typeface="Public Sans Bold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826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23" Type="http://schemas.openxmlformats.org/officeDocument/2006/relationships/image" Target="../media/image22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28.svg"/><Relationship Id="rId18" Type="http://schemas.openxmlformats.org/officeDocument/2006/relationships/image" Target="../media/image9.png"/><Relationship Id="rId3" Type="http://schemas.openxmlformats.org/officeDocument/2006/relationships/image" Target="../media/image2.svg"/><Relationship Id="rId21" Type="http://schemas.openxmlformats.org/officeDocument/2006/relationships/image" Target="../media/image22.svg"/><Relationship Id="rId7" Type="http://schemas.openxmlformats.org/officeDocument/2006/relationships/image" Target="../media/image24.svg"/><Relationship Id="rId12" Type="http://schemas.openxmlformats.org/officeDocument/2006/relationships/image" Target="../media/image27.png"/><Relationship Id="rId17" Type="http://schemas.openxmlformats.org/officeDocument/2006/relationships/image" Target="../media/image32.svg"/><Relationship Id="rId2" Type="http://schemas.openxmlformats.org/officeDocument/2006/relationships/image" Target="../media/image1.png"/><Relationship Id="rId16" Type="http://schemas.openxmlformats.org/officeDocument/2006/relationships/image" Target="../media/image31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11" Type="http://schemas.openxmlformats.org/officeDocument/2006/relationships/image" Target="../media/image12.svg"/><Relationship Id="rId5" Type="http://schemas.openxmlformats.org/officeDocument/2006/relationships/image" Target="../media/image4.svg"/><Relationship Id="rId15" Type="http://schemas.openxmlformats.org/officeDocument/2006/relationships/image" Target="../media/image30.svg"/><Relationship Id="rId10" Type="http://schemas.openxmlformats.org/officeDocument/2006/relationships/image" Target="../media/image11.png"/><Relationship Id="rId19" Type="http://schemas.openxmlformats.org/officeDocument/2006/relationships/image" Target="../media/image10.svg"/><Relationship Id="rId4" Type="http://schemas.openxmlformats.org/officeDocument/2006/relationships/image" Target="../media/image3.png"/><Relationship Id="rId9" Type="http://schemas.openxmlformats.org/officeDocument/2006/relationships/image" Target="../media/image26.svg"/><Relationship Id="rId14" Type="http://schemas.openxmlformats.org/officeDocument/2006/relationships/image" Target="../media/image2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14.svg"/><Relationship Id="rId18" Type="http://schemas.openxmlformats.org/officeDocument/2006/relationships/image" Target="../media/image41.png"/><Relationship Id="rId3" Type="http://schemas.openxmlformats.org/officeDocument/2006/relationships/image" Target="../media/image2.svg"/><Relationship Id="rId21" Type="http://schemas.openxmlformats.org/officeDocument/2006/relationships/image" Target="../media/image22.svg"/><Relationship Id="rId7" Type="http://schemas.openxmlformats.org/officeDocument/2006/relationships/image" Target="../media/image34.svg"/><Relationship Id="rId12" Type="http://schemas.openxmlformats.org/officeDocument/2006/relationships/image" Target="../media/image13.png"/><Relationship Id="rId17" Type="http://schemas.openxmlformats.org/officeDocument/2006/relationships/image" Target="../media/image30.svg"/><Relationship Id="rId2" Type="http://schemas.openxmlformats.org/officeDocument/2006/relationships/image" Target="../media/image1.png"/><Relationship Id="rId16" Type="http://schemas.openxmlformats.org/officeDocument/2006/relationships/image" Target="../media/image29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11" Type="http://schemas.openxmlformats.org/officeDocument/2006/relationships/image" Target="../media/image38.svg"/><Relationship Id="rId5" Type="http://schemas.openxmlformats.org/officeDocument/2006/relationships/image" Target="../media/image4.svg"/><Relationship Id="rId15" Type="http://schemas.openxmlformats.org/officeDocument/2006/relationships/image" Target="../media/image40.svg"/><Relationship Id="rId10" Type="http://schemas.openxmlformats.org/officeDocument/2006/relationships/image" Target="../media/image37.png"/><Relationship Id="rId19" Type="http://schemas.openxmlformats.org/officeDocument/2006/relationships/image" Target="../media/image42.svg"/><Relationship Id="rId4" Type="http://schemas.openxmlformats.org/officeDocument/2006/relationships/image" Target="../media/image3.png"/><Relationship Id="rId9" Type="http://schemas.openxmlformats.org/officeDocument/2006/relationships/image" Target="../media/image36.svg"/><Relationship Id="rId14" Type="http://schemas.openxmlformats.org/officeDocument/2006/relationships/image" Target="../media/image3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svg"/><Relationship Id="rId7" Type="http://schemas.openxmlformats.org/officeDocument/2006/relationships/image" Target="../media/image46.svg"/><Relationship Id="rId12" Type="http://schemas.openxmlformats.org/officeDocument/2006/relationships/image" Target="../media/image4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11" Type="http://schemas.openxmlformats.org/officeDocument/2006/relationships/image" Target="../media/image22.svg"/><Relationship Id="rId5" Type="http://schemas.openxmlformats.org/officeDocument/2006/relationships/image" Target="../media/image44.svg"/><Relationship Id="rId10" Type="http://schemas.openxmlformats.org/officeDocument/2006/relationships/image" Target="../media/image21.png"/><Relationship Id="rId4" Type="http://schemas.openxmlformats.org/officeDocument/2006/relationships/image" Target="../media/image43.png"/><Relationship Id="rId9" Type="http://schemas.openxmlformats.org/officeDocument/2006/relationships/image" Target="../media/image16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55.svg"/><Relationship Id="rId18" Type="http://schemas.openxmlformats.org/officeDocument/2006/relationships/image" Target="../media/image39.png"/><Relationship Id="rId3" Type="http://schemas.openxmlformats.org/officeDocument/2006/relationships/image" Target="../media/image2.svg"/><Relationship Id="rId21" Type="http://schemas.openxmlformats.org/officeDocument/2006/relationships/image" Target="../media/image16.svg"/><Relationship Id="rId7" Type="http://schemas.openxmlformats.org/officeDocument/2006/relationships/image" Target="../media/image49.svg"/><Relationship Id="rId12" Type="http://schemas.openxmlformats.org/officeDocument/2006/relationships/image" Target="../media/image54.png"/><Relationship Id="rId17" Type="http://schemas.openxmlformats.org/officeDocument/2006/relationships/image" Target="../media/image32.svg"/><Relationship Id="rId2" Type="http://schemas.openxmlformats.org/officeDocument/2006/relationships/image" Target="../media/image1.png"/><Relationship Id="rId16" Type="http://schemas.openxmlformats.org/officeDocument/2006/relationships/image" Target="../media/image31.png"/><Relationship Id="rId20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11" Type="http://schemas.openxmlformats.org/officeDocument/2006/relationships/image" Target="../media/image53.svg"/><Relationship Id="rId5" Type="http://schemas.openxmlformats.org/officeDocument/2006/relationships/image" Target="../media/image4.svg"/><Relationship Id="rId15" Type="http://schemas.openxmlformats.org/officeDocument/2006/relationships/image" Target="../media/image12.svg"/><Relationship Id="rId23" Type="http://schemas.openxmlformats.org/officeDocument/2006/relationships/image" Target="../media/image22.svg"/><Relationship Id="rId10" Type="http://schemas.openxmlformats.org/officeDocument/2006/relationships/image" Target="../media/image52.png"/><Relationship Id="rId19" Type="http://schemas.openxmlformats.org/officeDocument/2006/relationships/image" Target="../media/image40.svg"/><Relationship Id="rId4" Type="http://schemas.openxmlformats.org/officeDocument/2006/relationships/image" Target="../media/image3.png"/><Relationship Id="rId9" Type="http://schemas.openxmlformats.org/officeDocument/2006/relationships/image" Target="../media/image51.svg"/><Relationship Id="rId14" Type="http://schemas.openxmlformats.org/officeDocument/2006/relationships/image" Target="../media/image11.png"/><Relationship Id="rId22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32.svg"/><Relationship Id="rId18" Type="http://schemas.openxmlformats.org/officeDocument/2006/relationships/image" Target="../media/image13.png"/><Relationship Id="rId3" Type="http://schemas.openxmlformats.org/officeDocument/2006/relationships/image" Target="../media/image2.svg"/><Relationship Id="rId21" Type="http://schemas.openxmlformats.org/officeDocument/2006/relationships/image" Target="../media/image22.svg"/><Relationship Id="rId7" Type="http://schemas.openxmlformats.org/officeDocument/2006/relationships/image" Target="../media/image36.svg"/><Relationship Id="rId12" Type="http://schemas.openxmlformats.org/officeDocument/2006/relationships/image" Target="../media/image31.png"/><Relationship Id="rId17" Type="http://schemas.openxmlformats.org/officeDocument/2006/relationships/image" Target="../media/image38.svg"/><Relationship Id="rId2" Type="http://schemas.openxmlformats.org/officeDocument/2006/relationships/image" Target="../media/image1.png"/><Relationship Id="rId16" Type="http://schemas.openxmlformats.org/officeDocument/2006/relationships/image" Target="../media/image37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59.svg"/><Relationship Id="rId10" Type="http://schemas.openxmlformats.org/officeDocument/2006/relationships/image" Target="../media/image9.png"/><Relationship Id="rId19" Type="http://schemas.openxmlformats.org/officeDocument/2006/relationships/image" Target="../media/image14.svg"/><Relationship Id="rId4" Type="http://schemas.openxmlformats.org/officeDocument/2006/relationships/image" Target="../media/image3.png"/><Relationship Id="rId9" Type="http://schemas.openxmlformats.org/officeDocument/2006/relationships/image" Target="../media/image57.svg"/><Relationship Id="rId14" Type="http://schemas.openxmlformats.org/officeDocument/2006/relationships/image" Target="../media/image5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.svg"/><Relationship Id="rId7" Type="http://schemas.openxmlformats.org/officeDocument/2006/relationships/image" Target="../media/image3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11" Type="http://schemas.openxmlformats.org/officeDocument/2006/relationships/image" Target="../media/image22.svg"/><Relationship Id="rId5" Type="http://schemas.openxmlformats.org/officeDocument/2006/relationships/image" Target="../media/image44.svg"/><Relationship Id="rId10" Type="http://schemas.openxmlformats.org/officeDocument/2006/relationships/image" Target="../media/image21.png"/><Relationship Id="rId4" Type="http://schemas.openxmlformats.org/officeDocument/2006/relationships/image" Target="../media/image43.png"/><Relationship Id="rId9" Type="http://schemas.openxmlformats.org/officeDocument/2006/relationships/image" Target="../media/image32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63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png"/><Relationship Id="rId11" Type="http://schemas.openxmlformats.org/officeDocument/2006/relationships/image" Target="../media/image22.svg"/><Relationship Id="rId5" Type="http://schemas.openxmlformats.org/officeDocument/2006/relationships/image" Target="../media/image61.svg"/><Relationship Id="rId10" Type="http://schemas.openxmlformats.org/officeDocument/2006/relationships/image" Target="../media/image21.png"/><Relationship Id="rId4" Type="http://schemas.openxmlformats.org/officeDocument/2006/relationships/image" Target="../media/image60.png"/><Relationship Id="rId9" Type="http://schemas.openxmlformats.org/officeDocument/2006/relationships/image" Target="../media/image1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BC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283131">
            <a:off x="2160311" y="-1093527"/>
            <a:ext cx="13975270" cy="9757279"/>
          </a:xfrm>
          <a:custGeom>
            <a:avLst/>
            <a:gdLst/>
            <a:ahLst/>
            <a:cxnLst/>
            <a:rect l="l" t="t" r="r" b="b"/>
            <a:pathLst>
              <a:path w="13975270" h="9757279">
                <a:moveTo>
                  <a:pt x="0" y="0"/>
                </a:moveTo>
                <a:lnTo>
                  <a:pt x="13975269" y="0"/>
                </a:lnTo>
                <a:lnTo>
                  <a:pt x="13975269" y="9757279"/>
                </a:lnTo>
                <a:lnTo>
                  <a:pt x="0" y="97572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2704461" y="1707367"/>
            <a:ext cx="3107878" cy="2960960"/>
          </a:xfrm>
          <a:custGeom>
            <a:avLst/>
            <a:gdLst/>
            <a:ahLst/>
            <a:cxnLst/>
            <a:rect l="l" t="t" r="r" b="b"/>
            <a:pathLst>
              <a:path w="3107878" h="2960960">
                <a:moveTo>
                  <a:pt x="0" y="0"/>
                </a:moveTo>
                <a:lnTo>
                  <a:pt x="3107878" y="0"/>
                </a:lnTo>
                <a:lnTo>
                  <a:pt x="3107878" y="2960960"/>
                </a:lnTo>
                <a:lnTo>
                  <a:pt x="0" y="29609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612130" y="3306168"/>
            <a:ext cx="3107878" cy="2960960"/>
          </a:xfrm>
          <a:custGeom>
            <a:avLst/>
            <a:gdLst/>
            <a:ahLst/>
            <a:cxnLst/>
            <a:rect l="l" t="t" r="r" b="b"/>
            <a:pathLst>
              <a:path w="3107878" h="2960960">
                <a:moveTo>
                  <a:pt x="0" y="0"/>
                </a:moveTo>
                <a:lnTo>
                  <a:pt x="3107878" y="0"/>
                </a:lnTo>
                <a:lnTo>
                  <a:pt x="3107878" y="2960960"/>
                </a:lnTo>
                <a:lnTo>
                  <a:pt x="0" y="29609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6350085" y="4668327"/>
            <a:ext cx="8027757" cy="1817560"/>
            <a:chOff x="0" y="0"/>
            <a:chExt cx="2114306" cy="47869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14306" cy="478699"/>
            </a:xfrm>
            <a:custGeom>
              <a:avLst/>
              <a:gdLst/>
              <a:ahLst/>
              <a:cxnLst/>
              <a:rect l="l" t="t" r="r" b="b"/>
              <a:pathLst>
                <a:path w="2114306" h="478699">
                  <a:moveTo>
                    <a:pt x="19288" y="0"/>
                  </a:moveTo>
                  <a:lnTo>
                    <a:pt x="2095019" y="0"/>
                  </a:lnTo>
                  <a:cubicBezTo>
                    <a:pt x="2100134" y="0"/>
                    <a:pt x="2105040" y="2032"/>
                    <a:pt x="2108657" y="5649"/>
                  </a:cubicBezTo>
                  <a:cubicBezTo>
                    <a:pt x="2112274" y="9266"/>
                    <a:pt x="2114306" y="14172"/>
                    <a:pt x="2114306" y="19288"/>
                  </a:cubicBezTo>
                  <a:lnTo>
                    <a:pt x="2114306" y="459411"/>
                  </a:lnTo>
                  <a:cubicBezTo>
                    <a:pt x="2114306" y="464527"/>
                    <a:pt x="2112274" y="469432"/>
                    <a:pt x="2108657" y="473050"/>
                  </a:cubicBezTo>
                  <a:cubicBezTo>
                    <a:pt x="2105040" y="476667"/>
                    <a:pt x="2100134" y="478699"/>
                    <a:pt x="2095019" y="478699"/>
                  </a:cubicBezTo>
                  <a:lnTo>
                    <a:pt x="19288" y="478699"/>
                  </a:lnTo>
                  <a:cubicBezTo>
                    <a:pt x="14172" y="478699"/>
                    <a:pt x="9266" y="476667"/>
                    <a:pt x="5649" y="473050"/>
                  </a:cubicBezTo>
                  <a:cubicBezTo>
                    <a:pt x="2032" y="469432"/>
                    <a:pt x="0" y="464527"/>
                    <a:pt x="0" y="459411"/>
                  </a:cubicBezTo>
                  <a:lnTo>
                    <a:pt x="0" y="19288"/>
                  </a:lnTo>
                  <a:cubicBezTo>
                    <a:pt x="0" y="14172"/>
                    <a:pt x="2032" y="9266"/>
                    <a:pt x="5649" y="5649"/>
                  </a:cubicBezTo>
                  <a:cubicBezTo>
                    <a:pt x="9266" y="2032"/>
                    <a:pt x="14172" y="0"/>
                    <a:pt x="19288" y="0"/>
                  </a:cubicBezTo>
                  <a:close/>
                </a:path>
              </a:pathLst>
            </a:custGeom>
            <a:solidFill>
              <a:srgbClr val="FCF9DA"/>
            </a:solidFill>
            <a:ln w="38100" cap="sq">
              <a:solidFill>
                <a:srgbClr val="191919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114306" cy="526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4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6350085" y="5251899"/>
            <a:ext cx="8027757" cy="812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40"/>
              </a:lnSpc>
            </a:pPr>
            <a:r>
              <a:rPr lang="en-US" sz="6040">
                <a:solidFill>
                  <a:srgbClr val="191919"/>
                </a:solidFill>
                <a:latin typeface="Bobby Jones"/>
                <a:ea typeface="Bobby Jones"/>
                <a:cs typeface="Bobby Jones"/>
                <a:sym typeface="Bobby Jones"/>
              </a:rPr>
              <a:t>ПРОКРАСТИНАЦИЕЙ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4038734" y="2851450"/>
            <a:ext cx="7224954" cy="2044578"/>
            <a:chOff x="0" y="0"/>
            <a:chExt cx="1902869" cy="53849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02869" cy="538490"/>
            </a:xfrm>
            <a:custGeom>
              <a:avLst/>
              <a:gdLst/>
              <a:ahLst/>
              <a:cxnLst/>
              <a:rect l="l" t="t" r="r" b="b"/>
              <a:pathLst>
                <a:path w="1902869" h="538490">
                  <a:moveTo>
                    <a:pt x="21431" y="0"/>
                  </a:moveTo>
                  <a:lnTo>
                    <a:pt x="1881437" y="0"/>
                  </a:lnTo>
                  <a:cubicBezTo>
                    <a:pt x="1887121" y="0"/>
                    <a:pt x="1892572" y="2258"/>
                    <a:pt x="1896592" y="6277"/>
                  </a:cubicBezTo>
                  <a:cubicBezTo>
                    <a:pt x="1900611" y="10296"/>
                    <a:pt x="1902869" y="15747"/>
                    <a:pt x="1902869" y="21431"/>
                  </a:cubicBezTo>
                  <a:lnTo>
                    <a:pt x="1902869" y="517059"/>
                  </a:lnTo>
                  <a:cubicBezTo>
                    <a:pt x="1902869" y="522742"/>
                    <a:pt x="1900611" y="528194"/>
                    <a:pt x="1896592" y="532213"/>
                  </a:cubicBezTo>
                  <a:cubicBezTo>
                    <a:pt x="1892572" y="536232"/>
                    <a:pt x="1887121" y="538490"/>
                    <a:pt x="1881437" y="538490"/>
                  </a:cubicBezTo>
                  <a:lnTo>
                    <a:pt x="21431" y="538490"/>
                  </a:lnTo>
                  <a:cubicBezTo>
                    <a:pt x="15747" y="538490"/>
                    <a:pt x="10296" y="536232"/>
                    <a:pt x="6277" y="532213"/>
                  </a:cubicBezTo>
                  <a:cubicBezTo>
                    <a:pt x="2258" y="528194"/>
                    <a:pt x="0" y="522742"/>
                    <a:pt x="0" y="517059"/>
                  </a:cubicBezTo>
                  <a:lnTo>
                    <a:pt x="0" y="21431"/>
                  </a:lnTo>
                  <a:cubicBezTo>
                    <a:pt x="0" y="15747"/>
                    <a:pt x="2258" y="10296"/>
                    <a:pt x="6277" y="6277"/>
                  </a:cubicBezTo>
                  <a:cubicBezTo>
                    <a:pt x="10296" y="2258"/>
                    <a:pt x="15747" y="0"/>
                    <a:pt x="21431" y="0"/>
                  </a:cubicBezTo>
                  <a:close/>
                </a:path>
              </a:pathLst>
            </a:custGeom>
            <a:solidFill>
              <a:srgbClr val="F3CA52"/>
            </a:solidFill>
            <a:ln w="38100" cap="sq">
              <a:solidFill>
                <a:srgbClr val="191919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902869" cy="5861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4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675870" y="7404841"/>
            <a:ext cx="6936260" cy="799469"/>
            <a:chOff x="0" y="0"/>
            <a:chExt cx="1826834" cy="21056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26834" cy="210560"/>
            </a:xfrm>
            <a:custGeom>
              <a:avLst/>
              <a:gdLst/>
              <a:ahLst/>
              <a:cxnLst/>
              <a:rect l="l" t="t" r="r" b="b"/>
              <a:pathLst>
                <a:path w="1826834" h="210560">
                  <a:moveTo>
                    <a:pt x="22323" y="0"/>
                  </a:moveTo>
                  <a:lnTo>
                    <a:pt x="1804511" y="0"/>
                  </a:lnTo>
                  <a:cubicBezTo>
                    <a:pt x="1816839" y="0"/>
                    <a:pt x="1826834" y="9994"/>
                    <a:pt x="1826834" y="22323"/>
                  </a:cubicBezTo>
                  <a:lnTo>
                    <a:pt x="1826834" y="188237"/>
                  </a:lnTo>
                  <a:cubicBezTo>
                    <a:pt x="1826834" y="200565"/>
                    <a:pt x="1816839" y="210560"/>
                    <a:pt x="1804511" y="210560"/>
                  </a:cubicBezTo>
                  <a:lnTo>
                    <a:pt x="22323" y="210560"/>
                  </a:lnTo>
                  <a:cubicBezTo>
                    <a:pt x="9994" y="210560"/>
                    <a:pt x="0" y="200565"/>
                    <a:pt x="0" y="188237"/>
                  </a:cubicBezTo>
                  <a:lnTo>
                    <a:pt x="0" y="22323"/>
                  </a:lnTo>
                  <a:cubicBezTo>
                    <a:pt x="0" y="9994"/>
                    <a:pt x="9994" y="0"/>
                    <a:pt x="22323" y="0"/>
                  </a:cubicBezTo>
                  <a:close/>
                </a:path>
              </a:pathLst>
            </a:custGeom>
            <a:solidFill>
              <a:srgbClr val="7FA89E"/>
            </a:solidFill>
            <a:ln w="38100" cap="sq">
              <a:solidFill>
                <a:srgbClr val="191919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1826834" cy="2581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4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12960131" y="3785112"/>
            <a:ext cx="6791765" cy="7670372"/>
          </a:xfrm>
          <a:custGeom>
            <a:avLst/>
            <a:gdLst/>
            <a:ahLst/>
            <a:cxnLst/>
            <a:rect l="l" t="t" r="r" b="b"/>
            <a:pathLst>
              <a:path w="6791765" h="7670372">
                <a:moveTo>
                  <a:pt x="0" y="0"/>
                </a:moveTo>
                <a:lnTo>
                  <a:pt x="6791765" y="0"/>
                </a:lnTo>
                <a:lnTo>
                  <a:pt x="6791765" y="7670372"/>
                </a:lnTo>
                <a:lnTo>
                  <a:pt x="0" y="76703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4573274" y="8349515"/>
            <a:ext cx="2450157" cy="1817571"/>
          </a:xfrm>
          <a:custGeom>
            <a:avLst/>
            <a:gdLst/>
            <a:ahLst/>
            <a:cxnLst/>
            <a:rect l="l" t="t" r="r" b="b"/>
            <a:pathLst>
              <a:path w="2450157" h="1817571">
                <a:moveTo>
                  <a:pt x="0" y="0"/>
                </a:moveTo>
                <a:lnTo>
                  <a:pt x="2450157" y="0"/>
                </a:lnTo>
                <a:lnTo>
                  <a:pt x="2450157" y="1817570"/>
                </a:lnTo>
                <a:lnTo>
                  <a:pt x="0" y="18175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 flipH="1">
            <a:off x="10509974" y="8447642"/>
            <a:ext cx="2450157" cy="1817571"/>
          </a:xfrm>
          <a:custGeom>
            <a:avLst/>
            <a:gdLst/>
            <a:ahLst/>
            <a:cxnLst/>
            <a:rect l="l" t="t" r="r" b="b"/>
            <a:pathLst>
              <a:path w="2450157" h="1817571">
                <a:moveTo>
                  <a:pt x="2450157" y="0"/>
                </a:moveTo>
                <a:lnTo>
                  <a:pt x="0" y="0"/>
                </a:lnTo>
                <a:lnTo>
                  <a:pt x="0" y="1817571"/>
                </a:lnTo>
                <a:lnTo>
                  <a:pt x="2450157" y="1817571"/>
                </a:lnTo>
                <a:lnTo>
                  <a:pt x="2450157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 rot="-466395">
            <a:off x="15106533" y="-1608478"/>
            <a:ext cx="3681588" cy="4687207"/>
          </a:xfrm>
          <a:custGeom>
            <a:avLst/>
            <a:gdLst/>
            <a:ahLst/>
            <a:cxnLst/>
            <a:rect l="l" t="t" r="r" b="b"/>
            <a:pathLst>
              <a:path w="3681588" h="4687207">
                <a:moveTo>
                  <a:pt x="0" y="0"/>
                </a:moveTo>
                <a:lnTo>
                  <a:pt x="3681588" y="0"/>
                </a:lnTo>
                <a:lnTo>
                  <a:pt x="3681588" y="4687208"/>
                </a:lnTo>
                <a:lnTo>
                  <a:pt x="0" y="468720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-620519" y="664873"/>
            <a:ext cx="2965974" cy="3322374"/>
          </a:xfrm>
          <a:custGeom>
            <a:avLst/>
            <a:gdLst/>
            <a:ahLst/>
            <a:cxnLst/>
            <a:rect l="l" t="t" r="r" b="b"/>
            <a:pathLst>
              <a:path w="2965974" h="3322374">
                <a:moveTo>
                  <a:pt x="0" y="0"/>
                </a:moveTo>
                <a:lnTo>
                  <a:pt x="2965975" y="0"/>
                </a:lnTo>
                <a:lnTo>
                  <a:pt x="2965975" y="3322374"/>
                </a:lnTo>
                <a:lnTo>
                  <a:pt x="0" y="332237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 rot="-309060">
            <a:off x="8182733" y="344061"/>
            <a:ext cx="1584442" cy="2443220"/>
          </a:xfrm>
          <a:custGeom>
            <a:avLst/>
            <a:gdLst/>
            <a:ahLst/>
            <a:cxnLst/>
            <a:rect l="l" t="t" r="r" b="b"/>
            <a:pathLst>
              <a:path w="1584442" h="2443220">
                <a:moveTo>
                  <a:pt x="0" y="0"/>
                </a:moveTo>
                <a:lnTo>
                  <a:pt x="1584442" y="0"/>
                </a:lnTo>
                <a:lnTo>
                  <a:pt x="1584442" y="2443220"/>
                </a:lnTo>
                <a:lnTo>
                  <a:pt x="0" y="244322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r="-297548" b="-217218"/>
            </a:stretch>
          </a:blipFill>
          <a:ln cap="sq">
            <a:noFill/>
            <a:prstDash val="solid"/>
            <a:miter/>
          </a:ln>
        </p:spPr>
      </p:sp>
      <p:sp>
        <p:nvSpPr>
          <p:cNvPr id="24" name="Freeform 24"/>
          <p:cNvSpPr/>
          <p:nvPr/>
        </p:nvSpPr>
        <p:spPr>
          <a:xfrm rot="-221014">
            <a:off x="11607771" y="1647412"/>
            <a:ext cx="2565918" cy="2057400"/>
          </a:xfrm>
          <a:custGeom>
            <a:avLst/>
            <a:gdLst/>
            <a:ahLst/>
            <a:cxnLst/>
            <a:rect l="l" t="t" r="r" b="b"/>
            <a:pathLst>
              <a:path w="2565918" h="2057400">
                <a:moveTo>
                  <a:pt x="0" y="0"/>
                </a:moveTo>
                <a:lnTo>
                  <a:pt x="2565919" y="0"/>
                </a:lnTo>
                <a:lnTo>
                  <a:pt x="2565919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 rot="193030">
            <a:off x="2983685" y="5207270"/>
            <a:ext cx="2324829" cy="1859863"/>
          </a:xfrm>
          <a:custGeom>
            <a:avLst/>
            <a:gdLst/>
            <a:ahLst/>
            <a:cxnLst/>
            <a:rect l="l" t="t" r="r" b="b"/>
            <a:pathLst>
              <a:path w="2324829" h="1859863">
                <a:moveTo>
                  <a:pt x="0" y="0"/>
                </a:moveTo>
                <a:lnTo>
                  <a:pt x="2324829" y="0"/>
                </a:lnTo>
                <a:lnTo>
                  <a:pt x="2324829" y="1859863"/>
                </a:lnTo>
                <a:lnTo>
                  <a:pt x="0" y="185986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 flipH="1">
            <a:off x="-1666818" y="2853474"/>
            <a:ext cx="5812917" cy="8369384"/>
          </a:xfrm>
          <a:custGeom>
            <a:avLst/>
            <a:gdLst/>
            <a:ahLst/>
            <a:cxnLst/>
            <a:rect l="l" t="t" r="r" b="b"/>
            <a:pathLst>
              <a:path w="5812917" h="8369384">
                <a:moveTo>
                  <a:pt x="5812918" y="0"/>
                </a:moveTo>
                <a:lnTo>
                  <a:pt x="0" y="0"/>
                </a:lnTo>
                <a:lnTo>
                  <a:pt x="0" y="8369383"/>
                </a:lnTo>
                <a:lnTo>
                  <a:pt x="5812918" y="8369383"/>
                </a:lnTo>
                <a:lnTo>
                  <a:pt x="5812918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4377843" y="1695706"/>
            <a:ext cx="980406" cy="980406"/>
          </a:xfrm>
          <a:custGeom>
            <a:avLst/>
            <a:gdLst/>
            <a:ahLst/>
            <a:cxnLst/>
            <a:rect l="l" t="t" r="r" b="b"/>
            <a:pathLst>
              <a:path w="980406" h="980406">
                <a:moveTo>
                  <a:pt x="0" y="0"/>
                </a:moveTo>
                <a:lnTo>
                  <a:pt x="980406" y="0"/>
                </a:lnTo>
                <a:lnTo>
                  <a:pt x="980406" y="980406"/>
                </a:lnTo>
                <a:lnTo>
                  <a:pt x="0" y="98040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4038734" y="3005455"/>
            <a:ext cx="7224954" cy="1781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84"/>
              </a:lnSpc>
            </a:pPr>
            <a:r>
              <a:rPr lang="en-US" sz="6784">
                <a:solidFill>
                  <a:srgbClr val="191919"/>
                </a:solidFill>
                <a:latin typeface="Bobby Jones"/>
                <a:ea typeface="Bobby Jones"/>
                <a:cs typeface="Bobby Jones"/>
                <a:sym typeface="Bobby Jones"/>
              </a:rPr>
              <a:t>платформа для борьбы с 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812339" y="7448763"/>
            <a:ext cx="6620445" cy="606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28"/>
              </a:lnSpc>
              <a:spcBef>
                <a:spcPct val="0"/>
              </a:spcBef>
            </a:pPr>
            <a:r>
              <a:rPr lang="en-US" sz="3449" b="1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Подготовлено 3-ей группой</a:t>
            </a:r>
          </a:p>
        </p:txBody>
      </p:sp>
      <p:sp>
        <p:nvSpPr>
          <p:cNvPr id="30" name="Freeform 30"/>
          <p:cNvSpPr/>
          <p:nvPr/>
        </p:nvSpPr>
        <p:spPr>
          <a:xfrm rot="170080">
            <a:off x="6197932" y="1590755"/>
            <a:ext cx="980406" cy="980406"/>
          </a:xfrm>
          <a:custGeom>
            <a:avLst/>
            <a:gdLst/>
            <a:ahLst/>
            <a:cxnLst/>
            <a:rect l="l" t="t" r="r" b="b"/>
            <a:pathLst>
              <a:path w="980406" h="980406">
                <a:moveTo>
                  <a:pt x="0" y="0"/>
                </a:moveTo>
                <a:lnTo>
                  <a:pt x="980406" y="0"/>
                </a:lnTo>
                <a:lnTo>
                  <a:pt x="980406" y="980406"/>
                </a:lnTo>
                <a:lnTo>
                  <a:pt x="0" y="98040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BC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283131">
            <a:off x="2160311" y="-1093527"/>
            <a:ext cx="13975270" cy="9757279"/>
          </a:xfrm>
          <a:custGeom>
            <a:avLst/>
            <a:gdLst/>
            <a:ahLst/>
            <a:cxnLst/>
            <a:rect l="l" t="t" r="r" b="b"/>
            <a:pathLst>
              <a:path w="13975270" h="9757279">
                <a:moveTo>
                  <a:pt x="0" y="0"/>
                </a:moveTo>
                <a:lnTo>
                  <a:pt x="13975269" y="0"/>
                </a:lnTo>
                <a:lnTo>
                  <a:pt x="13975269" y="9757279"/>
                </a:lnTo>
                <a:lnTo>
                  <a:pt x="0" y="97572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7930840" y="5917330"/>
            <a:ext cx="3885625" cy="3701940"/>
          </a:xfrm>
          <a:custGeom>
            <a:avLst/>
            <a:gdLst/>
            <a:ahLst/>
            <a:cxnLst/>
            <a:rect l="l" t="t" r="r" b="b"/>
            <a:pathLst>
              <a:path w="3885625" h="3701940">
                <a:moveTo>
                  <a:pt x="0" y="0"/>
                </a:moveTo>
                <a:lnTo>
                  <a:pt x="3885625" y="0"/>
                </a:lnTo>
                <a:lnTo>
                  <a:pt x="3885625" y="3701940"/>
                </a:lnTo>
                <a:lnTo>
                  <a:pt x="0" y="37019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028700" y="5707079"/>
            <a:ext cx="6793166" cy="3171491"/>
            <a:chOff x="0" y="0"/>
            <a:chExt cx="1936935" cy="9042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36935" cy="904287"/>
            </a:xfrm>
            <a:custGeom>
              <a:avLst/>
              <a:gdLst/>
              <a:ahLst/>
              <a:cxnLst/>
              <a:rect l="l" t="t" r="r" b="b"/>
              <a:pathLst>
                <a:path w="1936935" h="904287">
                  <a:moveTo>
                    <a:pt x="22793" y="0"/>
                  </a:moveTo>
                  <a:lnTo>
                    <a:pt x="1914142" y="0"/>
                  </a:lnTo>
                  <a:cubicBezTo>
                    <a:pt x="1920187" y="0"/>
                    <a:pt x="1925985" y="2401"/>
                    <a:pt x="1930260" y="6676"/>
                  </a:cubicBezTo>
                  <a:cubicBezTo>
                    <a:pt x="1934534" y="10951"/>
                    <a:pt x="1936935" y="16748"/>
                    <a:pt x="1936935" y="22793"/>
                  </a:cubicBezTo>
                  <a:lnTo>
                    <a:pt x="1936935" y="881494"/>
                  </a:lnTo>
                  <a:cubicBezTo>
                    <a:pt x="1936935" y="887539"/>
                    <a:pt x="1934534" y="893337"/>
                    <a:pt x="1930260" y="897611"/>
                  </a:cubicBezTo>
                  <a:cubicBezTo>
                    <a:pt x="1925985" y="901886"/>
                    <a:pt x="1920187" y="904287"/>
                    <a:pt x="1914142" y="904287"/>
                  </a:cubicBezTo>
                  <a:lnTo>
                    <a:pt x="22793" y="904287"/>
                  </a:lnTo>
                  <a:cubicBezTo>
                    <a:pt x="16748" y="904287"/>
                    <a:pt x="10951" y="901886"/>
                    <a:pt x="6676" y="897611"/>
                  </a:cubicBezTo>
                  <a:cubicBezTo>
                    <a:pt x="2401" y="893337"/>
                    <a:pt x="0" y="887539"/>
                    <a:pt x="0" y="881494"/>
                  </a:cubicBezTo>
                  <a:lnTo>
                    <a:pt x="0" y="22793"/>
                  </a:lnTo>
                  <a:cubicBezTo>
                    <a:pt x="0" y="16748"/>
                    <a:pt x="2401" y="10951"/>
                    <a:pt x="6676" y="6676"/>
                  </a:cubicBezTo>
                  <a:cubicBezTo>
                    <a:pt x="10951" y="2401"/>
                    <a:pt x="16748" y="0"/>
                    <a:pt x="22793" y="0"/>
                  </a:cubicBezTo>
                  <a:close/>
                </a:path>
              </a:pathLst>
            </a:custGeom>
            <a:solidFill>
              <a:srgbClr val="F3CA52"/>
            </a:solidFill>
            <a:ln w="38100" cap="sq">
              <a:solidFill>
                <a:srgbClr val="191919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1936935" cy="9519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4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flipH="1">
            <a:off x="8397342" y="1103386"/>
            <a:ext cx="4535351" cy="4114800"/>
          </a:xfrm>
          <a:custGeom>
            <a:avLst/>
            <a:gdLst/>
            <a:ahLst/>
            <a:cxnLst/>
            <a:rect l="l" t="t" r="r" b="b"/>
            <a:pathLst>
              <a:path w="4535351" h="4114800">
                <a:moveTo>
                  <a:pt x="4535351" y="0"/>
                </a:moveTo>
                <a:lnTo>
                  <a:pt x="0" y="0"/>
                </a:lnTo>
                <a:lnTo>
                  <a:pt x="0" y="4114800"/>
                </a:lnTo>
                <a:lnTo>
                  <a:pt x="4535351" y="4114800"/>
                </a:lnTo>
                <a:lnTo>
                  <a:pt x="453535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-2670157" y="9030970"/>
            <a:ext cx="7315200" cy="3976809"/>
          </a:xfrm>
          <a:custGeom>
            <a:avLst/>
            <a:gdLst/>
            <a:ahLst/>
            <a:cxnLst/>
            <a:rect l="l" t="t" r="r" b="b"/>
            <a:pathLst>
              <a:path w="7315200" h="3976809">
                <a:moveTo>
                  <a:pt x="0" y="0"/>
                </a:moveTo>
                <a:lnTo>
                  <a:pt x="7315200" y="0"/>
                </a:lnTo>
                <a:lnTo>
                  <a:pt x="7315200" y="3976809"/>
                </a:lnTo>
                <a:lnTo>
                  <a:pt x="0" y="39768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5132968" y="1556430"/>
            <a:ext cx="2275522" cy="2548955"/>
          </a:xfrm>
          <a:custGeom>
            <a:avLst/>
            <a:gdLst/>
            <a:ahLst/>
            <a:cxnLst/>
            <a:rect l="l" t="t" r="r" b="b"/>
            <a:pathLst>
              <a:path w="2275522" h="2548955">
                <a:moveTo>
                  <a:pt x="0" y="0"/>
                </a:moveTo>
                <a:lnTo>
                  <a:pt x="2275522" y="0"/>
                </a:lnTo>
                <a:lnTo>
                  <a:pt x="2275522" y="2548956"/>
                </a:lnTo>
                <a:lnTo>
                  <a:pt x="0" y="254895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1538763" y="2830908"/>
            <a:ext cx="6566495" cy="8660845"/>
          </a:xfrm>
          <a:custGeom>
            <a:avLst/>
            <a:gdLst/>
            <a:ahLst/>
            <a:cxnLst/>
            <a:rect l="l" t="t" r="r" b="b"/>
            <a:pathLst>
              <a:path w="6566495" h="8660845">
                <a:moveTo>
                  <a:pt x="0" y="0"/>
                </a:moveTo>
                <a:lnTo>
                  <a:pt x="6566495" y="0"/>
                </a:lnTo>
                <a:lnTo>
                  <a:pt x="6566495" y="8660845"/>
                </a:lnTo>
                <a:lnTo>
                  <a:pt x="0" y="866084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4244474" y="1103386"/>
            <a:ext cx="1951926" cy="1373446"/>
          </a:xfrm>
          <a:custGeom>
            <a:avLst/>
            <a:gdLst/>
            <a:ahLst/>
            <a:cxnLst/>
            <a:rect l="l" t="t" r="r" b="b"/>
            <a:pathLst>
              <a:path w="1951926" h="1373446">
                <a:moveTo>
                  <a:pt x="0" y="0"/>
                </a:moveTo>
                <a:lnTo>
                  <a:pt x="1951926" y="0"/>
                </a:lnTo>
                <a:lnTo>
                  <a:pt x="1951926" y="1373447"/>
                </a:lnTo>
                <a:lnTo>
                  <a:pt x="0" y="137344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-353320">
            <a:off x="9156469" y="6628783"/>
            <a:ext cx="1434367" cy="2149597"/>
          </a:xfrm>
          <a:custGeom>
            <a:avLst/>
            <a:gdLst/>
            <a:ahLst/>
            <a:cxnLst/>
            <a:rect l="l" t="t" r="r" b="b"/>
            <a:pathLst>
              <a:path w="1434367" h="2149597">
                <a:moveTo>
                  <a:pt x="0" y="0"/>
                </a:moveTo>
                <a:lnTo>
                  <a:pt x="1434367" y="0"/>
                </a:lnTo>
                <a:lnTo>
                  <a:pt x="1434367" y="2149597"/>
                </a:lnTo>
                <a:lnTo>
                  <a:pt x="0" y="214959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914849" y="2933525"/>
            <a:ext cx="7492486" cy="11195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429"/>
              </a:lnSpc>
              <a:spcBef>
                <a:spcPct val="0"/>
              </a:spcBef>
            </a:pPr>
            <a:r>
              <a:rPr lang="en-US" sz="6735" dirty="0" err="1">
                <a:solidFill>
                  <a:srgbClr val="191919"/>
                </a:solidFill>
                <a:latin typeface="Intro" panose="02000000000000000000" charset="0"/>
                <a:ea typeface="Bobby Jones"/>
                <a:cs typeface="Bobby Jones"/>
                <a:sym typeface="Bobby Jones"/>
              </a:rPr>
              <a:t>Актуальность</a:t>
            </a:r>
            <a:endParaRPr lang="en-US" sz="6735" dirty="0">
              <a:solidFill>
                <a:srgbClr val="191919"/>
              </a:solidFill>
              <a:latin typeface="Intro" panose="02000000000000000000" charset="0"/>
              <a:ea typeface="Bobby Jones"/>
              <a:cs typeface="Bobby Jones"/>
              <a:sym typeface="Bobby Jones"/>
            </a:endParaRPr>
          </a:p>
        </p:txBody>
      </p:sp>
      <p:sp>
        <p:nvSpPr>
          <p:cNvPr id="17" name="Freeform 17"/>
          <p:cNvSpPr/>
          <p:nvPr/>
        </p:nvSpPr>
        <p:spPr>
          <a:xfrm rot="308681">
            <a:off x="-1840794" y="-1240217"/>
            <a:ext cx="3681588" cy="4687207"/>
          </a:xfrm>
          <a:custGeom>
            <a:avLst/>
            <a:gdLst/>
            <a:ahLst/>
            <a:cxnLst/>
            <a:rect l="l" t="t" r="r" b="b"/>
            <a:pathLst>
              <a:path w="3681588" h="4687207">
                <a:moveTo>
                  <a:pt x="0" y="0"/>
                </a:moveTo>
                <a:lnTo>
                  <a:pt x="3681588" y="0"/>
                </a:lnTo>
                <a:lnTo>
                  <a:pt x="3681588" y="4687207"/>
                </a:lnTo>
                <a:lnTo>
                  <a:pt x="0" y="4687207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118114" y="4210003"/>
            <a:ext cx="7053858" cy="1340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79"/>
              </a:lnSpc>
            </a:pPr>
            <a:r>
              <a:rPr lang="en-US" sz="2651" b="1">
                <a:solidFill>
                  <a:srgbClr val="191919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Большинство тайм-менеджмент приложений теряют актуальность из-за отсутствия мотивации.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06166" y="5836882"/>
            <a:ext cx="6527647" cy="2713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7"/>
              </a:lnSpc>
            </a:pPr>
            <a:r>
              <a:rPr lang="en-US" sz="2309">
                <a:solidFill>
                  <a:srgbClr val="191919"/>
                </a:solidFill>
                <a:latin typeface="Public Sans"/>
                <a:ea typeface="Public Sans"/>
                <a:cs typeface="Public Sans"/>
                <a:sym typeface="Public Sans"/>
              </a:rPr>
              <a:t>88% работников откладывают важные дела</a:t>
            </a:r>
          </a:p>
          <a:p>
            <a:pPr algn="l">
              <a:lnSpc>
                <a:spcPts val="3117"/>
              </a:lnSpc>
            </a:pPr>
            <a:endParaRPr lang="en-US" sz="2309">
              <a:solidFill>
                <a:srgbClr val="191919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algn="l">
              <a:lnSpc>
                <a:spcPts val="3117"/>
              </a:lnSpc>
            </a:pPr>
            <a:r>
              <a:rPr lang="en-US" sz="2309">
                <a:solidFill>
                  <a:srgbClr val="191919"/>
                </a:solidFill>
                <a:latin typeface="Public Sans"/>
                <a:ea typeface="Public Sans"/>
                <a:cs typeface="Public Sans"/>
                <a:sym typeface="Public Sans"/>
              </a:rPr>
              <a:t>2 часа 48 минут - среднее продуктивное время у работников</a:t>
            </a:r>
          </a:p>
          <a:p>
            <a:pPr algn="l">
              <a:lnSpc>
                <a:spcPts val="3117"/>
              </a:lnSpc>
            </a:pPr>
            <a:endParaRPr lang="en-US" sz="2309">
              <a:solidFill>
                <a:srgbClr val="191919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algn="l">
              <a:lnSpc>
                <a:spcPts val="3117"/>
              </a:lnSpc>
            </a:pPr>
            <a:r>
              <a:rPr lang="en-US" sz="2309">
                <a:solidFill>
                  <a:srgbClr val="191919"/>
                </a:solidFill>
                <a:latin typeface="Public Sans"/>
                <a:ea typeface="Public Sans"/>
                <a:cs typeface="Public Sans"/>
                <a:sym typeface="Public Sans"/>
              </a:rPr>
              <a:t>61% пользователей перестают пользоваться приложение в течение первого месяца</a:t>
            </a:r>
          </a:p>
        </p:txBody>
      </p:sp>
      <p:sp>
        <p:nvSpPr>
          <p:cNvPr id="20" name="Freeform 20"/>
          <p:cNvSpPr/>
          <p:nvPr/>
        </p:nvSpPr>
        <p:spPr>
          <a:xfrm>
            <a:off x="13312816" y="1066227"/>
            <a:ext cx="980406" cy="980406"/>
          </a:xfrm>
          <a:custGeom>
            <a:avLst/>
            <a:gdLst/>
            <a:ahLst/>
            <a:cxnLst/>
            <a:rect l="l" t="t" r="r" b="b"/>
            <a:pathLst>
              <a:path w="980406" h="980406">
                <a:moveTo>
                  <a:pt x="0" y="0"/>
                </a:moveTo>
                <a:lnTo>
                  <a:pt x="980406" y="0"/>
                </a:lnTo>
                <a:lnTo>
                  <a:pt x="980406" y="980407"/>
                </a:lnTo>
                <a:lnTo>
                  <a:pt x="0" y="980407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 rot="170080">
            <a:off x="5706197" y="8908385"/>
            <a:ext cx="980406" cy="980406"/>
          </a:xfrm>
          <a:custGeom>
            <a:avLst/>
            <a:gdLst/>
            <a:ahLst/>
            <a:cxnLst/>
            <a:rect l="l" t="t" r="r" b="b"/>
            <a:pathLst>
              <a:path w="980406" h="980406">
                <a:moveTo>
                  <a:pt x="0" y="0"/>
                </a:moveTo>
                <a:lnTo>
                  <a:pt x="980406" y="0"/>
                </a:lnTo>
                <a:lnTo>
                  <a:pt x="980406" y="980406"/>
                </a:lnTo>
                <a:lnTo>
                  <a:pt x="0" y="98040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BC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283131">
            <a:off x="2160311" y="-1093527"/>
            <a:ext cx="13975270" cy="9757279"/>
          </a:xfrm>
          <a:custGeom>
            <a:avLst/>
            <a:gdLst/>
            <a:ahLst/>
            <a:cxnLst/>
            <a:rect l="l" t="t" r="r" b="b"/>
            <a:pathLst>
              <a:path w="13975270" h="9757279">
                <a:moveTo>
                  <a:pt x="0" y="0"/>
                </a:moveTo>
                <a:lnTo>
                  <a:pt x="13975269" y="0"/>
                </a:lnTo>
                <a:lnTo>
                  <a:pt x="13975269" y="9757279"/>
                </a:lnTo>
                <a:lnTo>
                  <a:pt x="0" y="97572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7162366" y="-5887"/>
            <a:ext cx="3885625" cy="3701940"/>
          </a:xfrm>
          <a:custGeom>
            <a:avLst/>
            <a:gdLst/>
            <a:ahLst/>
            <a:cxnLst/>
            <a:rect l="l" t="t" r="r" b="b"/>
            <a:pathLst>
              <a:path w="3885625" h="3701940">
                <a:moveTo>
                  <a:pt x="0" y="0"/>
                </a:moveTo>
                <a:lnTo>
                  <a:pt x="3885624" y="0"/>
                </a:lnTo>
                <a:lnTo>
                  <a:pt x="3885624" y="3701940"/>
                </a:lnTo>
                <a:lnTo>
                  <a:pt x="0" y="37019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2041953" y="4199136"/>
            <a:ext cx="6698068" cy="3142372"/>
            <a:chOff x="0" y="0"/>
            <a:chExt cx="1911441" cy="89674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11441" cy="896745"/>
            </a:xfrm>
            <a:custGeom>
              <a:avLst/>
              <a:gdLst/>
              <a:ahLst/>
              <a:cxnLst/>
              <a:rect l="l" t="t" r="r" b="b"/>
              <a:pathLst>
                <a:path w="1911441" h="896745">
                  <a:moveTo>
                    <a:pt x="23117" y="0"/>
                  </a:moveTo>
                  <a:lnTo>
                    <a:pt x="1888324" y="0"/>
                  </a:lnTo>
                  <a:cubicBezTo>
                    <a:pt x="1894455" y="0"/>
                    <a:pt x="1900335" y="2436"/>
                    <a:pt x="1904670" y="6771"/>
                  </a:cubicBezTo>
                  <a:cubicBezTo>
                    <a:pt x="1909005" y="11106"/>
                    <a:pt x="1911441" y="16986"/>
                    <a:pt x="1911441" y="23117"/>
                  </a:cubicBezTo>
                  <a:lnTo>
                    <a:pt x="1911441" y="873628"/>
                  </a:lnTo>
                  <a:cubicBezTo>
                    <a:pt x="1911441" y="879759"/>
                    <a:pt x="1909005" y="885639"/>
                    <a:pt x="1904670" y="889974"/>
                  </a:cubicBezTo>
                  <a:cubicBezTo>
                    <a:pt x="1900335" y="894309"/>
                    <a:pt x="1894455" y="896745"/>
                    <a:pt x="1888324" y="896745"/>
                  </a:cubicBezTo>
                  <a:lnTo>
                    <a:pt x="23117" y="896745"/>
                  </a:lnTo>
                  <a:cubicBezTo>
                    <a:pt x="16986" y="896745"/>
                    <a:pt x="11106" y="894309"/>
                    <a:pt x="6771" y="889974"/>
                  </a:cubicBezTo>
                  <a:cubicBezTo>
                    <a:pt x="2436" y="885639"/>
                    <a:pt x="0" y="879759"/>
                    <a:pt x="0" y="873628"/>
                  </a:cubicBezTo>
                  <a:lnTo>
                    <a:pt x="0" y="23117"/>
                  </a:lnTo>
                  <a:cubicBezTo>
                    <a:pt x="0" y="16986"/>
                    <a:pt x="2436" y="11106"/>
                    <a:pt x="6771" y="6771"/>
                  </a:cubicBezTo>
                  <a:cubicBezTo>
                    <a:pt x="11106" y="2436"/>
                    <a:pt x="16986" y="0"/>
                    <a:pt x="23117" y="0"/>
                  </a:cubicBezTo>
                  <a:close/>
                </a:path>
              </a:pathLst>
            </a:custGeom>
            <a:solidFill>
              <a:srgbClr val="F3CA52"/>
            </a:solidFill>
            <a:ln w="38100" cap="sq">
              <a:solidFill>
                <a:srgbClr val="191919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1911441" cy="9443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4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404982" y="4199136"/>
            <a:ext cx="6841064" cy="3142372"/>
            <a:chOff x="0" y="0"/>
            <a:chExt cx="1952248" cy="89674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952248" cy="896745"/>
            </a:xfrm>
            <a:custGeom>
              <a:avLst/>
              <a:gdLst/>
              <a:ahLst/>
              <a:cxnLst/>
              <a:rect l="l" t="t" r="r" b="b"/>
              <a:pathLst>
                <a:path w="1952248" h="896745">
                  <a:moveTo>
                    <a:pt x="22634" y="0"/>
                  </a:moveTo>
                  <a:lnTo>
                    <a:pt x="1929614" y="0"/>
                  </a:lnTo>
                  <a:cubicBezTo>
                    <a:pt x="1935617" y="0"/>
                    <a:pt x="1941374" y="2385"/>
                    <a:pt x="1945619" y="6629"/>
                  </a:cubicBezTo>
                  <a:cubicBezTo>
                    <a:pt x="1949863" y="10874"/>
                    <a:pt x="1952248" y="16631"/>
                    <a:pt x="1952248" y="22634"/>
                  </a:cubicBezTo>
                  <a:lnTo>
                    <a:pt x="1952248" y="874111"/>
                  </a:lnTo>
                  <a:cubicBezTo>
                    <a:pt x="1952248" y="880114"/>
                    <a:pt x="1949863" y="885871"/>
                    <a:pt x="1945619" y="890116"/>
                  </a:cubicBezTo>
                  <a:cubicBezTo>
                    <a:pt x="1941374" y="894360"/>
                    <a:pt x="1935617" y="896745"/>
                    <a:pt x="1929614" y="896745"/>
                  </a:cubicBezTo>
                  <a:lnTo>
                    <a:pt x="22634" y="896745"/>
                  </a:lnTo>
                  <a:cubicBezTo>
                    <a:pt x="16631" y="896745"/>
                    <a:pt x="10874" y="894360"/>
                    <a:pt x="6629" y="890116"/>
                  </a:cubicBezTo>
                  <a:cubicBezTo>
                    <a:pt x="2385" y="885871"/>
                    <a:pt x="0" y="880114"/>
                    <a:pt x="0" y="874111"/>
                  </a:cubicBezTo>
                  <a:lnTo>
                    <a:pt x="0" y="22634"/>
                  </a:lnTo>
                  <a:cubicBezTo>
                    <a:pt x="0" y="16631"/>
                    <a:pt x="2385" y="10874"/>
                    <a:pt x="6629" y="6629"/>
                  </a:cubicBezTo>
                  <a:cubicBezTo>
                    <a:pt x="10874" y="2385"/>
                    <a:pt x="16631" y="0"/>
                    <a:pt x="22634" y="0"/>
                  </a:cubicBezTo>
                  <a:close/>
                </a:path>
              </a:pathLst>
            </a:custGeom>
            <a:solidFill>
              <a:srgbClr val="F3CA52"/>
            </a:solidFill>
            <a:ln w="38100" cap="sq">
              <a:solidFill>
                <a:srgbClr val="191919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1952248" cy="9443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4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-505945" y="6172200"/>
            <a:ext cx="5440240" cy="4114800"/>
          </a:xfrm>
          <a:custGeom>
            <a:avLst/>
            <a:gdLst/>
            <a:ahLst/>
            <a:cxnLst/>
            <a:rect l="l" t="t" r="r" b="b"/>
            <a:pathLst>
              <a:path w="5440240" h="4114800">
                <a:moveTo>
                  <a:pt x="0" y="0"/>
                </a:moveTo>
                <a:lnTo>
                  <a:pt x="5440241" y="0"/>
                </a:lnTo>
                <a:lnTo>
                  <a:pt x="54402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4233247" y="6172200"/>
            <a:ext cx="4995894" cy="4114800"/>
          </a:xfrm>
          <a:custGeom>
            <a:avLst/>
            <a:gdLst/>
            <a:ahLst/>
            <a:cxnLst/>
            <a:rect l="l" t="t" r="r" b="b"/>
            <a:pathLst>
              <a:path w="4995894" h="4114800">
                <a:moveTo>
                  <a:pt x="0" y="0"/>
                </a:moveTo>
                <a:lnTo>
                  <a:pt x="4995894" y="0"/>
                </a:lnTo>
                <a:lnTo>
                  <a:pt x="499589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7240010" y="6648336"/>
            <a:ext cx="3807981" cy="3787210"/>
          </a:xfrm>
          <a:custGeom>
            <a:avLst/>
            <a:gdLst/>
            <a:ahLst/>
            <a:cxnLst/>
            <a:rect l="l" t="t" r="r" b="b"/>
            <a:pathLst>
              <a:path w="3807981" h="3787210">
                <a:moveTo>
                  <a:pt x="0" y="0"/>
                </a:moveTo>
                <a:lnTo>
                  <a:pt x="3807980" y="0"/>
                </a:lnTo>
                <a:lnTo>
                  <a:pt x="3807980" y="3787210"/>
                </a:lnTo>
                <a:lnTo>
                  <a:pt x="0" y="378721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2041953" y="2831192"/>
            <a:ext cx="6698068" cy="864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30"/>
              </a:lnSpc>
              <a:spcBef>
                <a:spcPct val="0"/>
              </a:spcBef>
            </a:pPr>
            <a:r>
              <a:rPr lang="en-US" sz="4950">
                <a:solidFill>
                  <a:srgbClr val="191919"/>
                </a:solidFill>
                <a:latin typeface="Bobby Jones"/>
                <a:ea typeface="Bobby Jones"/>
                <a:cs typeface="Bobby Jones"/>
                <a:sym typeface="Bobby Jones"/>
              </a:rPr>
              <a:t>Сергей Мартынов</a:t>
            </a:r>
          </a:p>
        </p:txBody>
      </p:sp>
      <p:sp>
        <p:nvSpPr>
          <p:cNvPr id="17" name="Freeform 17"/>
          <p:cNvSpPr/>
          <p:nvPr/>
        </p:nvSpPr>
        <p:spPr>
          <a:xfrm rot="-309060">
            <a:off x="16467079" y="2678655"/>
            <a:ext cx="1584442" cy="2443220"/>
          </a:xfrm>
          <a:custGeom>
            <a:avLst/>
            <a:gdLst/>
            <a:ahLst/>
            <a:cxnLst/>
            <a:rect l="l" t="t" r="r" b="b"/>
            <a:pathLst>
              <a:path w="1584442" h="2443220">
                <a:moveTo>
                  <a:pt x="0" y="0"/>
                </a:moveTo>
                <a:lnTo>
                  <a:pt x="1584442" y="0"/>
                </a:lnTo>
                <a:lnTo>
                  <a:pt x="1584442" y="2443220"/>
                </a:lnTo>
                <a:lnTo>
                  <a:pt x="0" y="244322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r="-297548" b="-217218"/>
            </a:stretch>
          </a:blipFill>
          <a:ln cap="sq">
            <a:noFill/>
            <a:prstDash val="solid"/>
            <a:miter/>
          </a:ln>
        </p:spPr>
      </p:sp>
      <p:sp>
        <p:nvSpPr>
          <p:cNvPr id="18" name="Freeform 18"/>
          <p:cNvSpPr/>
          <p:nvPr/>
        </p:nvSpPr>
        <p:spPr>
          <a:xfrm>
            <a:off x="8326846" y="1019480"/>
            <a:ext cx="1642199" cy="1651206"/>
          </a:xfrm>
          <a:custGeom>
            <a:avLst/>
            <a:gdLst/>
            <a:ahLst/>
            <a:cxnLst/>
            <a:rect l="l" t="t" r="r" b="b"/>
            <a:pathLst>
              <a:path w="1642199" h="1651206">
                <a:moveTo>
                  <a:pt x="0" y="0"/>
                </a:moveTo>
                <a:lnTo>
                  <a:pt x="1642199" y="0"/>
                </a:lnTo>
                <a:lnTo>
                  <a:pt x="1642199" y="1651206"/>
                </a:lnTo>
                <a:lnTo>
                  <a:pt x="0" y="165120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6555770" y="928341"/>
            <a:ext cx="1951926" cy="1373446"/>
          </a:xfrm>
          <a:custGeom>
            <a:avLst/>
            <a:gdLst/>
            <a:ahLst/>
            <a:cxnLst/>
            <a:rect l="l" t="t" r="r" b="b"/>
            <a:pathLst>
              <a:path w="1951926" h="1373446">
                <a:moveTo>
                  <a:pt x="0" y="0"/>
                </a:moveTo>
                <a:lnTo>
                  <a:pt x="1951926" y="0"/>
                </a:lnTo>
                <a:lnTo>
                  <a:pt x="1951926" y="1373446"/>
                </a:lnTo>
                <a:lnTo>
                  <a:pt x="0" y="137344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2290663" y="4451335"/>
            <a:ext cx="6200649" cy="2580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06"/>
              </a:lnSpc>
            </a:pPr>
            <a:r>
              <a:rPr lang="en-US" sz="2523">
                <a:solidFill>
                  <a:srgbClr val="191919"/>
                </a:solidFill>
                <a:latin typeface="Public Sans"/>
                <a:ea typeface="Public Sans"/>
                <a:cs typeface="Public Sans"/>
                <a:sym typeface="Public Sans"/>
              </a:rPr>
              <a:t>Прокрастинация — это не лень, а результат внутренних психологических барьеров. Осознанность, чёткие цели и опора на прошлые успехи помогают вернуть контроль и повысить эффективность.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694798" y="4451265"/>
            <a:ext cx="6261432" cy="2580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3402"/>
              </a:lnSpc>
              <a:spcBef>
                <a:spcPct val="0"/>
              </a:spcBef>
            </a:pPr>
            <a:r>
              <a:rPr lang="en-US" sz="2520">
                <a:solidFill>
                  <a:srgbClr val="191919"/>
                </a:solidFill>
                <a:latin typeface="Public Sans"/>
                <a:ea typeface="Public Sans"/>
                <a:cs typeface="Public Sans"/>
                <a:sym typeface="Public Sans"/>
              </a:rPr>
              <a:t>Прокрастинация — это способ избежать дискомфорта, а не проявление лени. Особенно подвержены ей перфекционисты, тревожные люди и те, кто испытывает трудности с самоконтролем.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404982" y="2831192"/>
            <a:ext cx="6841064" cy="864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30"/>
              </a:lnSpc>
              <a:spcBef>
                <a:spcPct val="0"/>
              </a:spcBef>
            </a:pPr>
            <a:r>
              <a:rPr lang="en-US" sz="4950">
                <a:solidFill>
                  <a:srgbClr val="191919"/>
                </a:solidFill>
                <a:latin typeface="Bobby Jones"/>
                <a:ea typeface="Bobby Jones"/>
                <a:cs typeface="Bobby Jones"/>
                <a:sym typeface="Bobby Jones"/>
              </a:rPr>
              <a:t>Анастасия Кардиакос </a:t>
            </a:r>
          </a:p>
        </p:txBody>
      </p:sp>
      <p:sp>
        <p:nvSpPr>
          <p:cNvPr id="23" name="Freeform 23"/>
          <p:cNvSpPr/>
          <p:nvPr/>
        </p:nvSpPr>
        <p:spPr>
          <a:xfrm>
            <a:off x="-540634" y="781915"/>
            <a:ext cx="3138667" cy="1649227"/>
          </a:xfrm>
          <a:custGeom>
            <a:avLst/>
            <a:gdLst/>
            <a:ahLst/>
            <a:cxnLst/>
            <a:rect l="l" t="t" r="r" b="b"/>
            <a:pathLst>
              <a:path w="3138667" h="1649227">
                <a:moveTo>
                  <a:pt x="0" y="0"/>
                </a:moveTo>
                <a:lnTo>
                  <a:pt x="3138668" y="0"/>
                </a:lnTo>
                <a:lnTo>
                  <a:pt x="3138668" y="1649227"/>
                </a:lnTo>
                <a:lnTo>
                  <a:pt x="0" y="1649227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 rot="415356">
            <a:off x="488270" y="2842855"/>
            <a:ext cx="1584442" cy="2443220"/>
          </a:xfrm>
          <a:custGeom>
            <a:avLst/>
            <a:gdLst/>
            <a:ahLst/>
            <a:cxnLst/>
            <a:rect l="l" t="t" r="r" b="b"/>
            <a:pathLst>
              <a:path w="1584442" h="2443220">
                <a:moveTo>
                  <a:pt x="0" y="0"/>
                </a:moveTo>
                <a:lnTo>
                  <a:pt x="1584442" y="0"/>
                </a:lnTo>
                <a:lnTo>
                  <a:pt x="1584442" y="2443220"/>
                </a:lnTo>
                <a:lnTo>
                  <a:pt x="0" y="244322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r="-297548" b="-217218"/>
            </a:stretch>
          </a:blipFill>
          <a:ln cap="sq">
            <a:noFill/>
            <a:prstDash val="solid"/>
            <a:miter/>
          </a:ln>
        </p:spPr>
      </p:sp>
      <p:sp>
        <p:nvSpPr>
          <p:cNvPr id="25" name="Freeform 25"/>
          <p:cNvSpPr/>
          <p:nvPr/>
        </p:nvSpPr>
        <p:spPr>
          <a:xfrm>
            <a:off x="14438890" y="936890"/>
            <a:ext cx="980406" cy="980406"/>
          </a:xfrm>
          <a:custGeom>
            <a:avLst/>
            <a:gdLst/>
            <a:ahLst/>
            <a:cxnLst/>
            <a:rect l="l" t="t" r="r" b="b"/>
            <a:pathLst>
              <a:path w="980406" h="980406">
                <a:moveTo>
                  <a:pt x="0" y="0"/>
                </a:moveTo>
                <a:lnTo>
                  <a:pt x="980406" y="0"/>
                </a:lnTo>
                <a:lnTo>
                  <a:pt x="980406" y="980406"/>
                </a:lnTo>
                <a:lnTo>
                  <a:pt x="0" y="98040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 rot="170080">
            <a:off x="3930247" y="1427093"/>
            <a:ext cx="980406" cy="980406"/>
          </a:xfrm>
          <a:custGeom>
            <a:avLst/>
            <a:gdLst/>
            <a:ahLst/>
            <a:cxnLst/>
            <a:rect l="l" t="t" r="r" b="b"/>
            <a:pathLst>
              <a:path w="980406" h="980406">
                <a:moveTo>
                  <a:pt x="0" y="0"/>
                </a:moveTo>
                <a:lnTo>
                  <a:pt x="980406" y="0"/>
                </a:lnTo>
                <a:lnTo>
                  <a:pt x="980406" y="980406"/>
                </a:lnTo>
                <a:lnTo>
                  <a:pt x="0" y="98040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BC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283131">
            <a:off x="2160311" y="-1093527"/>
            <a:ext cx="13975270" cy="9757279"/>
          </a:xfrm>
          <a:custGeom>
            <a:avLst/>
            <a:gdLst/>
            <a:ahLst/>
            <a:cxnLst/>
            <a:rect l="l" t="t" r="r" b="b"/>
            <a:pathLst>
              <a:path w="13975270" h="9757279">
                <a:moveTo>
                  <a:pt x="0" y="0"/>
                </a:moveTo>
                <a:lnTo>
                  <a:pt x="13975269" y="0"/>
                </a:lnTo>
                <a:lnTo>
                  <a:pt x="13975269" y="9757279"/>
                </a:lnTo>
                <a:lnTo>
                  <a:pt x="0" y="97572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3" name="Group 3"/>
          <p:cNvGrpSpPr/>
          <p:nvPr/>
        </p:nvGrpSpPr>
        <p:grpSpPr>
          <a:xfrm>
            <a:off x="307064" y="2183200"/>
            <a:ext cx="9220142" cy="2963636"/>
            <a:chOff x="0" y="0"/>
            <a:chExt cx="2944620" cy="94649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44620" cy="946491"/>
            </a:xfrm>
            <a:custGeom>
              <a:avLst/>
              <a:gdLst/>
              <a:ahLst/>
              <a:cxnLst/>
              <a:rect l="l" t="t" r="r" b="b"/>
              <a:pathLst>
                <a:path w="2944620" h="946491">
                  <a:moveTo>
                    <a:pt x="16793" y="0"/>
                  </a:moveTo>
                  <a:lnTo>
                    <a:pt x="2927826" y="0"/>
                  </a:lnTo>
                  <a:cubicBezTo>
                    <a:pt x="2937101" y="0"/>
                    <a:pt x="2944620" y="7519"/>
                    <a:pt x="2944620" y="16793"/>
                  </a:cubicBezTo>
                  <a:lnTo>
                    <a:pt x="2944620" y="929697"/>
                  </a:lnTo>
                  <a:cubicBezTo>
                    <a:pt x="2944620" y="938972"/>
                    <a:pt x="2937101" y="946491"/>
                    <a:pt x="2927826" y="946491"/>
                  </a:cubicBezTo>
                  <a:lnTo>
                    <a:pt x="16793" y="946491"/>
                  </a:lnTo>
                  <a:cubicBezTo>
                    <a:pt x="7519" y="946491"/>
                    <a:pt x="0" y="938972"/>
                    <a:pt x="0" y="929697"/>
                  </a:cubicBezTo>
                  <a:lnTo>
                    <a:pt x="0" y="16793"/>
                  </a:lnTo>
                  <a:cubicBezTo>
                    <a:pt x="0" y="7519"/>
                    <a:pt x="7519" y="0"/>
                    <a:pt x="16793" y="0"/>
                  </a:cubicBezTo>
                  <a:close/>
                </a:path>
              </a:pathLst>
            </a:custGeom>
            <a:solidFill>
              <a:srgbClr val="F3CA52"/>
            </a:solidFill>
            <a:ln w="38100" cap="sq">
              <a:solidFill>
                <a:srgbClr val="191919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944620" cy="9941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4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-1661449" y="5271196"/>
            <a:ext cx="6166594" cy="4114800"/>
          </a:xfrm>
          <a:custGeom>
            <a:avLst/>
            <a:gdLst/>
            <a:ahLst/>
            <a:cxnLst/>
            <a:rect l="l" t="t" r="r" b="b"/>
            <a:pathLst>
              <a:path w="6166594" h="4114800">
                <a:moveTo>
                  <a:pt x="0" y="0"/>
                </a:moveTo>
                <a:lnTo>
                  <a:pt x="6166594" y="0"/>
                </a:lnTo>
                <a:lnTo>
                  <a:pt x="616659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flipH="1">
            <a:off x="2717717" y="5829883"/>
            <a:ext cx="5020845" cy="5094954"/>
          </a:xfrm>
          <a:custGeom>
            <a:avLst/>
            <a:gdLst/>
            <a:ahLst/>
            <a:cxnLst/>
            <a:rect l="l" t="t" r="r" b="b"/>
            <a:pathLst>
              <a:path w="5020845" h="5094954">
                <a:moveTo>
                  <a:pt x="5020845" y="0"/>
                </a:moveTo>
                <a:lnTo>
                  <a:pt x="0" y="0"/>
                </a:lnTo>
                <a:lnTo>
                  <a:pt x="0" y="5094954"/>
                </a:lnTo>
                <a:lnTo>
                  <a:pt x="5020845" y="5094954"/>
                </a:lnTo>
                <a:lnTo>
                  <a:pt x="5020845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221014">
            <a:off x="-817854" y="8199913"/>
            <a:ext cx="2958484" cy="2372166"/>
          </a:xfrm>
          <a:custGeom>
            <a:avLst/>
            <a:gdLst/>
            <a:ahLst/>
            <a:cxnLst/>
            <a:rect l="l" t="t" r="r" b="b"/>
            <a:pathLst>
              <a:path w="2958484" h="2372166">
                <a:moveTo>
                  <a:pt x="0" y="0"/>
                </a:moveTo>
                <a:lnTo>
                  <a:pt x="2958484" y="0"/>
                </a:lnTo>
                <a:lnTo>
                  <a:pt x="2958484" y="2372167"/>
                </a:lnTo>
                <a:lnTo>
                  <a:pt x="0" y="237216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221574" y="5498630"/>
            <a:ext cx="980406" cy="980406"/>
          </a:xfrm>
          <a:custGeom>
            <a:avLst/>
            <a:gdLst/>
            <a:ahLst/>
            <a:cxnLst/>
            <a:rect l="l" t="t" r="r" b="b"/>
            <a:pathLst>
              <a:path w="980406" h="980406">
                <a:moveTo>
                  <a:pt x="0" y="0"/>
                </a:moveTo>
                <a:lnTo>
                  <a:pt x="980406" y="0"/>
                </a:lnTo>
                <a:lnTo>
                  <a:pt x="980406" y="980406"/>
                </a:lnTo>
                <a:lnTo>
                  <a:pt x="0" y="98040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9762914" y="3156732"/>
            <a:ext cx="7496386" cy="6101568"/>
            <a:chOff x="0" y="0"/>
            <a:chExt cx="1974357" cy="160699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974357" cy="1606997"/>
            </a:xfrm>
            <a:custGeom>
              <a:avLst/>
              <a:gdLst/>
              <a:ahLst/>
              <a:cxnLst/>
              <a:rect l="l" t="t" r="r" b="b"/>
              <a:pathLst>
                <a:path w="1974357" h="1606997">
                  <a:moveTo>
                    <a:pt x="52670" y="0"/>
                  </a:moveTo>
                  <a:lnTo>
                    <a:pt x="1921686" y="0"/>
                  </a:lnTo>
                  <a:cubicBezTo>
                    <a:pt x="1935655" y="0"/>
                    <a:pt x="1949052" y="5549"/>
                    <a:pt x="1958930" y="15427"/>
                  </a:cubicBezTo>
                  <a:cubicBezTo>
                    <a:pt x="1968808" y="25304"/>
                    <a:pt x="1974357" y="38701"/>
                    <a:pt x="1974357" y="52670"/>
                  </a:cubicBezTo>
                  <a:lnTo>
                    <a:pt x="1974357" y="1554327"/>
                  </a:lnTo>
                  <a:cubicBezTo>
                    <a:pt x="1974357" y="1568296"/>
                    <a:pt x="1968808" y="1581693"/>
                    <a:pt x="1958930" y="1591571"/>
                  </a:cubicBezTo>
                  <a:cubicBezTo>
                    <a:pt x="1949052" y="1601448"/>
                    <a:pt x="1935655" y="1606997"/>
                    <a:pt x="1921686" y="1606997"/>
                  </a:cubicBezTo>
                  <a:lnTo>
                    <a:pt x="52670" y="1606997"/>
                  </a:lnTo>
                  <a:cubicBezTo>
                    <a:pt x="38701" y="1606997"/>
                    <a:pt x="25304" y="1601448"/>
                    <a:pt x="15427" y="1591571"/>
                  </a:cubicBezTo>
                  <a:cubicBezTo>
                    <a:pt x="5549" y="1581693"/>
                    <a:pt x="0" y="1568296"/>
                    <a:pt x="0" y="1554327"/>
                  </a:cubicBezTo>
                  <a:lnTo>
                    <a:pt x="0" y="52670"/>
                  </a:lnTo>
                  <a:cubicBezTo>
                    <a:pt x="0" y="38701"/>
                    <a:pt x="5549" y="25304"/>
                    <a:pt x="15427" y="15427"/>
                  </a:cubicBezTo>
                  <a:cubicBezTo>
                    <a:pt x="25304" y="5549"/>
                    <a:pt x="38701" y="0"/>
                    <a:pt x="5267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1974357" cy="16546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4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9762914" y="3227363"/>
            <a:ext cx="7670508" cy="6030937"/>
          </a:xfrm>
          <a:custGeom>
            <a:avLst/>
            <a:gdLst/>
            <a:ahLst/>
            <a:cxnLst/>
            <a:rect l="l" t="t" r="r" b="b"/>
            <a:pathLst>
              <a:path w="7670508" h="6030937">
                <a:moveTo>
                  <a:pt x="0" y="0"/>
                </a:moveTo>
                <a:lnTo>
                  <a:pt x="7670508" y="0"/>
                </a:lnTo>
                <a:lnTo>
                  <a:pt x="7670508" y="6030937"/>
                </a:lnTo>
                <a:lnTo>
                  <a:pt x="0" y="603093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654299" y="2252698"/>
            <a:ext cx="8519709" cy="3127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8"/>
              </a:lnSpc>
            </a:pPr>
            <a:r>
              <a:rPr lang="en-US" sz="2302">
                <a:solidFill>
                  <a:srgbClr val="191919"/>
                </a:solidFill>
                <a:latin typeface="Public Sans"/>
                <a:ea typeface="Public Sans"/>
                <a:cs typeface="Public Sans"/>
                <a:sym typeface="Public Sans"/>
              </a:rPr>
              <a:t>Из 441 опрошенного человека оказалось, что:</a:t>
            </a:r>
          </a:p>
          <a:p>
            <a:pPr algn="l">
              <a:lnSpc>
                <a:spcPts val="3108"/>
              </a:lnSpc>
            </a:pPr>
            <a:r>
              <a:rPr lang="en-US" sz="2302">
                <a:solidFill>
                  <a:srgbClr val="191919"/>
                </a:solidFill>
                <a:latin typeface="Public Sans"/>
                <a:ea typeface="Public Sans"/>
                <a:cs typeface="Public Sans"/>
                <a:sym typeface="Public Sans"/>
              </a:rPr>
              <a:t>- 69% респондентов регулярно откладывают важные задачи;</a:t>
            </a:r>
          </a:p>
          <a:p>
            <a:pPr algn="l">
              <a:lnSpc>
                <a:spcPts val="3108"/>
              </a:lnSpc>
            </a:pPr>
            <a:r>
              <a:rPr lang="en-US" sz="2302">
                <a:solidFill>
                  <a:srgbClr val="191919"/>
                </a:solidFill>
                <a:latin typeface="Public Sans"/>
                <a:ea typeface="Public Sans"/>
                <a:cs typeface="Public Sans"/>
                <a:sym typeface="Public Sans"/>
              </a:rPr>
              <a:t>- 84% признались, что чаще всего откладывают рабочие и учебные задачи</a:t>
            </a:r>
          </a:p>
          <a:p>
            <a:pPr algn="l">
              <a:lnSpc>
                <a:spcPts val="3108"/>
              </a:lnSpc>
            </a:pPr>
            <a:r>
              <a:rPr lang="en-US" sz="2302">
                <a:solidFill>
                  <a:srgbClr val="191919"/>
                </a:solidFill>
                <a:latin typeface="Public Sans"/>
                <a:ea typeface="Public Sans"/>
                <a:cs typeface="Public Sans"/>
                <a:sym typeface="Public Sans"/>
              </a:rPr>
              <a:t>- 82% даже испытывают чувство вины или раздражения, но всё равно не могут остановиться.</a:t>
            </a:r>
          </a:p>
          <a:p>
            <a:pPr algn="l">
              <a:lnSpc>
                <a:spcPts val="3108"/>
              </a:lnSpc>
            </a:pPr>
            <a:endParaRPr lang="en-US" sz="2302">
              <a:solidFill>
                <a:srgbClr val="191919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4894746" y="358034"/>
            <a:ext cx="10345253" cy="11317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9543"/>
              </a:lnSpc>
              <a:spcBef>
                <a:spcPct val="0"/>
              </a:spcBef>
            </a:pPr>
            <a:r>
              <a:rPr lang="en-US" sz="6816" dirty="0" err="1">
                <a:solidFill>
                  <a:srgbClr val="191919"/>
                </a:solidFill>
                <a:latin typeface="Intro" panose="02000000000000000000" charset="0"/>
                <a:ea typeface="Bobby Jones"/>
                <a:cs typeface="Bobby Jones"/>
                <a:sym typeface="Bobby Jones"/>
              </a:rPr>
              <a:t>Данные</a:t>
            </a:r>
            <a:r>
              <a:rPr lang="en-US" sz="6816" dirty="0">
                <a:solidFill>
                  <a:srgbClr val="191919"/>
                </a:solidFill>
                <a:latin typeface="Intro" panose="02000000000000000000" charset="0"/>
                <a:ea typeface="Bobby Jones"/>
                <a:cs typeface="Bobby Jones"/>
                <a:sym typeface="Bobby Jones"/>
              </a:rPr>
              <a:t> </a:t>
            </a:r>
            <a:r>
              <a:rPr lang="en-US" sz="6816" dirty="0" err="1">
                <a:solidFill>
                  <a:srgbClr val="191919"/>
                </a:solidFill>
                <a:latin typeface="Intro" panose="02000000000000000000" charset="0"/>
                <a:ea typeface="Bobby Jones"/>
                <a:cs typeface="Bobby Jones"/>
                <a:sym typeface="Bobby Jones"/>
              </a:rPr>
              <a:t>опросника</a:t>
            </a:r>
            <a:endParaRPr lang="en-US" sz="6816" dirty="0">
              <a:solidFill>
                <a:srgbClr val="191919"/>
              </a:solidFill>
              <a:latin typeface="Intro" panose="02000000000000000000" charset="0"/>
              <a:ea typeface="Bobby Jones"/>
              <a:cs typeface="Bobby Jones"/>
              <a:sym typeface="Bobby Jone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BC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283131">
            <a:off x="2160311" y="-1093527"/>
            <a:ext cx="13975270" cy="9757279"/>
          </a:xfrm>
          <a:custGeom>
            <a:avLst/>
            <a:gdLst/>
            <a:ahLst/>
            <a:cxnLst/>
            <a:rect l="l" t="t" r="r" b="b"/>
            <a:pathLst>
              <a:path w="13975270" h="9757279">
                <a:moveTo>
                  <a:pt x="0" y="0"/>
                </a:moveTo>
                <a:lnTo>
                  <a:pt x="13975269" y="0"/>
                </a:lnTo>
                <a:lnTo>
                  <a:pt x="13975269" y="9757279"/>
                </a:lnTo>
                <a:lnTo>
                  <a:pt x="0" y="97572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15522199" y="-834444"/>
            <a:ext cx="3023350" cy="2880428"/>
          </a:xfrm>
          <a:custGeom>
            <a:avLst/>
            <a:gdLst/>
            <a:ahLst/>
            <a:cxnLst/>
            <a:rect l="l" t="t" r="r" b="b"/>
            <a:pathLst>
              <a:path w="3023350" h="2880428">
                <a:moveTo>
                  <a:pt x="0" y="0"/>
                </a:moveTo>
                <a:lnTo>
                  <a:pt x="3023350" y="0"/>
                </a:lnTo>
                <a:lnTo>
                  <a:pt x="3023350" y="2880428"/>
                </a:lnTo>
                <a:lnTo>
                  <a:pt x="0" y="28804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7517583" y="3812004"/>
            <a:ext cx="9492853" cy="3691419"/>
            <a:chOff x="0" y="0"/>
            <a:chExt cx="3309633" cy="128699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309633" cy="1286994"/>
            </a:xfrm>
            <a:custGeom>
              <a:avLst/>
              <a:gdLst/>
              <a:ahLst/>
              <a:cxnLst/>
              <a:rect l="l" t="t" r="r" b="b"/>
              <a:pathLst>
                <a:path w="3309633" h="1286994">
                  <a:moveTo>
                    <a:pt x="16311" y="0"/>
                  </a:moveTo>
                  <a:lnTo>
                    <a:pt x="3293322" y="0"/>
                  </a:lnTo>
                  <a:cubicBezTo>
                    <a:pt x="3302331" y="0"/>
                    <a:pt x="3309633" y="7303"/>
                    <a:pt x="3309633" y="16311"/>
                  </a:cubicBezTo>
                  <a:lnTo>
                    <a:pt x="3309633" y="1270683"/>
                  </a:lnTo>
                  <a:cubicBezTo>
                    <a:pt x="3309633" y="1275009"/>
                    <a:pt x="3307915" y="1279158"/>
                    <a:pt x="3304856" y="1282217"/>
                  </a:cubicBezTo>
                  <a:cubicBezTo>
                    <a:pt x="3301797" y="1285276"/>
                    <a:pt x="3297648" y="1286994"/>
                    <a:pt x="3293322" y="1286994"/>
                  </a:cubicBezTo>
                  <a:lnTo>
                    <a:pt x="16311" y="1286994"/>
                  </a:lnTo>
                  <a:cubicBezTo>
                    <a:pt x="7303" y="1286994"/>
                    <a:pt x="0" y="1279691"/>
                    <a:pt x="0" y="1270683"/>
                  </a:cubicBezTo>
                  <a:lnTo>
                    <a:pt x="0" y="16311"/>
                  </a:lnTo>
                  <a:cubicBezTo>
                    <a:pt x="0" y="7303"/>
                    <a:pt x="7303" y="0"/>
                    <a:pt x="16311" y="0"/>
                  </a:cubicBezTo>
                  <a:close/>
                </a:path>
              </a:pathLst>
            </a:custGeom>
            <a:solidFill>
              <a:srgbClr val="F3CA52"/>
            </a:solidFill>
            <a:ln w="38100" cap="sq">
              <a:solidFill>
                <a:srgbClr val="191919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3309633" cy="13346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4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780865" y="2781896"/>
            <a:ext cx="6522017" cy="4114800"/>
          </a:xfrm>
          <a:custGeom>
            <a:avLst/>
            <a:gdLst/>
            <a:ahLst/>
            <a:cxnLst/>
            <a:rect l="l" t="t" r="r" b="b"/>
            <a:pathLst>
              <a:path w="6522017" h="4114800">
                <a:moveTo>
                  <a:pt x="0" y="0"/>
                </a:moveTo>
                <a:lnTo>
                  <a:pt x="6522017" y="0"/>
                </a:lnTo>
                <a:lnTo>
                  <a:pt x="652201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flipH="1">
            <a:off x="-2325003" y="2915925"/>
            <a:ext cx="7106452" cy="9174997"/>
          </a:xfrm>
          <a:custGeom>
            <a:avLst/>
            <a:gdLst/>
            <a:ahLst/>
            <a:cxnLst/>
            <a:rect l="l" t="t" r="r" b="b"/>
            <a:pathLst>
              <a:path w="7106452" h="9174997">
                <a:moveTo>
                  <a:pt x="7106452" y="0"/>
                </a:moveTo>
                <a:lnTo>
                  <a:pt x="0" y="0"/>
                </a:lnTo>
                <a:lnTo>
                  <a:pt x="0" y="9174996"/>
                </a:lnTo>
                <a:lnTo>
                  <a:pt x="7106452" y="9174996"/>
                </a:lnTo>
                <a:lnTo>
                  <a:pt x="7106452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7092410" y="6375925"/>
            <a:ext cx="1707599" cy="3741750"/>
          </a:xfrm>
          <a:custGeom>
            <a:avLst/>
            <a:gdLst/>
            <a:ahLst/>
            <a:cxnLst/>
            <a:rect l="l" t="t" r="r" b="b"/>
            <a:pathLst>
              <a:path w="1707599" h="3741750">
                <a:moveTo>
                  <a:pt x="0" y="0"/>
                </a:moveTo>
                <a:lnTo>
                  <a:pt x="1707599" y="0"/>
                </a:lnTo>
                <a:lnTo>
                  <a:pt x="1707599" y="3741750"/>
                </a:lnTo>
                <a:lnTo>
                  <a:pt x="0" y="37417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4318883" y="7912355"/>
            <a:ext cx="3201115" cy="2374645"/>
          </a:xfrm>
          <a:custGeom>
            <a:avLst/>
            <a:gdLst/>
            <a:ahLst/>
            <a:cxnLst/>
            <a:rect l="l" t="t" r="r" b="b"/>
            <a:pathLst>
              <a:path w="3201115" h="2374645">
                <a:moveTo>
                  <a:pt x="0" y="0"/>
                </a:moveTo>
                <a:lnTo>
                  <a:pt x="3201115" y="0"/>
                </a:lnTo>
                <a:lnTo>
                  <a:pt x="3201115" y="2374645"/>
                </a:lnTo>
                <a:lnTo>
                  <a:pt x="0" y="237464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6720879" y="232941"/>
            <a:ext cx="2275522" cy="2548955"/>
          </a:xfrm>
          <a:custGeom>
            <a:avLst/>
            <a:gdLst/>
            <a:ahLst/>
            <a:cxnLst/>
            <a:rect l="l" t="t" r="r" b="b"/>
            <a:pathLst>
              <a:path w="2275522" h="2548955">
                <a:moveTo>
                  <a:pt x="0" y="0"/>
                </a:moveTo>
                <a:lnTo>
                  <a:pt x="2275522" y="0"/>
                </a:lnTo>
                <a:lnTo>
                  <a:pt x="2275522" y="2548955"/>
                </a:lnTo>
                <a:lnTo>
                  <a:pt x="0" y="254895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598776">
            <a:off x="383891" y="-1246739"/>
            <a:ext cx="2103049" cy="3151708"/>
          </a:xfrm>
          <a:custGeom>
            <a:avLst/>
            <a:gdLst/>
            <a:ahLst/>
            <a:cxnLst/>
            <a:rect l="l" t="t" r="r" b="b"/>
            <a:pathLst>
              <a:path w="2103049" h="3151708">
                <a:moveTo>
                  <a:pt x="0" y="0"/>
                </a:moveTo>
                <a:lnTo>
                  <a:pt x="2103049" y="0"/>
                </a:lnTo>
                <a:lnTo>
                  <a:pt x="2103049" y="3151708"/>
                </a:lnTo>
                <a:lnTo>
                  <a:pt x="0" y="315170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7894323" y="3996706"/>
            <a:ext cx="8739372" cy="3506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1"/>
              </a:lnSpc>
            </a:pPr>
            <a:r>
              <a:rPr lang="en-US" sz="2579" b="1">
                <a:solidFill>
                  <a:srgbClr val="191919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Создать интеллектуальное приложение, которое эффективно помогает пользователям преодолевать прокрастинацию, повышать продуктивность и достигать поставленных целей за счёт персонализированного подхода и комплексной поддержки в планировании и выполнении задач.</a:t>
            </a:r>
          </a:p>
          <a:p>
            <a:pPr algn="l">
              <a:lnSpc>
                <a:spcPts val="3481"/>
              </a:lnSpc>
            </a:pPr>
            <a:endParaRPr lang="en-US" sz="2579" b="1">
              <a:solidFill>
                <a:srgbClr val="191919"/>
              </a:solidFill>
              <a:latin typeface="Public Sans Bold"/>
              <a:ea typeface="Public Sans Bold"/>
              <a:cs typeface="Public Sans Bold"/>
              <a:sym typeface="Public Sans Bold"/>
            </a:endParaRPr>
          </a:p>
        </p:txBody>
      </p:sp>
      <p:sp>
        <p:nvSpPr>
          <p:cNvPr id="17" name="Freeform 17"/>
          <p:cNvSpPr/>
          <p:nvPr/>
        </p:nvSpPr>
        <p:spPr>
          <a:xfrm>
            <a:off x="8231454" y="412147"/>
            <a:ext cx="1642199" cy="1651206"/>
          </a:xfrm>
          <a:custGeom>
            <a:avLst/>
            <a:gdLst/>
            <a:ahLst/>
            <a:cxnLst/>
            <a:rect l="l" t="t" r="r" b="b"/>
            <a:pathLst>
              <a:path w="1642199" h="1651206">
                <a:moveTo>
                  <a:pt x="0" y="0"/>
                </a:moveTo>
                <a:lnTo>
                  <a:pt x="1642199" y="0"/>
                </a:lnTo>
                <a:lnTo>
                  <a:pt x="1642199" y="1651206"/>
                </a:lnTo>
                <a:lnTo>
                  <a:pt x="0" y="165120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rot="171675">
            <a:off x="9279080" y="8058193"/>
            <a:ext cx="2697409" cy="2162831"/>
          </a:xfrm>
          <a:custGeom>
            <a:avLst/>
            <a:gdLst/>
            <a:ahLst/>
            <a:cxnLst/>
            <a:rect l="l" t="t" r="r" b="b"/>
            <a:pathLst>
              <a:path w="2697409" h="2162831">
                <a:moveTo>
                  <a:pt x="0" y="0"/>
                </a:moveTo>
                <a:lnTo>
                  <a:pt x="2697408" y="0"/>
                </a:lnTo>
                <a:lnTo>
                  <a:pt x="2697408" y="2162831"/>
                </a:lnTo>
                <a:lnTo>
                  <a:pt x="0" y="2162831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3470743" y="397564"/>
            <a:ext cx="2202622" cy="2098498"/>
          </a:xfrm>
          <a:custGeom>
            <a:avLst/>
            <a:gdLst/>
            <a:ahLst/>
            <a:cxnLst/>
            <a:rect l="l" t="t" r="r" b="b"/>
            <a:pathLst>
              <a:path w="2202622" h="2098498">
                <a:moveTo>
                  <a:pt x="0" y="0"/>
                </a:moveTo>
                <a:lnTo>
                  <a:pt x="2202623" y="0"/>
                </a:lnTo>
                <a:lnTo>
                  <a:pt x="2202623" y="2098499"/>
                </a:lnTo>
                <a:lnTo>
                  <a:pt x="0" y="20984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2990081" y="8060275"/>
            <a:ext cx="980406" cy="980406"/>
          </a:xfrm>
          <a:custGeom>
            <a:avLst/>
            <a:gdLst/>
            <a:ahLst/>
            <a:cxnLst/>
            <a:rect l="l" t="t" r="r" b="b"/>
            <a:pathLst>
              <a:path w="980406" h="980406">
                <a:moveTo>
                  <a:pt x="0" y="0"/>
                </a:moveTo>
                <a:lnTo>
                  <a:pt x="980406" y="0"/>
                </a:lnTo>
                <a:lnTo>
                  <a:pt x="980406" y="980406"/>
                </a:lnTo>
                <a:lnTo>
                  <a:pt x="0" y="98040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 rot="170080">
            <a:off x="6462207" y="1104210"/>
            <a:ext cx="980406" cy="980406"/>
          </a:xfrm>
          <a:custGeom>
            <a:avLst/>
            <a:gdLst/>
            <a:ahLst/>
            <a:cxnLst/>
            <a:rect l="l" t="t" r="r" b="b"/>
            <a:pathLst>
              <a:path w="980406" h="980406">
                <a:moveTo>
                  <a:pt x="0" y="0"/>
                </a:moveTo>
                <a:lnTo>
                  <a:pt x="980406" y="0"/>
                </a:lnTo>
                <a:lnTo>
                  <a:pt x="980406" y="980406"/>
                </a:lnTo>
                <a:lnTo>
                  <a:pt x="0" y="98040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7231916" y="301096"/>
            <a:ext cx="9652337" cy="33495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499"/>
              </a:lnSpc>
              <a:spcBef>
                <a:spcPct val="0"/>
              </a:spcBef>
            </a:pPr>
            <a:r>
              <a:rPr lang="en-US" sz="9999" b="1" dirty="0" err="1">
                <a:solidFill>
                  <a:srgbClr val="191919"/>
                </a:solidFill>
                <a:latin typeface="Intro" panose="02000000000000000000" charset="0"/>
                <a:ea typeface="Public Sans Bold"/>
                <a:cs typeface="Public Sans Bold"/>
                <a:sym typeface="Public Sans Bold"/>
              </a:rPr>
              <a:t>Цель</a:t>
            </a:r>
            <a:r>
              <a:rPr lang="en-US" sz="9999" b="1" dirty="0">
                <a:solidFill>
                  <a:srgbClr val="191919"/>
                </a:solidFill>
                <a:latin typeface="Intro" panose="02000000000000000000" charset="0"/>
                <a:ea typeface="Public Sans Bold"/>
                <a:cs typeface="Public Sans Bold"/>
                <a:sym typeface="Public Sans Bold"/>
              </a:rPr>
              <a:t> </a:t>
            </a:r>
            <a:r>
              <a:rPr lang="en-US" sz="9999" b="1" dirty="0" err="1">
                <a:solidFill>
                  <a:srgbClr val="191919"/>
                </a:solidFill>
                <a:latin typeface="Intro" panose="02000000000000000000" charset="0"/>
                <a:ea typeface="Public Sans Bold"/>
                <a:cs typeface="Public Sans Bold"/>
                <a:sym typeface="Public Sans Bold"/>
              </a:rPr>
              <a:t>проекта</a:t>
            </a:r>
            <a:endParaRPr lang="en-US" sz="9999" b="1" dirty="0">
              <a:solidFill>
                <a:srgbClr val="191919"/>
              </a:solidFill>
              <a:latin typeface="Intro" panose="02000000000000000000" charset="0"/>
              <a:ea typeface="Public Sans Bold"/>
              <a:cs typeface="Public Sans Bold"/>
              <a:sym typeface="Public Sans 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BC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283131">
            <a:off x="2160311" y="-1093527"/>
            <a:ext cx="13975270" cy="9757279"/>
          </a:xfrm>
          <a:custGeom>
            <a:avLst/>
            <a:gdLst/>
            <a:ahLst/>
            <a:cxnLst/>
            <a:rect l="l" t="t" r="r" b="b"/>
            <a:pathLst>
              <a:path w="13975270" h="9757279">
                <a:moveTo>
                  <a:pt x="0" y="0"/>
                </a:moveTo>
                <a:lnTo>
                  <a:pt x="13975269" y="0"/>
                </a:lnTo>
                <a:lnTo>
                  <a:pt x="13975269" y="9757279"/>
                </a:lnTo>
                <a:lnTo>
                  <a:pt x="0" y="97572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16850137" y="4247262"/>
            <a:ext cx="2406292" cy="2292540"/>
          </a:xfrm>
          <a:custGeom>
            <a:avLst/>
            <a:gdLst/>
            <a:ahLst/>
            <a:cxnLst/>
            <a:rect l="l" t="t" r="r" b="b"/>
            <a:pathLst>
              <a:path w="2406292" h="2292540">
                <a:moveTo>
                  <a:pt x="0" y="0"/>
                </a:moveTo>
                <a:lnTo>
                  <a:pt x="2406292" y="0"/>
                </a:lnTo>
                <a:lnTo>
                  <a:pt x="2406292" y="2292540"/>
                </a:lnTo>
                <a:lnTo>
                  <a:pt x="0" y="22925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4710388" y="1741295"/>
            <a:ext cx="8777801" cy="4832421"/>
            <a:chOff x="0" y="0"/>
            <a:chExt cx="3453565" cy="190128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453566" cy="1901283"/>
            </a:xfrm>
            <a:custGeom>
              <a:avLst/>
              <a:gdLst/>
              <a:ahLst/>
              <a:cxnLst/>
              <a:rect l="l" t="t" r="r" b="b"/>
              <a:pathLst>
                <a:path w="3453566" h="1901283">
                  <a:moveTo>
                    <a:pt x="66149" y="0"/>
                  </a:moveTo>
                  <a:lnTo>
                    <a:pt x="3387416" y="0"/>
                  </a:lnTo>
                  <a:cubicBezTo>
                    <a:pt x="3423950" y="0"/>
                    <a:pt x="3453566" y="29616"/>
                    <a:pt x="3453566" y="66149"/>
                  </a:cubicBezTo>
                  <a:lnTo>
                    <a:pt x="3453566" y="1835134"/>
                  </a:lnTo>
                  <a:cubicBezTo>
                    <a:pt x="3453566" y="1871667"/>
                    <a:pt x="3423950" y="1901283"/>
                    <a:pt x="3387416" y="1901283"/>
                  </a:cubicBezTo>
                  <a:lnTo>
                    <a:pt x="66149" y="1901283"/>
                  </a:lnTo>
                  <a:cubicBezTo>
                    <a:pt x="29616" y="1901283"/>
                    <a:pt x="0" y="1871667"/>
                    <a:pt x="0" y="1835134"/>
                  </a:cubicBezTo>
                  <a:lnTo>
                    <a:pt x="0" y="66149"/>
                  </a:lnTo>
                  <a:cubicBezTo>
                    <a:pt x="0" y="29616"/>
                    <a:pt x="29616" y="0"/>
                    <a:pt x="66149" y="0"/>
                  </a:cubicBezTo>
                  <a:close/>
                </a:path>
              </a:pathLst>
            </a:custGeom>
            <a:solidFill>
              <a:srgbClr val="F3CA52"/>
            </a:solidFill>
            <a:ln w="38100" cap="rnd">
              <a:solidFill>
                <a:srgbClr val="191919"/>
              </a:solidFill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3453565" cy="1948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539749" lvl="1" indent="-269875" algn="l">
                <a:lnSpc>
                  <a:spcPts val="3374"/>
                </a:lnSpc>
                <a:buFont typeface="Arial"/>
                <a:buChar char="•"/>
              </a:pPr>
              <a:r>
                <a:rPr lang="en-US" sz="2499" b="1">
                  <a:solidFill>
                    <a:srgbClr val="191919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Формирование полезных привычек и повышение личной продуктивности</a:t>
              </a:r>
            </a:p>
            <a:p>
              <a:pPr algn="just">
                <a:lnSpc>
                  <a:spcPts val="3374"/>
                </a:lnSpc>
              </a:pPr>
              <a:endParaRPr lang="en-US" sz="2499" b="1">
                <a:solidFill>
                  <a:srgbClr val="191919"/>
                </a:solidFill>
                <a:latin typeface="Public Sans Bold"/>
                <a:ea typeface="Public Sans Bold"/>
                <a:cs typeface="Public Sans Bold"/>
                <a:sym typeface="Public Sans Bold"/>
              </a:endParaRPr>
            </a:p>
            <a:p>
              <a:pPr marL="539749" lvl="1" indent="-269875" algn="just">
                <a:lnSpc>
                  <a:spcPts val="3374"/>
                </a:lnSpc>
                <a:buFont typeface="Arial"/>
                <a:buChar char="•"/>
              </a:pPr>
              <a:r>
                <a:rPr lang="en-US" sz="2499" b="1">
                  <a:solidFill>
                    <a:srgbClr val="191919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Улучшение эмоционального благополучия</a:t>
              </a:r>
            </a:p>
            <a:p>
              <a:pPr algn="just">
                <a:lnSpc>
                  <a:spcPts val="3374"/>
                </a:lnSpc>
              </a:pPr>
              <a:endParaRPr lang="en-US" sz="2499" b="1">
                <a:solidFill>
                  <a:srgbClr val="191919"/>
                </a:solidFill>
                <a:latin typeface="Public Sans Bold"/>
                <a:ea typeface="Public Sans Bold"/>
                <a:cs typeface="Public Sans Bold"/>
                <a:sym typeface="Public Sans Bold"/>
              </a:endParaRPr>
            </a:p>
            <a:p>
              <a:pPr marL="539749" lvl="1" indent="-269875" algn="just">
                <a:lnSpc>
                  <a:spcPts val="3374"/>
                </a:lnSpc>
                <a:buFont typeface="Arial"/>
                <a:buChar char="•"/>
              </a:pPr>
              <a:r>
                <a:rPr lang="en-US" sz="2499" b="1">
                  <a:solidFill>
                    <a:srgbClr val="191919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Выявление причин и триггеров прокрастинации с помощью опросов и поведенческого анализа.</a:t>
              </a:r>
            </a:p>
          </p:txBody>
        </p:sp>
      </p:grpSp>
      <p:sp>
        <p:nvSpPr>
          <p:cNvPr id="10" name="Freeform 10"/>
          <p:cNvSpPr/>
          <p:nvPr/>
        </p:nvSpPr>
        <p:spPr>
          <a:xfrm>
            <a:off x="5123438" y="6997430"/>
            <a:ext cx="4263339" cy="3511441"/>
          </a:xfrm>
          <a:custGeom>
            <a:avLst/>
            <a:gdLst/>
            <a:ahLst/>
            <a:cxnLst/>
            <a:rect l="l" t="t" r="r" b="b"/>
            <a:pathLst>
              <a:path w="4263339" h="3511441">
                <a:moveTo>
                  <a:pt x="0" y="0"/>
                </a:moveTo>
                <a:lnTo>
                  <a:pt x="4263340" y="0"/>
                </a:lnTo>
                <a:lnTo>
                  <a:pt x="4263340" y="3511442"/>
                </a:lnTo>
                <a:lnTo>
                  <a:pt x="0" y="351144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072917" y="7864050"/>
            <a:ext cx="4372766" cy="2297690"/>
          </a:xfrm>
          <a:custGeom>
            <a:avLst/>
            <a:gdLst/>
            <a:ahLst/>
            <a:cxnLst/>
            <a:rect l="l" t="t" r="r" b="b"/>
            <a:pathLst>
              <a:path w="4372766" h="2297690">
                <a:moveTo>
                  <a:pt x="0" y="0"/>
                </a:moveTo>
                <a:lnTo>
                  <a:pt x="4372766" y="0"/>
                </a:lnTo>
                <a:lnTo>
                  <a:pt x="4372766" y="2297690"/>
                </a:lnTo>
                <a:lnTo>
                  <a:pt x="0" y="229769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-575783">
            <a:off x="14017742" y="293933"/>
            <a:ext cx="2661643" cy="3388666"/>
          </a:xfrm>
          <a:custGeom>
            <a:avLst/>
            <a:gdLst/>
            <a:ahLst/>
            <a:cxnLst/>
            <a:rect l="l" t="t" r="r" b="b"/>
            <a:pathLst>
              <a:path w="2661643" h="3388666">
                <a:moveTo>
                  <a:pt x="0" y="0"/>
                </a:moveTo>
                <a:lnTo>
                  <a:pt x="2661643" y="0"/>
                </a:lnTo>
                <a:lnTo>
                  <a:pt x="2661643" y="3388666"/>
                </a:lnTo>
                <a:lnTo>
                  <a:pt x="0" y="338866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-228928">
            <a:off x="10895272" y="8030227"/>
            <a:ext cx="1829966" cy="2742455"/>
          </a:xfrm>
          <a:custGeom>
            <a:avLst/>
            <a:gdLst/>
            <a:ahLst/>
            <a:cxnLst/>
            <a:rect l="l" t="t" r="r" b="b"/>
            <a:pathLst>
              <a:path w="1829966" h="2742455">
                <a:moveTo>
                  <a:pt x="0" y="0"/>
                </a:moveTo>
                <a:lnTo>
                  <a:pt x="1829965" y="0"/>
                </a:lnTo>
                <a:lnTo>
                  <a:pt x="1829965" y="2742455"/>
                </a:lnTo>
                <a:lnTo>
                  <a:pt x="0" y="274245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flipH="1">
            <a:off x="-476295" y="7855034"/>
            <a:ext cx="3478876" cy="4114800"/>
          </a:xfrm>
          <a:custGeom>
            <a:avLst/>
            <a:gdLst/>
            <a:ahLst/>
            <a:cxnLst/>
            <a:rect l="l" t="t" r="r" b="b"/>
            <a:pathLst>
              <a:path w="3478876" h="4114800">
                <a:moveTo>
                  <a:pt x="3478876" y="0"/>
                </a:moveTo>
                <a:lnTo>
                  <a:pt x="0" y="0"/>
                </a:lnTo>
                <a:lnTo>
                  <a:pt x="0" y="4114800"/>
                </a:lnTo>
                <a:lnTo>
                  <a:pt x="3478876" y="4114800"/>
                </a:lnTo>
                <a:lnTo>
                  <a:pt x="3478876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95446" y="6202745"/>
            <a:ext cx="5128788" cy="5100813"/>
          </a:xfrm>
          <a:custGeom>
            <a:avLst/>
            <a:gdLst/>
            <a:ahLst/>
            <a:cxnLst/>
            <a:rect l="l" t="t" r="r" b="b"/>
            <a:pathLst>
              <a:path w="5128788" h="5100813">
                <a:moveTo>
                  <a:pt x="0" y="0"/>
                </a:moveTo>
                <a:lnTo>
                  <a:pt x="5128788" y="0"/>
                </a:lnTo>
                <a:lnTo>
                  <a:pt x="5128788" y="5100813"/>
                </a:lnTo>
                <a:lnTo>
                  <a:pt x="0" y="510081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4710388" y="162932"/>
            <a:ext cx="9195939" cy="1211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848"/>
              </a:lnSpc>
              <a:spcBef>
                <a:spcPct val="0"/>
              </a:spcBef>
            </a:pPr>
            <a:r>
              <a:rPr lang="en-US" sz="7034" dirty="0">
                <a:solidFill>
                  <a:srgbClr val="191919"/>
                </a:solidFill>
                <a:latin typeface="Intro" panose="02000000000000000000" charset="0"/>
                <a:ea typeface="Bobby Jones"/>
                <a:cs typeface="Bobby Jones"/>
                <a:sym typeface="Bobby Jones"/>
              </a:rPr>
              <a:t>ЗАДАЧИ ПРОЕКТА</a:t>
            </a:r>
          </a:p>
        </p:txBody>
      </p:sp>
      <p:sp>
        <p:nvSpPr>
          <p:cNvPr id="17" name="Freeform 17"/>
          <p:cNvSpPr/>
          <p:nvPr/>
        </p:nvSpPr>
        <p:spPr>
          <a:xfrm rot="382470">
            <a:off x="17371765" y="4277328"/>
            <a:ext cx="1363036" cy="2101810"/>
          </a:xfrm>
          <a:custGeom>
            <a:avLst/>
            <a:gdLst/>
            <a:ahLst/>
            <a:cxnLst/>
            <a:rect l="l" t="t" r="r" b="b"/>
            <a:pathLst>
              <a:path w="1363036" h="2101810">
                <a:moveTo>
                  <a:pt x="0" y="0"/>
                </a:moveTo>
                <a:lnTo>
                  <a:pt x="1363036" y="0"/>
                </a:lnTo>
                <a:lnTo>
                  <a:pt x="1363036" y="2101810"/>
                </a:lnTo>
                <a:lnTo>
                  <a:pt x="0" y="210181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r="-297548" b="-217218"/>
            </a:stretch>
          </a:blipFill>
          <a:ln cap="sq">
            <a:noFill/>
            <a:prstDash val="solid"/>
            <a:miter/>
          </a:ln>
        </p:spPr>
      </p:sp>
      <p:sp>
        <p:nvSpPr>
          <p:cNvPr id="18" name="Freeform 18"/>
          <p:cNvSpPr/>
          <p:nvPr/>
        </p:nvSpPr>
        <p:spPr>
          <a:xfrm rot="-927290">
            <a:off x="13145427" y="5423648"/>
            <a:ext cx="905600" cy="1396442"/>
          </a:xfrm>
          <a:custGeom>
            <a:avLst/>
            <a:gdLst/>
            <a:ahLst/>
            <a:cxnLst/>
            <a:rect l="l" t="t" r="r" b="b"/>
            <a:pathLst>
              <a:path w="905600" h="1396442">
                <a:moveTo>
                  <a:pt x="0" y="0"/>
                </a:moveTo>
                <a:lnTo>
                  <a:pt x="905601" y="0"/>
                </a:lnTo>
                <a:lnTo>
                  <a:pt x="905601" y="1396441"/>
                </a:lnTo>
                <a:lnTo>
                  <a:pt x="0" y="139644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r="-297548" b="-217218"/>
            </a:stretch>
          </a:blipFill>
          <a:ln cap="sq">
            <a:noFill/>
            <a:prstDash val="solid"/>
            <a:miter/>
          </a:ln>
        </p:spPr>
      </p:sp>
      <p:sp>
        <p:nvSpPr>
          <p:cNvPr id="19" name="Freeform 19"/>
          <p:cNvSpPr/>
          <p:nvPr/>
        </p:nvSpPr>
        <p:spPr>
          <a:xfrm>
            <a:off x="1028700" y="1831051"/>
            <a:ext cx="1915195" cy="1824658"/>
          </a:xfrm>
          <a:custGeom>
            <a:avLst/>
            <a:gdLst/>
            <a:ahLst/>
            <a:cxnLst/>
            <a:rect l="l" t="t" r="r" b="b"/>
            <a:pathLst>
              <a:path w="1915195" h="1824658">
                <a:moveTo>
                  <a:pt x="0" y="0"/>
                </a:moveTo>
                <a:lnTo>
                  <a:pt x="1915195" y="0"/>
                </a:lnTo>
                <a:lnTo>
                  <a:pt x="1915195" y="1824659"/>
                </a:lnTo>
                <a:lnTo>
                  <a:pt x="0" y="18246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6943219" y="963520"/>
            <a:ext cx="980406" cy="980406"/>
          </a:xfrm>
          <a:custGeom>
            <a:avLst/>
            <a:gdLst/>
            <a:ahLst/>
            <a:cxnLst/>
            <a:rect l="l" t="t" r="r" b="b"/>
            <a:pathLst>
              <a:path w="980406" h="980406">
                <a:moveTo>
                  <a:pt x="0" y="0"/>
                </a:moveTo>
                <a:lnTo>
                  <a:pt x="980406" y="0"/>
                </a:lnTo>
                <a:lnTo>
                  <a:pt x="980406" y="980406"/>
                </a:lnTo>
                <a:lnTo>
                  <a:pt x="0" y="98040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 rot="170080">
            <a:off x="4734031" y="6968331"/>
            <a:ext cx="980406" cy="980406"/>
          </a:xfrm>
          <a:custGeom>
            <a:avLst/>
            <a:gdLst/>
            <a:ahLst/>
            <a:cxnLst/>
            <a:rect l="l" t="t" r="r" b="b"/>
            <a:pathLst>
              <a:path w="980406" h="980406">
                <a:moveTo>
                  <a:pt x="0" y="0"/>
                </a:moveTo>
                <a:lnTo>
                  <a:pt x="980406" y="0"/>
                </a:lnTo>
                <a:lnTo>
                  <a:pt x="980406" y="980406"/>
                </a:lnTo>
                <a:lnTo>
                  <a:pt x="0" y="98040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 rot="382470">
            <a:off x="2408113" y="4316431"/>
            <a:ext cx="1363036" cy="2101810"/>
          </a:xfrm>
          <a:custGeom>
            <a:avLst/>
            <a:gdLst/>
            <a:ahLst/>
            <a:cxnLst/>
            <a:rect l="l" t="t" r="r" b="b"/>
            <a:pathLst>
              <a:path w="1363036" h="2101810">
                <a:moveTo>
                  <a:pt x="0" y="0"/>
                </a:moveTo>
                <a:lnTo>
                  <a:pt x="1363036" y="0"/>
                </a:lnTo>
                <a:lnTo>
                  <a:pt x="1363036" y="2101810"/>
                </a:lnTo>
                <a:lnTo>
                  <a:pt x="0" y="210181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r="-297548" b="-217218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BC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283131">
            <a:off x="2156365" y="-1543890"/>
            <a:ext cx="13975270" cy="9757279"/>
          </a:xfrm>
          <a:custGeom>
            <a:avLst/>
            <a:gdLst/>
            <a:ahLst/>
            <a:cxnLst/>
            <a:rect l="l" t="t" r="r" b="b"/>
            <a:pathLst>
              <a:path w="13975270" h="9757279">
                <a:moveTo>
                  <a:pt x="0" y="0"/>
                </a:moveTo>
                <a:lnTo>
                  <a:pt x="13975270" y="0"/>
                </a:lnTo>
                <a:lnTo>
                  <a:pt x="13975270" y="9757279"/>
                </a:lnTo>
                <a:lnTo>
                  <a:pt x="0" y="97572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6" name="Group 6"/>
          <p:cNvGrpSpPr/>
          <p:nvPr/>
        </p:nvGrpSpPr>
        <p:grpSpPr>
          <a:xfrm>
            <a:off x="1532626" y="1028700"/>
            <a:ext cx="14822634" cy="7769712"/>
            <a:chOff x="0" y="0"/>
            <a:chExt cx="3903904" cy="204634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903904" cy="2046344"/>
            </a:xfrm>
            <a:custGeom>
              <a:avLst/>
              <a:gdLst/>
              <a:ahLst/>
              <a:cxnLst/>
              <a:rect l="l" t="t" r="r" b="b"/>
              <a:pathLst>
                <a:path w="3903904" h="2046344">
                  <a:moveTo>
                    <a:pt x="26638" y="0"/>
                  </a:moveTo>
                  <a:lnTo>
                    <a:pt x="3877266" y="0"/>
                  </a:lnTo>
                  <a:cubicBezTo>
                    <a:pt x="3891978" y="0"/>
                    <a:pt x="3903904" y="11926"/>
                    <a:pt x="3903904" y="26638"/>
                  </a:cubicBezTo>
                  <a:lnTo>
                    <a:pt x="3903904" y="2019706"/>
                  </a:lnTo>
                  <a:cubicBezTo>
                    <a:pt x="3903904" y="2026771"/>
                    <a:pt x="3901097" y="2033546"/>
                    <a:pt x="3896102" y="2038542"/>
                  </a:cubicBezTo>
                  <a:cubicBezTo>
                    <a:pt x="3891106" y="2043537"/>
                    <a:pt x="3884331" y="2046344"/>
                    <a:pt x="3877266" y="2046344"/>
                  </a:cubicBezTo>
                  <a:lnTo>
                    <a:pt x="26638" y="2046344"/>
                  </a:lnTo>
                  <a:cubicBezTo>
                    <a:pt x="11926" y="2046344"/>
                    <a:pt x="0" y="2034418"/>
                    <a:pt x="0" y="2019706"/>
                  </a:cubicBezTo>
                  <a:lnTo>
                    <a:pt x="0" y="26638"/>
                  </a:lnTo>
                  <a:cubicBezTo>
                    <a:pt x="0" y="11926"/>
                    <a:pt x="11926" y="0"/>
                    <a:pt x="2663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3903904" cy="20939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4"/>
                </a:lnSpc>
              </a:pPr>
              <a:endParaRPr/>
            </a:p>
          </p:txBody>
        </p:sp>
      </p:grpSp>
      <p:graphicFrame>
        <p:nvGraphicFramePr>
          <p:cNvPr id="9" name="Table 9"/>
          <p:cNvGraphicFramePr>
            <a:graphicFrameLocks noGrp="1"/>
          </p:cNvGraphicFramePr>
          <p:nvPr/>
        </p:nvGraphicFramePr>
        <p:xfrm>
          <a:off x="1714526" y="1175537"/>
          <a:ext cx="14472940" cy="7481398"/>
        </p:xfrm>
        <a:graphic>
          <a:graphicData uri="http://schemas.openxmlformats.org/drawingml/2006/table">
            <a:tbl>
              <a:tblPr/>
              <a:tblGrid>
                <a:gridCol w="72364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64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89560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Сильные стороны</a:t>
                      </a:r>
                      <a:endParaRPr lang="en-US" sz="1100"/>
                    </a:p>
                    <a:p>
                      <a:pPr algn="l">
                        <a:lnSpc>
                          <a:spcPts val="3359"/>
                        </a:lnSpc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•Большая потенциальная аудитория;</a:t>
                      </a:r>
                    </a:p>
                    <a:p>
                      <a:pPr algn="l">
                        <a:lnSpc>
                          <a:spcPts val="3359"/>
                        </a:lnSpc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•Комплексный подход;</a:t>
                      </a:r>
                    </a:p>
                    <a:p>
                      <a:pPr algn="l">
                        <a:lnSpc>
                          <a:spcPts val="3359"/>
                        </a:lnSpc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•Персонализация;</a:t>
                      </a:r>
                    </a:p>
                    <a:p>
                      <a:pPr algn="l">
                        <a:lnSpc>
                          <a:spcPts val="3359"/>
                        </a:lnSpc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•Социальная поддержка.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Слабые стороны</a:t>
                      </a:r>
                      <a:endParaRPr lang="en-US" sz="1100"/>
                    </a:p>
                    <a:p>
                      <a:pPr algn="l">
                        <a:lnSpc>
                          <a:spcPts val="3359"/>
                        </a:lnSpc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•Сложность привлечения первых пользователей и удержания пользователей;</a:t>
                      </a:r>
                    </a:p>
                    <a:p>
                      <a:pPr algn="l">
                        <a:lnSpc>
                          <a:spcPts val="3359"/>
                        </a:lnSpc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•Зависимость от самодисциплины;</a:t>
                      </a:r>
                    </a:p>
                    <a:p>
                      <a:pPr algn="l">
                        <a:lnSpc>
                          <a:spcPts val="3359"/>
                        </a:lnSpc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•Риск «парадокса прокрастинации»;</a:t>
                      </a:r>
                    </a:p>
                    <a:p>
                      <a:pPr algn="l">
                        <a:lnSpc>
                          <a:spcPts val="3359"/>
                        </a:lnSpc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•Ограниченность для сложных случаев.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91838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Возможности</a:t>
                      </a:r>
                      <a:endParaRPr lang="en-US" sz="1100"/>
                    </a:p>
                    <a:p>
                      <a:pPr algn="l">
                        <a:lnSpc>
                          <a:spcPts val="3359"/>
                        </a:lnSpc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•Тайм-менеджмент; </a:t>
                      </a:r>
                    </a:p>
                    <a:p>
                      <a:pPr algn="l">
                        <a:lnSpc>
                          <a:spcPts val="3359"/>
                        </a:lnSpc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•Система трекинга привычек; </a:t>
                      </a:r>
                    </a:p>
                    <a:p>
                      <a:pPr algn="l">
                        <a:lnSpc>
                          <a:spcPts val="3359"/>
                        </a:lnSpc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•Геймификация продуктивности;</a:t>
                      </a:r>
                    </a:p>
                    <a:p>
                      <a:pPr algn="l">
                        <a:lnSpc>
                          <a:spcPts val="3359"/>
                        </a:lnSpc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•Применение AI-решений</a:t>
                      </a:r>
                    </a:p>
                    <a:p>
                      <a:pPr algn="l">
                        <a:lnSpc>
                          <a:spcPts val="3359"/>
                        </a:lnSpc>
                      </a:pPr>
                      <a:endParaRPr lang="en-US" sz="2400">
                        <a:solidFill>
                          <a:srgbClr val="000000"/>
                        </a:solidFill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1">
                          <a:solidFill>
                            <a:srgbClr val="000000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Угрозы</a:t>
                      </a:r>
                      <a:endParaRPr lang="en-US" sz="1100"/>
                    </a:p>
                    <a:p>
                      <a:pPr algn="l">
                        <a:lnSpc>
                          <a:spcPts val="3359"/>
                        </a:lnSpc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•Жесткая конкуренция с «дофаминовыми» сервисами;</a:t>
                      </a:r>
                    </a:p>
                    <a:p>
                      <a:pPr algn="l">
                        <a:lnSpc>
                          <a:spcPts val="3359"/>
                        </a:lnSpc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•Культурная нормализация прокрастинации;</a:t>
                      </a:r>
                    </a:p>
                    <a:p>
                      <a:pPr algn="l">
                        <a:lnSpc>
                          <a:spcPts val="3359"/>
                        </a:lnSpc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•Подмена реальной эффективности;</a:t>
                      </a:r>
                    </a:p>
                    <a:p>
                      <a:pPr algn="l">
                        <a:lnSpc>
                          <a:spcPts val="3359"/>
                        </a:lnSpc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•Технические ограничения платформ.</a:t>
                      </a:r>
                    </a:p>
                    <a:p>
                      <a:pPr algn="l">
                        <a:lnSpc>
                          <a:spcPts val="3359"/>
                        </a:lnSpc>
                      </a:pPr>
                      <a:endParaRPr lang="en-US" sz="2399">
                        <a:solidFill>
                          <a:srgbClr val="000000"/>
                        </a:solidFill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TextBox 10"/>
          <p:cNvSpPr txBox="1"/>
          <p:nvPr/>
        </p:nvSpPr>
        <p:spPr>
          <a:xfrm>
            <a:off x="5624400" y="5655"/>
            <a:ext cx="6639086" cy="1169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543"/>
              </a:lnSpc>
              <a:spcBef>
                <a:spcPct val="0"/>
              </a:spcBef>
            </a:pPr>
            <a:r>
              <a:rPr lang="en-US" sz="6816">
                <a:solidFill>
                  <a:srgbClr val="191919"/>
                </a:solidFill>
                <a:latin typeface="Intro"/>
                <a:ea typeface="Intro"/>
                <a:cs typeface="Intro"/>
                <a:sym typeface="Intro"/>
              </a:rPr>
              <a:t>swot-анализ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BC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283131">
            <a:off x="2160311" y="-1093527"/>
            <a:ext cx="13975270" cy="9757279"/>
          </a:xfrm>
          <a:custGeom>
            <a:avLst/>
            <a:gdLst/>
            <a:ahLst/>
            <a:cxnLst/>
            <a:rect l="l" t="t" r="r" b="b"/>
            <a:pathLst>
              <a:path w="13975270" h="9757279">
                <a:moveTo>
                  <a:pt x="0" y="0"/>
                </a:moveTo>
                <a:lnTo>
                  <a:pt x="13975269" y="0"/>
                </a:lnTo>
                <a:lnTo>
                  <a:pt x="13975269" y="9757279"/>
                </a:lnTo>
                <a:lnTo>
                  <a:pt x="0" y="97572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3" name="Group 3"/>
          <p:cNvGrpSpPr/>
          <p:nvPr/>
        </p:nvGrpSpPr>
        <p:grpSpPr>
          <a:xfrm>
            <a:off x="9144000" y="2341250"/>
            <a:ext cx="7981224" cy="1884806"/>
            <a:chOff x="0" y="0"/>
            <a:chExt cx="3140158" cy="7415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140158" cy="741564"/>
            </a:xfrm>
            <a:custGeom>
              <a:avLst/>
              <a:gdLst/>
              <a:ahLst/>
              <a:cxnLst/>
              <a:rect l="l" t="t" r="r" b="b"/>
              <a:pathLst>
                <a:path w="3140158" h="741564">
                  <a:moveTo>
                    <a:pt x="19400" y="0"/>
                  </a:moveTo>
                  <a:lnTo>
                    <a:pt x="3120758" y="0"/>
                  </a:lnTo>
                  <a:cubicBezTo>
                    <a:pt x="3125903" y="0"/>
                    <a:pt x="3130837" y="2044"/>
                    <a:pt x="3134476" y="5682"/>
                  </a:cubicBezTo>
                  <a:cubicBezTo>
                    <a:pt x="3138114" y="9320"/>
                    <a:pt x="3140158" y="14255"/>
                    <a:pt x="3140158" y="19400"/>
                  </a:cubicBezTo>
                  <a:lnTo>
                    <a:pt x="3140158" y="722164"/>
                  </a:lnTo>
                  <a:cubicBezTo>
                    <a:pt x="3140158" y="727309"/>
                    <a:pt x="3138114" y="732244"/>
                    <a:pt x="3134476" y="735882"/>
                  </a:cubicBezTo>
                  <a:cubicBezTo>
                    <a:pt x="3130837" y="739520"/>
                    <a:pt x="3125903" y="741564"/>
                    <a:pt x="3120758" y="741564"/>
                  </a:cubicBezTo>
                  <a:lnTo>
                    <a:pt x="19400" y="741564"/>
                  </a:lnTo>
                  <a:cubicBezTo>
                    <a:pt x="14255" y="741564"/>
                    <a:pt x="9320" y="739520"/>
                    <a:pt x="5682" y="735882"/>
                  </a:cubicBezTo>
                  <a:cubicBezTo>
                    <a:pt x="2044" y="732244"/>
                    <a:pt x="0" y="727309"/>
                    <a:pt x="0" y="722164"/>
                  </a:cubicBezTo>
                  <a:lnTo>
                    <a:pt x="0" y="19400"/>
                  </a:lnTo>
                  <a:cubicBezTo>
                    <a:pt x="0" y="14255"/>
                    <a:pt x="2044" y="9320"/>
                    <a:pt x="5682" y="5682"/>
                  </a:cubicBezTo>
                  <a:cubicBezTo>
                    <a:pt x="9320" y="2044"/>
                    <a:pt x="14255" y="0"/>
                    <a:pt x="19400" y="0"/>
                  </a:cubicBezTo>
                  <a:close/>
                </a:path>
              </a:pathLst>
            </a:custGeom>
            <a:solidFill>
              <a:srgbClr val="F3CA52"/>
            </a:solidFill>
            <a:ln w="38100" cap="sq">
              <a:solidFill>
                <a:srgbClr val="191919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3140158" cy="7987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19"/>
                </a:lnSpc>
              </a:pPr>
              <a:r>
                <a:rPr lang="en-US" sz="3199">
                  <a:solidFill>
                    <a:srgbClr val="191919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Студенты, офисные работники, перфекционисты и тревожники. Люди в возрасте 18-35 лет.</a:t>
              </a:r>
            </a:p>
          </p:txBody>
        </p:sp>
      </p:grpSp>
      <p:sp>
        <p:nvSpPr>
          <p:cNvPr id="9" name="Freeform 9"/>
          <p:cNvSpPr/>
          <p:nvPr/>
        </p:nvSpPr>
        <p:spPr>
          <a:xfrm>
            <a:off x="9269470" y="4764676"/>
            <a:ext cx="6166594" cy="4114800"/>
          </a:xfrm>
          <a:custGeom>
            <a:avLst/>
            <a:gdLst/>
            <a:ahLst/>
            <a:cxnLst/>
            <a:rect l="l" t="t" r="r" b="b"/>
            <a:pathLst>
              <a:path w="6166594" h="4114800">
                <a:moveTo>
                  <a:pt x="0" y="0"/>
                </a:moveTo>
                <a:lnTo>
                  <a:pt x="6166594" y="0"/>
                </a:lnTo>
                <a:lnTo>
                  <a:pt x="616659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flipH="1">
            <a:off x="10414314" y="4402511"/>
            <a:ext cx="8297629" cy="6276025"/>
          </a:xfrm>
          <a:custGeom>
            <a:avLst/>
            <a:gdLst/>
            <a:ahLst/>
            <a:cxnLst/>
            <a:rect l="l" t="t" r="r" b="b"/>
            <a:pathLst>
              <a:path w="8297629" h="6276025">
                <a:moveTo>
                  <a:pt x="8297630" y="0"/>
                </a:moveTo>
                <a:lnTo>
                  <a:pt x="0" y="0"/>
                </a:lnTo>
                <a:lnTo>
                  <a:pt x="0" y="6276025"/>
                </a:lnTo>
                <a:lnTo>
                  <a:pt x="8297630" y="6276025"/>
                </a:lnTo>
                <a:lnTo>
                  <a:pt x="829763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2728580" y="-5153"/>
            <a:ext cx="13590350" cy="1586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825"/>
              </a:lnSpc>
              <a:spcBef>
                <a:spcPct val="0"/>
              </a:spcBef>
            </a:pPr>
            <a:r>
              <a:rPr lang="en-US" sz="9161" dirty="0" err="1">
                <a:solidFill>
                  <a:srgbClr val="191919"/>
                </a:solidFill>
                <a:latin typeface="Intro"/>
                <a:ea typeface="Intro"/>
                <a:cs typeface="Intro"/>
                <a:sym typeface="Intro"/>
              </a:rPr>
              <a:t>целевая</a:t>
            </a:r>
            <a:r>
              <a:rPr lang="en-US" sz="9161" dirty="0">
                <a:solidFill>
                  <a:srgbClr val="191919"/>
                </a:solidFill>
                <a:latin typeface="Intro"/>
                <a:ea typeface="Intro"/>
                <a:cs typeface="Intro"/>
                <a:sym typeface="Intro"/>
              </a:rPr>
              <a:t> </a:t>
            </a:r>
            <a:r>
              <a:rPr lang="en-US" sz="9161" dirty="0" err="1">
                <a:solidFill>
                  <a:srgbClr val="191919"/>
                </a:solidFill>
                <a:latin typeface="Intro"/>
                <a:ea typeface="Intro"/>
                <a:cs typeface="Intro"/>
                <a:sym typeface="Intro"/>
              </a:rPr>
              <a:t>аудитория</a:t>
            </a:r>
            <a:endParaRPr lang="en-US" sz="9161" dirty="0">
              <a:solidFill>
                <a:srgbClr val="191919"/>
              </a:solidFill>
              <a:latin typeface="Intro"/>
              <a:ea typeface="Intro"/>
              <a:cs typeface="Intro"/>
              <a:sym typeface="Intro"/>
            </a:endParaRPr>
          </a:p>
        </p:txBody>
      </p:sp>
      <p:sp>
        <p:nvSpPr>
          <p:cNvPr id="12" name="Freeform 12"/>
          <p:cNvSpPr/>
          <p:nvPr/>
        </p:nvSpPr>
        <p:spPr>
          <a:xfrm rot="-353320">
            <a:off x="17373017" y="-487843"/>
            <a:ext cx="1829966" cy="2742455"/>
          </a:xfrm>
          <a:custGeom>
            <a:avLst/>
            <a:gdLst/>
            <a:ahLst/>
            <a:cxnLst/>
            <a:rect l="l" t="t" r="r" b="b"/>
            <a:pathLst>
              <a:path w="1829966" h="2742455">
                <a:moveTo>
                  <a:pt x="0" y="0"/>
                </a:moveTo>
                <a:lnTo>
                  <a:pt x="1829966" y="0"/>
                </a:lnTo>
                <a:lnTo>
                  <a:pt x="1829966" y="2742455"/>
                </a:lnTo>
                <a:lnTo>
                  <a:pt x="0" y="27424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170080">
            <a:off x="17148867" y="3617033"/>
            <a:ext cx="980406" cy="980406"/>
          </a:xfrm>
          <a:custGeom>
            <a:avLst/>
            <a:gdLst/>
            <a:ahLst/>
            <a:cxnLst/>
            <a:rect l="l" t="t" r="r" b="b"/>
            <a:pathLst>
              <a:path w="980406" h="980406">
                <a:moveTo>
                  <a:pt x="0" y="0"/>
                </a:moveTo>
                <a:lnTo>
                  <a:pt x="980406" y="0"/>
                </a:lnTo>
                <a:lnTo>
                  <a:pt x="980406" y="980406"/>
                </a:lnTo>
                <a:lnTo>
                  <a:pt x="0" y="98040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BC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283131">
            <a:off x="2160311" y="-1093527"/>
            <a:ext cx="13975270" cy="9757279"/>
          </a:xfrm>
          <a:custGeom>
            <a:avLst/>
            <a:gdLst/>
            <a:ahLst/>
            <a:cxnLst/>
            <a:rect l="l" t="t" r="r" b="b"/>
            <a:pathLst>
              <a:path w="13975270" h="9757279">
                <a:moveTo>
                  <a:pt x="0" y="0"/>
                </a:moveTo>
                <a:lnTo>
                  <a:pt x="13975269" y="0"/>
                </a:lnTo>
                <a:lnTo>
                  <a:pt x="13975269" y="9757279"/>
                </a:lnTo>
                <a:lnTo>
                  <a:pt x="0" y="97572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9777099" y="1879199"/>
            <a:ext cx="7972646" cy="10591679"/>
          </a:xfrm>
          <a:custGeom>
            <a:avLst/>
            <a:gdLst/>
            <a:ahLst/>
            <a:cxnLst/>
            <a:rect l="l" t="t" r="r" b="b"/>
            <a:pathLst>
              <a:path w="7972646" h="10591679">
                <a:moveTo>
                  <a:pt x="0" y="0"/>
                </a:moveTo>
                <a:lnTo>
                  <a:pt x="7972646" y="0"/>
                </a:lnTo>
                <a:lnTo>
                  <a:pt x="7972646" y="10591679"/>
                </a:lnTo>
                <a:lnTo>
                  <a:pt x="0" y="105916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1669128" y="4331011"/>
            <a:ext cx="6217776" cy="7109723"/>
          </a:xfrm>
          <a:custGeom>
            <a:avLst/>
            <a:gdLst/>
            <a:ahLst/>
            <a:cxnLst/>
            <a:rect l="l" t="t" r="r" b="b"/>
            <a:pathLst>
              <a:path w="6217776" h="7109723">
                <a:moveTo>
                  <a:pt x="6217776" y="0"/>
                </a:moveTo>
                <a:lnTo>
                  <a:pt x="0" y="0"/>
                </a:lnTo>
                <a:lnTo>
                  <a:pt x="0" y="7109724"/>
                </a:lnTo>
                <a:lnTo>
                  <a:pt x="6217776" y="7109724"/>
                </a:lnTo>
                <a:lnTo>
                  <a:pt x="621777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466395">
            <a:off x="15880220" y="526646"/>
            <a:ext cx="3681588" cy="4687207"/>
          </a:xfrm>
          <a:custGeom>
            <a:avLst/>
            <a:gdLst/>
            <a:ahLst/>
            <a:cxnLst/>
            <a:rect l="l" t="t" r="r" b="b"/>
            <a:pathLst>
              <a:path w="3681588" h="4687207">
                <a:moveTo>
                  <a:pt x="0" y="0"/>
                </a:moveTo>
                <a:lnTo>
                  <a:pt x="3681588" y="0"/>
                </a:lnTo>
                <a:lnTo>
                  <a:pt x="3681588" y="4687207"/>
                </a:lnTo>
                <a:lnTo>
                  <a:pt x="0" y="468720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624520" y="499644"/>
            <a:ext cx="16808902" cy="3630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860"/>
              </a:lnSpc>
            </a:pPr>
            <a:r>
              <a:rPr lang="en-US" sz="14000">
                <a:solidFill>
                  <a:srgbClr val="191919"/>
                </a:solidFill>
                <a:latin typeface="Bobby Jones"/>
                <a:ea typeface="Bobby Jones"/>
                <a:cs typeface="Bobby Jones"/>
                <a:sym typeface="Bobby Jones"/>
              </a:rPr>
              <a:t>Ждём ваших вопросов!</a:t>
            </a:r>
          </a:p>
        </p:txBody>
      </p:sp>
      <p:sp>
        <p:nvSpPr>
          <p:cNvPr id="10" name="Freeform 10"/>
          <p:cNvSpPr/>
          <p:nvPr/>
        </p:nvSpPr>
        <p:spPr>
          <a:xfrm>
            <a:off x="14410116" y="869437"/>
            <a:ext cx="980406" cy="980406"/>
          </a:xfrm>
          <a:custGeom>
            <a:avLst/>
            <a:gdLst/>
            <a:ahLst/>
            <a:cxnLst/>
            <a:rect l="l" t="t" r="r" b="b"/>
            <a:pathLst>
              <a:path w="980406" h="980406">
                <a:moveTo>
                  <a:pt x="0" y="0"/>
                </a:moveTo>
                <a:lnTo>
                  <a:pt x="980406" y="0"/>
                </a:lnTo>
                <a:lnTo>
                  <a:pt x="980406" y="980406"/>
                </a:lnTo>
                <a:lnTo>
                  <a:pt x="0" y="98040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318</Words>
  <Application>Microsoft Office PowerPoint</Application>
  <PresentationFormat>Произвольный</PresentationFormat>
  <Paragraphs>51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8" baseType="lpstr">
      <vt:lpstr>Arimo Bold</vt:lpstr>
      <vt:lpstr>Bobby Jones</vt:lpstr>
      <vt:lpstr>Intro</vt:lpstr>
      <vt:lpstr>Calibri</vt:lpstr>
      <vt:lpstr>Public Sans</vt:lpstr>
      <vt:lpstr>Public Sans Bold</vt:lpstr>
      <vt:lpstr>Arial</vt:lpstr>
      <vt:lpstr>Arimo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Illustrative Research Report Presentation</dc:title>
  <dc:creator>kitty swirth</dc:creator>
  <cp:lastModifiedBy>swirth</cp:lastModifiedBy>
  <cp:revision>2</cp:revision>
  <dcterms:created xsi:type="dcterms:W3CDTF">2006-08-16T00:00:00Z</dcterms:created>
  <dcterms:modified xsi:type="dcterms:W3CDTF">2025-05-26T15:47:56Z</dcterms:modified>
  <dc:identifier>DAGojjgZo1Q</dc:identifier>
</cp:coreProperties>
</file>