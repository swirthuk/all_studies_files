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78" r:id="rId7"/>
    <p:sldId id="262" r:id="rId8"/>
    <p:sldId id="270" r:id="rId9"/>
    <p:sldId id="269" r:id="rId10"/>
    <p:sldId id="259" r:id="rId11"/>
    <p:sldId id="258" r:id="rId12"/>
    <p:sldId id="261" r:id="rId13"/>
    <p:sldId id="275" r:id="rId14"/>
    <p:sldId id="274" r:id="rId15"/>
    <p:sldId id="273" r:id="rId16"/>
    <p:sldId id="272" r:id="rId17"/>
    <p:sldId id="279" r:id="rId18"/>
    <p:sldId id="263" r:id="rId19"/>
    <p:sldId id="260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5" autoAdjust="0"/>
    <p:restoredTop sz="96433" autoAdjust="0"/>
  </p:normalViewPr>
  <p:slideViewPr>
    <p:cSldViewPr snapToGrid="0" showGuides="1">
      <p:cViewPr varScale="1">
        <p:scale>
          <a:sx n="77" d="100"/>
          <a:sy n="77" d="100"/>
        </p:scale>
        <p:origin x="792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91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tty swirth" userId="919515adea8bd749" providerId="LiveId" clId="{FCFB09C6-ECD0-43A6-9FC2-52B16EDE9BED}"/>
    <pc:docChg chg="undo custSel modSld">
      <pc:chgData name="kitty swirth" userId="919515adea8bd749" providerId="LiveId" clId="{FCFB09C6-ECD0-43A6-9FC2-52B16EDE9BED}" dt="2025-05-22T10:37:17.819" v="236" actId="27636"/>
      <pc:docMkLst>
        <pc:docMk/>
      </pc:docMkLst>
      <pc:sldChg chg="modSp mod">
        <pc:chgData name="kitty swirth" userId="919515adea8bd749" providerId="LiveId" clId="{FCFB09C6-ECD0-43A6-9FC2-52B16EDE9BED}" dt="2025-05-22T10:37:17.819" v="236" actId="27636"/>
        <pc:sldMkLst>
          <pc:docMk/>
          <pc:sldMk cId="3935500662" sldId="256"/>
        </pc:sldMkLst>
        <pc:spChg chg="mod">
          <ac:chgData name="kitty swirth" userId="919515adea8bd749" providerId="LiveId" clId="{FCFB09C6-ECD0-43A6-9FC2-52B16EDE9BED}" dt="2025-05-22T10:37:17.819" v="236" actId="27636"/>
          <ac:spMkLst>
            <pc:docMk/>
            <pc:sldMk cId="3935500662" sldId="256"/>
            <ac:spMk id="3" creationId="{00000000-0000-0000-0000-000000000000}"/>
          </ac:spMkLst>
        </pc:spChg>
      </pc:sldChg>
      <pc:sldChg chg="modSp mod">
        <pc:chgData name="kitty swirth" userId="919515adea8bd749" providerId="LiveId" clId="{FCFB09C6-ECD0-43A6-9FC2-52B16EDE9BED}" dt="2025-05-22T06:04:17.933" v="54" actId="20577"/>
        <pc:sldMkLst>
          <pc:docMk/>
          <pc:sldMk cId="3233587315" sldId="258"/>
        </pc:sldMkLst>
        <pc:spChg chg="mod">
          <ac:chgData name="kitty swirth" userId="919515adea8bd749" providerId="LiveId" clId="{FCFB09C6-ECD0-43A6-9FC2-52B16EDE9BED}" dt="2025-05-22T06:04:17.933" v="54" actId="20577"/>
          <ac:spMkLst>
            <pc:docMk/>
            <pc:sldMk cId="3233587315" sldId="258"/>
            <ac:spMk id="4" creationId="{1D3094F3-12CA-4793-A6DE-0C96D51DE8F0}"/>
          </ac:spMkLst>
        </pc:spChg>
      </pc:sldChg>
      <pc:sldChg chg="modSp mod">
        <pc:chgData name="kitty swirth" userId="919515adea8bd749" providerId="LiveId" clId="{FCFB09C6-ECD0-43A6-9FC2-52B16EDE9BED}" dt="2025-05-22T06:03:59.168" v="44" actId="1076"/>
        <pc:sldMkLst>
          <pc:docMk/>
          <pc:sldMk cId="3765882283" sldId="259"/>
        </pc:sldMkLst>
        <pc:spChg chg="mod">
          <ac:chgData name="kitty swirth" userId="919515adea8bd749" providerId="LiveId" clId="{FCFB09C6-ECD0-43A6-9FC2-52B16EDE9BED}" dt="2025-05-22T06:03:55.964" v="43" actId="20577"/>
          <ac:spMkLst>
            <pc:docMk/>
            <pc:sldMk cId="3765882283" sldId="259"/>
            <ac:spMk id="5" creationId="{1D3094F3-12CA-4793-A6DE-0C96D51DE8F0}"/>
          </ac:spMkLst>
        </pc:spChg>
        <pc:graphicFrameChg chg="mod">
          <ac:chgData name="kitty swirth" userId="919515adea8bd749" providerId="LiveId" clId="{FCFB09C6-ECD0-43A6-9FC2-52B16EDE9BED}" dt="2025-05-22T06:03:59.168" v="44" actId="1076"/>
          <ac:graphicFrameMkLst>
            <pc:docMk/>
            <pc:sldMk cId="3765882283" sldId="259"/>
            <ac:graphicFrameMk id="4" creationId="{00000000-0000-0000-0000-000000000000}"/>
          </ac:graphicFrameMkLst>
        </pc:graphicFrameChg>
      </pc:sldChg>
      <pc:sldChg chg="addSp delSp modSp mod">
        <pc:chgData name="kitty swirth" userId="919515adea8bd749" providerId="LiveId" clId="{FCFB09C6-ECD0-43A6-9FC2-52B16EDE9BED}" dt="2025-05-22T10:28:59.646" v="102" actId="20577"/>
        <pc:sldMkLst>
          <pc:docMk/>
          <pc:sldMk cId="1134729949" sldId="260"/>
        </pc:sldMkLst>
        <pc:spChg chg="mod">
          <ac:chgData name="kitty swirth" userId="919515adea8bd749" providerId="LiveId" clId="{FCFB09C6-ECD0-43A6-9FC2-52B16EDE9BED}" dt="2025-05-22T10:28:59.646" v="102" actId="20577"/>
          <ac:spMkLst>
            <pc:docMk/>
            <pc:sldMk cId="1134729949" sldId="260"/>
            <ac:spMk id="3" creationId="{00000000-0000-0000-0000-000000000000}"/>
          </ac:spMkLst>
        </pc:spChg>
        <pc:spChg chg="add del mod">
          <ac:chgData name="kitty swirth" userId="919515adea8bd749" providerId="LiveId" clId="{FCFB09C6-ECD0-43A6-9FC2-52B16EDE9BED}" dt="2025-05-22T06:04:57.010" v="73" actId="20577"/>
          <ac:spMkLst>
            <pc:docMk/>
            <pc:sldMk cId="1134729949" sldId="260"/>
            <ac:spMk id="4" creationId="{1D3094F3-12CA-4793-A6DE-0C96D51DE8F0}"/>
          </ac:spMkLst>
        </pc:spChg>
      </pc:sldChg>
      <pc:sldChg chg="modSp mod">
        <pc:chgData name="kitty swirth" userId="919515adea8bd749" providerId="LiveId" clId="{FCFB09C6-ECD0-43A6-9FC2-52B16EDE9BED}" dt="2025-05-22T06:04:08.731" v="50" actId="20577"/>
        <pc:sldMkLst>
          <pc:docMk/>
          <pc:sldMk cId="715461357" sldId="261"/>
        </pc:sldMkLst>
        <pc:spChg chg="mod">
          <ac:chgData name="kitty swirth" userId="919515adea8bd749" providerId="LiveId" clId="{FCFB09C6-ECD0-43A6-9FC2-52B16EDE9BED}" dt="2025-05-22T06:04:08.731" v="50" actId="20577"/>
          <ac:spMkLst>
            <pc:docMk/>
            <pc:sldMk cId="715461357" sldId="261"/>
            <ac:spMk id="4" creationId="{1D3094F3-12CA-4793-A6DE-0C96D51DE8F0}"/>
          </ac:spMkLst>
        </pc:spChg>
      </pc:sldChg>
      <pc:sldChg chg="modSp mod">
        <pc:chgData name="kitty swirth" userId="919515adea8bd749" providerId="LiveId" clId="{FCFB09C6-ECD0-43A6-9FC2-52B16EDE9BED}" dt="2025-05-22T06:03:43.603" v="39" actId="20577"/>
        <pc:sldMkLst>
          <pc:docMk/>
          <pc:sldMk cId="1732112305" sldId="262"/>
        </pc:sldMkLst>
        <pc:spChg chg="mod">
          <ac:chgData name="kitty swirth" userId="919515adea8bd749" providerId="LiveId" clId="{FCFB09C6-ECD0-43A6-9FC2-52B16EDE9BED}" dt="2025-05-22T06:03:43.603" v="39" actId="20577"/>
          <ac:spMkLst>
            <pc:docMk/>
            <pc:sldMk cId="1732112305" sldId="262"/>
            <ac:spMk id="4" creationId="{1D3094F3-12CA-4793-A6DE-0C96D51DE8F0}"/>
          </ac:spMkLst>
        </pc:spChg>
      </pc:sldChg>
      <pc:sldChg chg="modSp mod">
        <pc:chgData name="kitty swirth" userId="919515adea8bd749" providerId="LiveId" clId="{FCFB09C6-ECD0-43A6-9FC2-52B16EDE9BED}" dt="2025-05-22T06:04:47.874" v="69" actId="20577"/>
        <pc:sldMkLst>
          <pc:docMk/>
          <pc:sldMk cId="3047517802" sldId="263"/>
        </pc:sldMkLst>
        <pc:spChg chg="mod">
          <ac:chgData name="kitty swirth" userId="919515adea8bd749" providerId="LiveId" clId="{FCFB09C6-ECD0-43A6-9FC2-52B16EDE9BED}" dt="2025-05-22T06:04:47.874" v="69" actId="20577"/>
          <ac:spMkLst>
            <pc:docMk/>
            <pc:sldMk cId="3047517802" sldId="263"/>
            <ac:spMk id="4" creationId="{1D3094F3-12CA-4793-A6DE-0C96D51DE8F0}"/>
          </ac:spMkLst>
        </pc:spChg>
      </pc:sldChg>
      <pc:sldChg chg="modSp mod">
        <pc:chgData name="kitty swirth" userId="919515adea8bd749" providerId="LiveId" clId="{FCFB09C6-ECD0-43A6-9FC2-52B16EDE9BED}" dt="2025-05-22T06:10:31.836" v="74" actId="20577"/>
        <pc:sldMkLst>
          <pc:docMk/>
          <pc:sldMk cId="0" sldId="264"/>
        </pc:sldMkLst>
        <pc:spChg chg="mod">
          <ac:chgData name="kitty swirth" userId="919515adea8bd749" providerId="LiveId" clId="{FCFB09C6-ECD0-43A6-9FC2-52B16EDE9BED}" dt="2025-05-22T06:10:31.836" v="74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kitty swirth" userId="919515adea8bd749" providerId="LiveId" clId="{FCFB09C6-ECD0-43A6-9FC2-52B16EDE9BED}" dt="2025-05-22T06:03:52.134" v="41" actId="20577"/>
        <pc:sldMkLst>
          <pc:docMk/>
          <pc:sldMk cId="0" sldId="269"/>
        </pc:sldMkLst>
        <pc:spChg chg="mod">
          <ac:chgData name="kitty swirth" userId="919515adea8bd749" providerId="LiveId" clId="{FCFB09C6-ECD0-43A6-9FC2-52B16EDE9BED}" dt="2025-05-22T06:03:52.134" v="41" actId="20577"/>
          <ac:spMkLst>
            <pc:docMk/>
            <pc:sldMk cId="0" sldId="269"/>
            <ac:spMk id="4" creationId="{1D3094F3-12CA-4793-A6DE-0C96D51DE8F0}"/>
          </ac:spMkLst>
        </pc:spChg>
      </pc:sldChg>
      <pc:sldChg chg="modSp mod">
        <pc:chgData name="kitty swirth" userId="919515adea8bd749" providerId="LiveId" clId="{FCFB09C6-ECD0-43A6-9FC2-52B16EDE9BED}" dt="2025-05-22T06:03:47.599" v="40" actId="20577"/>
        <pc:sldMkLst>
          <pc:docMk/>
          <pc:sldMk cId="0" sldId="270"/>
        </pc:sldMkLst>
        <pc:spChg chg="mod">
          <ac:chgData name="kitty swirth" userId="919515adea8bd749" providerId="LiveId" clId="{FCFB09C6-ECD0-43A6-9FC2-52B16EDE9BED}" dt="2025-05-22T06:03:47.599" v="40" actId="20577"/>
          <ac:spMkLst>
            <pc:docMk/>
            <pc:sldMk cId="0" sldId="270"/>
            <ac:spMk id="4" creationId="{1D3094F3-12CA-4793-A6DE-0C96D51DE8F0}"/>
          </ac:spMkLst>
        </pc:spChg>
      </pc:sldChg>
      <pc:sldChg chg="modSp mod">
        <pc:chgData name="kitty swirth" userId="919515adea8bd749" providerId="LiveId" clId="{FCFB09C6-ECD0-43A6-9FC2-52B16EDE9BED}" dt="2025-05-22T06:04:33.673" v="62" actId="20577"/>
        <pc:sldMkLst>
          <pc:docMk/>
          <pc:sldMk cId="0" sldId="272"/>
        </pc:sldMkLst>
        <pc:spChg chg="mod">
          <ac:chgData name="kitty swirth" userId="919515adea8bd749" providerId="LiveId" clId="{FCFB09C6-ECD0-43A6-9FC2-52B16EDE9BED}" dt="2025-05-22T06:04:33.673" v="62" actId="20577"/>
          <ac:spMkLst>
            <pc:docMk/>
            <pc:sldMk cId="0" sldId="272"/>
            <ac:spMk id="4" creationId="{1D3094F3-12CA-4793-A6DE-0C96D51DE8F0}"/>
          </ac:spMkLst>
        </pc:spChg>
      </pc:sldChg>
      <pc:sldChg chg="modSp mod">
        <pc:chgData name="kitty swirth" userId="919515adea8bd749" providerId="LiveId" clId="{FCFB09C6-ECD0-43A6-9FC2-52B16EDE9BED}" dt="2025-05-22T06:04:29.869" v="60" actId="20577"/>
        <pc:sldMkLst>
          <pc:docMk/>
          <pc:sldMk cId="0" sldId="273"/>
        </pc:sldMkLst>
        <pc:spChg chg="mod">
          <ac:chgData name="kitty swirth" userId="919515adea8bd749" providerId="LiveId" clId="{FCFB09C6-ECD0-43A6-9FC2-52B16EDE9BED}" dt="2025-05-22T06:04:29.869" v="60" actId="20577"/>
          <ac:spMkLst>
            <pc:docMk/>
            <pc:sldMk cId="0" sldId="273"/>
            <ac:spMk id="4" creationId="{1D3094F3-12CA-4793-A6DE-0C96D51DE8F0}"/>
          </ac:spMkLst>
        </pc:spChg>
      </pc:sldChg>
      <pc:sldChg chg="modSp mod">
        <pc:chgData name="kitty swirth" userId="919515adea8bd749" providerId="LiveId" clId="{FCFB09C6-ECD0-43A6-9FC2-52B16EDE9BED}" dt="2025-05-22T06:04:25.859" v="58" actId="20577"/>
        <pc:sldMkLst>
          <pc:docMk/>
          <pc:sldMk cId="0" sldId="274"/>
        </pc:sldMkLst>
        <pc:spChg chg="mod">
          <ac:chgData name="kitty swirth" userId="919515adea8bd749" providerId="LiveId" clId="{FCFB09C6-ECD0-43A6-9FC2-52B16EDE9BED}" dt="2025-05-22T06:04:25.859" v="58" actId="20577"/>
          <ac:spMkLst>
            <pc:docMk/>
            <pc:sldMk cId="0" sldId="274"/>
            <ac:spMk id="4" creationId="{1D3094F3-12CA-4793-A6DE-0C96D51DE8F0}"/>
          </ac:spMkLst>
        </pc:spChg>
      </pc:sldChg>
      <pc:sldChg chg="modSp mod">
        <pc:chgData name="kitty swirth" userId="919515adea8bd749" providerId="LiveId" clId="{FCFB09C6-ECD0-43A6-9FC2-52B16EDE9BED}" dt="2025-05-22T06:04:22.018" v="56" actId="20577"/>
        <pc:sldMkLst>
          <pc:docMk/>
          <pc:sldMk cId="0" sldId="275"/>
        </pc:sldMkLst>
        <pc:spChg chg="mod">
          <ac:chgData name="kitty swirth" userId="919515adea8bd749" providerId="LiveId" clId="{FCFB09C6-ECD0-43A6-9FC2-52B16EDE9BED}" dt="2025-05-22T06:04:22.018" v="56" actId="20577"/>
          <ac:spMkLst>
            <pc:docMk/>
            <pc:sldMk cId="0" sldId="275"/>
            <ac:spMk id="4" creationId="{1D3094F3-12CA-4793-A6DE-0C96D51DE8F0}"/>
          </ac:spMkLst>
        </pc:spChg>
      </pc:sldChg>
      <pc:sldChg chg="addSp modSp mod">
        <pc:chgData name="kitty swirth" userId="919515adea8bd749" providerId="LiveId" clId="{FCFB09C6-ECD0-43A6-9FC2-52B16EDE9BED}" dt="2025-05-22T06:04:44.105" v="65" actId="20577"/>
        <pc:sldMkLst>
          <pc:docMk/>
          <pc:sldMk cId="1090412704" sldId="279"/>
        </pc:sldMkLst>
        <pc:spChg chg="add mod">
          <ac:chgData name="kitty swirth" userId="919515adea8bd749" providerId="LiveId" clId="{FCFB09C6-ECD0-43A6-9FC2-52B16EDE9BED}" dt="2025-05-22T06:04:44.105" v="65" actId="20577"/>
          <ac:spMkLst>
            <pc:docMk/>
            <pc:sldMk cId="1090412704" sldId="279"/>
            <ac:spMk id="4" creationId="{FBD42BC6-7C88-41DA-9B5E-F06CF25B4E5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Как</a:t>
            </a:r>
            <a:r>
              <a:rPr lang="ru-RU" baseline="0" dirty="0"/>
              <a:t> часто вы откладываете выполнения задач на потом?</a:t>
            </a:r>
          </a:p>
          <a:p>
            <a:pPr>
              <a:defRPr/>
            </a:pPr>
            <a:endParaRPr lang="ru-RU" dirty="0"/>
          </a:p>
        </c:rich>
      </c:tx>
      <c:layout>
        <c:manualLayout>
          <c:xMode val="edge"/>
          <c:yMode val="edge"/>
          <c:x val="0.12649706457925636"/>
          <c:y val="3.38762214983713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8.5410287606880936E-2"/>
          <c:y val="0.2413091003719196"/>
          <c:w val="0.89098296664300924"/>
          <c:h val="0.650248483185463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Всегда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Категория 1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1A-4D17-8176-AFF43A0FC8F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Часто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Категория 1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1A-4D17-8176-AFF43A0FC8FC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Иногда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Категория 1</c:v>
                </c:pt>
              </c:strCache>
            </c:strRef>
          </c:cat>
          <c:val>
            <c:numRef>
              <c:f>Лист1!$D$2</c:f>
              <c:numCache>
                <c:formatCode>General</c:formatCode>
                <c:ptCount val="1"/>
                <c:pt idx="0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21A-4D17-8176-AFF43A0FC8FC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Редко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0730338977322614E-2"/>
                  <c:y val="9.9981854330782853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1A-4D17-8176-AFF43A0FC8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Категория 1</c:v>
                </c:pt>
              </c:strCache>
            </c:strRef>
          </c:cat>
          <c:val>
            <c:numRef>
              <c:f>Лист1!$E$2</c:f>
              <c:numCache>
                <c:formatCode>General</c:formatCode>
                <c:ptCount val="1"/>
                <c:pt idx="0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21A-4D17-8176-AFF43A0FC8F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1366281488"/>
        <c:axId val="-1366280944"/>
      </c:barChart>
      <c:catAx>
        <c:axId val="-136628148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-1366280944"/>
        <c:crosses val="autoZero"/>
        <c:auto val="1"/>
        <c:lblAlgn val="ctr"/>
        <c:lblOffset val="100"/>
        <c:noMultiLvlLbl val="0"/>
      </c:catAx>
      <c:valAx>
        <c:axId val="-1366280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-13662814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CB4B4-6F0B-41E5-A5F2-729D32DC579A}" type="datetimeFigureOut">
              <a:rPr lang="ru-RU" smtClean="0"/>
              <a:pPr/>
              <a:t>22.05.2025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C632C-A60A-4FCF-AF0C-1D62E566FA7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2971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CB4B4-6F0B-41E5-A5F2-729D32DC579A}" type="datetimeFigureOut">
              <a:rPr lang="ru-RU" smtClean="0"/>
              <a:pPr/>
              <a:t>22.05.2025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C632C-A60A-4FCF-AF0C-1D62E566FA7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6040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CB4B4-6F0B-41E5-A5F2-729D32DC579A}" type="datetimeFigureOut">
              <a:rPr lang="ru-RU" smtClean="0"/>
              <a:pPr/>
              <a:t>22.05.2025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C632C-A60A-4FCF-AF0C-1D62E566FA7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2421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CB4B4-6F0B-41E5-A5F2-729D32DC579A}" type="datetimeFigureOut">
              <a:rPr lang="ru-RU" smtClean="0"/>
              <a:pPr/>
              <a:t>22.05.2025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C632C-A60A-4FCF-AF0C-1D62E566FA7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6229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CB4B4-6F0B-41E5-A5F2-729D32DC579A}" type="datetimeFigureOut">
              <a:rPr lang="ru-RU" smtClean="0"/>
              <a:pPr/>
              <a:t>22.05.2025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C632C-A60A-4FCF-AF0C-1D62E566FA7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1414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CB4B4-6F0B-41E5-A5F2-729D32DC579A}" type="datetimeFigureOut">
              <a:rPr lang="ru-RU" smtClean="0"/>
              <a:pPr/>
              <a:t>22.05.2025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C632C-A60A-4FCF-AF0C-1D62E566FA7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32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CB4B4-6F0B-41E5-A5F2-729D32DC579A}" type="datetimeFigureOut">
              <a:rPr lang="ru-RU" smtClean="0"/>
              <a:pPr/>
              <a:t>22.05.2025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C632C-A60A-4FCF-AF0C-1D62E566FA7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302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CB4B4-6F0B-41E5-A5F2-729D32DC579A}" type="datetimeFigureOut">
              <a:rPr lang="ru-RU" smtClean="0"/>
              <a:pPr/>
              <a:t>22.05.2025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C632C-A60A-4FCF-AF0C-1D62E566FA7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882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CB4B4-6F0B-41E5-A5F2-729D32DC579A}" type="datetimeFigureOut">
              <a:rPr lang="ru-RU" smtClean="0"/>
              <a:pPr/>
              <a:t>22.05.2025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C632C-A60A-4FCF-AF0C-1D62E566FA7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573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CB4B4-6F0B-41E5-A5F2-729D32DC579A}" type="datetimeFigureOut">
              <a:rPr lang="ru-RU" smtClean="0"/>
              <a:pPr/>
              <a:t>22.05.2025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C632C-A60A-4FCF-AF0C-1D62E566FA7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904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CB4B4-6F0B-41E5-A5F2-729D32DC579A}" type="datetimeFigureOut">
              <a:rPr lang="ru-RU" smtClean="0"/>
              <a:pPr/>
              <a:t>22.05.2025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C632C-A60A-4FCF-AF0C-1D62E566FA7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837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CB4B4-6F0B-41E5-A5F2-729D32DC579A}" type="datetimeFigureOut">
              <a:rPr lang="ru-RU" smtClean="0"/>
              <a:pPr/>
              <a:t>22.05.2025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C632C-A60A-4FCF-AF0C-1D62E566FA7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3318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b="1" dirty="0">
                <a:latin typeface="Verdana" pitchFamily="34" charset="0"/>
                <a:ea typeface="Verdana" pitchFamily="34" charset="0"/>
              </a:rPr>
              <a:t>Платформа для борьбы с </a:t>
            </a:r>
            <a:r>
              <a:rPr lang="ru-RU" sz="4400" b="1" dirty="0" err="1">
                <a:latin typeface="Verdana" pitchFamily="34" charset="0"/>
                <a:ea typeface="Verdana" pitchFamily="34" charset="0"/>
              </a:rPr>
              <a:t>прокрастинацией</a:t>
            </a:r>
            <a:r>
              <a:rPr lang="ru-RU" sz="4400" b="1" dirty="0">
                <a:latin typeface="Verdana" pitchFamily="34" charset="0"/>
                <a:ea typeface="Verdana" pitchFamily="34" charset="0"/>
              </a:rPr>
              <a:t> 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756991"/>
            <a:ext cx="9144000" cy="2693505"/>
          </a:xfrm>
        </p:spPr>
        <p:txBody>
          <a:bodyPr>
            <a:normAutofit fontScale="55000" lnSpcReduction="20000"/>
          </a:bodyPr>
          <a:lstStyle/>
          <a:p>
            <a:r>
              <a:rPr lang="ru-RU" sz="4400" dirty="0">
                <a:latin typeface="Verdana" pitchFamily="34" charset="0"/>
                <a:ea typeface="Verdana" pitchFamily="34" charset="0"/>
              </a:rPr>
              <a:t>Танцерев Андрей</a:t>
            </a:r>
          </a:p>
          <a:p>
            <a:r>
              <a:rPr lang="ru-RU" sz="4400" dirty="0" err="1">
                <a:latin typeface="Verdana" pitchFamily="34" charset="0"/>
                <a:ea typeface="Verdana" pitchFamily="34" charset="0"/>
              </a:rPr>
              <a:t>Змейкова</a:t>
            </a:r>
            <a:r>
              <a:rPr lang="ru-RU" sz="4400" dirty="0">
                <a:latin typeface="Verdana" pitchFamily="34" charset="0"/>
                <a:ea typeface="Verdana" pitchFamily="34" charset="0"/>
              </a:rPr>
              <a:t> Екатерина</a:t>
            </a:r>
          </a:p>
          <a:p>
            <a:r>
              <a:rPr lang="ru-RU" sz="4400" dirty="0">
                <a:latin typeface="Verdana" pitchFamily="34" charset="0"/>
                <a:ea typeface="Verdana" pitchFamily="34" charset="0"/>
              </a:rPr>
              <a:t>Корженевский Макар</a:t>
            </a:r>
          </a:p>
          <a:p>
            <a:r>
              <a:rPr lang="ru-RU" sz="4400" dirty="0" err="1">
                <a:latin typeface="Verdana" pitchFamily="34" charset="0"/>
                <a:ea typeface="Verdana" pitchFamily="34" charset="0"/>
              </a:rPr>
              <a:t>Ряшинцев</a:t>
            </a:r>
            <a:r>
              <a:rPr lang="ru-RU" sz="4400" dirty="0">
                <a:latin typeface="Verdana" pitchFamily="34" charset="0"/>
                <a:ea typeface="Verdana" pitchFamily="34" charset="0"/>
              </a:rPr>
              <a:t> Владимир</a:t>
            </a:r>
          </a:p>
          <a:p>
            <a:r>
              <a:rPr lang="ru-RU" sz="4400" dirty="0">
                <a:latin typeface="Verdana" pitchFamily="34" charset="0"/>
                <a:ea typeface="Verdana" pitchFamily="34" charset="0"/>
              </a:rPr>
              <a:t>Иван Корнев</a:t>
            </a:r>
          </a:p>
          <a:p>
            <a:r>
              <a:rPr lang="ru-RU" sz="4400" dirty="0">
                <a:latin typeface="Verdana" pitchFamily="34" charset="0"/>
                <a:ea typeface="Verdana" pitchFamily="34" charset="0"/>
              </a:rPr>
              <a:t>Георгий Хитров</a:t>
            </a:r>
          </a:p>
          <a:p>
            <a:r>
              <a:rPr lang="ru-RU" sz="4400" dirty="0">
                <a:latin typeface="Verdana" pitchFamily="34" charset="0"/>
                <a:ea typeface="Verdana" pitchFamily="34" charset="0"/>
              </a:rPr>
              <a:t>Егор </a:t>
            </a:r>
            <a:r>
              <a:rPr lang="ru-RU" sz="4400" dirty="0" err="1">
                <a:latin typeface="Verdana" pitchFamily="34" charset="0"/>
                <a:ea typeface="Verdana" pitchFamily="34" charset="0"/>
              </a:rPr>
              <a:t>Палкин</a:t>
            </a:r>
            <a:endParaRPr lang="ru-RU" sz="4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500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6648" y="370704"/>
            <a:ext cx="10521778" cy="697829"/>
          </a:xfrm>
        </p:spPr>
        <p:txBody>
          <a:bodyPr>
            <a:normAutofit/>
          </a:bodyPr>
          <a:lstStyle/>
          <a:p>
            <a:r>
              <a:rPr lang="ru-RU" b="1" dirty="0">
                <a:latin typeface="Verdana" pitchFamily="34" charset="0"/>
                <a:ea typeface="Verdana" pitchFamily="34" charset="0"/>
              </a:rPr>
              <a:t>Актуальность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7752" y="1334530"/>
            <a:ext cx="7635474" cy="5025081"/>
          </a:xfrm>
        </p:spPr>
        <p:txBody>
          <a:bodyPr>
            <a:normAutofit lnSpcReduction="10000"/>
          </a:bodyPr>
          <a:lstStyle/>
          <a:p>
            <a:pPr indent="0">
              <a:buNone/>
            </a:pPr>
            <a:r>
              <a:rPr lang="ru-RU" dirty="0">
                <a:latin typeface="Verdana" pitchFamily="34" charset="0"/>
                <a:ea typeface="Verdana" pitchFamily="34" charset="0"/>
              </a:rPr>
              <a:t>Современные люди теряют драгоценное время из-за </a:t>
            </a:r>
            <a:r>
              <a:rPr lang="ru-RU" dirty="0" err="1">
                <a:latin typeface="Verdana" pitchFamily="34" charset="0"/>
                <a:ea typeface="Verdana" pitchFamily="34" charset="0"/>
              </a:rPr>
              <a:t>прокрастинации</a:t>
            </a:r>
            <a:r>
              <a:rPr lang="ru-RU" dirty="0">
                <a:latin typeface="Verdana" pitchFamily="34" charset="0"/>
                <a:ea typeface="Verdana" pitchFamily="34" charset="0"/>
              </a:rPr>
              <a:t>, что приводит к срыву </a:t>
            </a:r>
            <a:r>
              <a:rPr lang="ru-RU" dirty="0" err="1">
                <a:latin typeface="Verdana" pitchFamily="34" charset="0"/>
                <a:ea typeface="Verdana" pitchFamily="34" charset="0"/>
              </a:rPr>
              <a:t>дедлайнов</a:t>
            </a:r>
            <a:r>
              <a:rPr lang="ru-RU" dirty="0">
                <a:latin typeface="Verdana" pitchFamily="34" charset="0"/>
                <a:ea typeface="Verdana" pitchFamily="34" charset="0"/>
              </a:rPr>
              <a:t>, стрессу и снижению продуктивности. Существующие приложения для тайм-менеджмента</a:t>
            </a:r>
            <a:r>
              <a:rPr lang="en-US" dirty="0">
                <a:latin typeface="Verdana" pitchFamily="34" charset="0"/>
                <a:ea typeface="Verdana" pitchFamily="34" charset="0"/>
              </a:rPr>
              <a:t>,</a:t>
            </a:r>
            <a:r>
              <a:rPr lang="ru-RU" dirty="0">
                <a:latin typeface="Verdana" pitchFamily="34" charset="0"/>
                <a:ea typeface="Verdana" pitchFamily="34" charset="0"/>
              </a:rPr>
              <a:t> которые часто не</a:t>
            </a:r>
            <a:r>
              <a:rPr lang="en-US" dirty="0">
                <a:latin typeface="Verdana" pitchFamily="34" charset="0"/>
                <a:ea typeface="Verdana" pitchFamily="34" charset="0"/>
              </a:rPr>
              <a:t> </a:t>
            </a:r>
            <a:r>
              <a:rPr lang="ru-RU" dirty="0">
                <a:latin typeface="Verdana" pitchFamily="34" charset="0"/>
                <a:ea typeface="Verdana" pitchFamily="34" charset="0"/>
              </a:rPr>
              <a:t>учитывают </a:t>
            </a:r>
            <a:r>
              <a:rPr lang="ru-RU" b="1" dirty="0">
                <a:latin typeface="Verdana" pitchFamily="34" charset="0"/>
                <a:ea typeface="Verdana" pitchFamily="34" charset="0"/>
              </a:rPr>
              <a:t>социальные</a:t>
            </a:r>
            <a:r>
              <a:rPr lang="ru-RU" dirty="0">
                <a:latin typeface="Verdana" pitchFamily="34" charset="0"/>
                <a:ea typeface="Verdana" pitchFamily="34" charset="0"/>
              </a:rPr>
              <a:t> и </a:t>
            </a:r>
            <a:r>
              <a:rPr lang="ru-RU" b="1" dirty="0">
                <a:latin typeface="Verdana" pitchFamily="34" charset="0"/>
                <a:ea typeface="Verdana" pitchFamily="34" charset="0"/>
              </a:rPr>
              <a:t>игровые </a:t>
            </a:r>
            <a:r>
              <a:rPr lang="ru-RU" dirty="0">
                <a:latin typeface="Verdana" pitchFamily="34" charset="0"/>
                <a:ea typeface="Verdana" pitchFamily="34" charset="0"/>
              </a:rPr>
              <a:t>аспекты мотивации, из-за чего пользователи быстро теряют интерес к таким приложениям.</a:t>
            </a:r>
            <a:endParaRPr lang="ru-RU" dirty="0">
              <a:solidFill>
                <a:schemeClr val="tx2">
                  <a:lumMod val="50000"/>
                  <a:lumOff val="50000"/>
                </a:schemeClr>
              </a:solidFill>
              <a:latin typeface="Verdana" pitchFamily="34" charset="0"/>
              <a:ea typeface="Verdana" pitchFamily="34" charset="0"/>
            </a:endParaRP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  <p:pic>
        <p:nvPicPr>
          <p:cNvPr id="1026" name="Picture 2" descr="C:\Users\Админ\Desktop\01a933972e6411f08676d27cdd667232_1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70789" y="-4121"/>
            <a:ext cx="3921211" cy="6862121"/>
          </a:xfrm>
          <a:prstGeom prst="rect">
            <a:avLst/>
          </a:prstGeom>
          <a:noFill/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Verdana" pitchFamily="34" charset="0"/>
                <a:ea typeface="Verdana" pitchFamily="34" charset="0"/>
              </a:rPr>
              <a:t>2</a:t>
            </a:r>
            <a:endParaRPr lang="ru-RU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13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</a:t>
            </a:r>
            <a:r>
              <a:rPr lang="ru-RU" b="1" dirty="0">
                <a:latin typeface="Verdana" pitchFamily="34" charset="0"/>
                <a:ea typeface="Verdana" pitchFamily="34" charset="0"/>
              </a:rPr>
              <a:t>Статистика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>
                <a:latin typeface="Verdana" pitchFamily="34" charset="0"/>
                <a:ea typeface="Verdana" pitchFamily="34" charset="0"/>
              </a:rPr>
              <a:t>88% работников умственного труда признают, что регулярно откладывают важные задачи, связанные с работой, учебой</a:t>
            </a:r>
            <a:r>
              <a:rPr lang="en-US" dirty="0">
                <a:latin typeface="Verdana" pitchFamily="34" charset="0"/>
                <a:ea typeface="Verdana" pitchFamily="34" charset="0"/>
              </a:rPr>
              <a:t>.</a:t>
            </a:r>
            <a:r>
              <a:rPr lang="ru-RU" dirty="0">
                <a:latin typeface="Verdana" pitchFamily="34" charset="0"/>
                <a:ea typeface="Verdana" pitchFamily="34" charset="0"/>
              </a:rPr>
              <a:t>  (исследование APA, 2023)</a:t>
            </a:r>
          </a:p>
          <a:p>
            <a:pPr>
              <a:buNone/>
            </a:pPr>
            <a:endParaRPr lang="ru-RU" dirty="0">
              <a:latin typeface="Verdana" pitchFamily="34" charset="0"/>
              <a:ea typeface="Verdana" pitchFamily="34" charset="0"/>
            </a:endParaRPr>
          </a:p>
          <a:p>
            <a:r>
              <a:rPr lang="ru-RU" dirty="0">
                <a:latin typeface="Verdana" pitchFamily="34" charset="0"/>
                <a:ea typeface="Verdana" pitchFamily="34" charset="0"/>
              </a:rPr>
              <a:t>Средний работник тратит лишь 2 часа 48 минут продуктивного времени из 8-часового рабочего дня</a:t>
            </a:r>
            <a:r>
              <a:rPr lang="en-US" dirty="0">
                <a:latin typeface="Verdana" pitchFamily="34" charset="0"/>
                <a:ea typeface="Verdana" pitchFamily="34" charset="0"/>
              </a:rPr>
              <a:t>. </a:t>
            </a:r>
            <a:r>
              <a:rPr lang="ru-RU" dirty="0">
                <a:latin typeface="Verdana" pitchFamily="34" charset="0"/>
                <a:ea typeface="Verdana" pitchFamily="34" charset="0"/>
              </a:rPr>
              <a:t>(исследование </a:t>
            </a:r>
            <a:r>
              <a:rPr lang="ru-RU" dirty="0" err="1">
                <a:latin typeface="Verdana" pitchFamily="34" charset="0"/>
                <a:ea typeface="Verdana" pitchFamily="34" charset="0"/>
              </a:rPr>
              <a:t>VoucherCloud</a:t>
            </a:r>
            <a:r>
              <a:rPr lang="ru-RU" dirty="0">
                <a:latin typeface="Verdana" pitchFamily="34" charset="0"/>
                <a:ea typeface="Verdana" pitchFamily="34" charset="0"/>
              </a:rPr>
              <a:t>)</a:t>
            </a:r>
          </a:p>
          <a:p>
            <a:pPr>
              <a:buNone/>
            </a:pPr>
            <a:endParaRPr lang="ru-RU" dirty="0">
              <a:latin typeface="Verdana" pitchFamily="34" charset="0"/>
              <a:ea typeface="Verdana" pitchFamily="34" charset="0"/>
            </a:endParaRPr>
          </a:p>
          <a:p>
            <a:r>
              <a:rPr lang="ru-RU" dirty="0">
                <a:latin typeface="Verdana" pitchFamily="34" charset="0"/>
                <a:ea typeface="Verdana" pitchFamily="34" charset="0"/>
              </a:rPr>
              <a:t>61% пользователей перестают использовать приложения для </a:t>
            </a:r>
            <a:r>
              <a:rPr lang="ru-RU" dirty="0" err="1">
                <a:latin typeface="Verdana" pitchFamily="34" charset="0"/>
                <a:ea typeface="Verdana" pitchFamily="34" charset="0"/>
              </a:rPr>
              <a:t>тайм-менеджмента</a:t>
            </a:r>
            <a:r>
              <a:rPr lang="ru-RU" dirty="0">
                <a:latin typeface="Verdana" pitchFamily="34" charset="0"/>
                <a:ea typeface="Verdana" pitchFamily="34" charset="0"/>
              </a:rPr>
              <a:t> в течение первого месяца</a:t>
            </a:r>
            <a:r>
              <a:rPr lang="en-US" dirty="0">
                <a:latin typeface="Verdana" pitchFamily="34" charset="0"/>
                <a:ea typeface="Verdana" pitchFamily="34" charset="0"/>
              </a:rPr>
              <a:t>.</a:t>
            </a:r>
            <a:r>
              <a:rPr lang="ru-RU" dirty="0">
                <a:latin typeface="Verdana" pitchFamily="34" charset="0"/>
                <a:ea typeface="Verdana" pitchFamily="34" charset="0"/>
              </a:rPr>
              <a:t> (</a:t>
            </a:r>
            <a:r>
              <a:rPr lang="ru-RU" dirty="0" err="1">
                <a:latin typeface="Verdana" pitchFamily="34" charset="0"/>
                <a:ea typeface="Verdana" pitchFamily="34" charset="0"/>
              </a:rPr>
              <a:t>Localytics</a:t>
            </a:r>
            <a:r>
              <a:rPr lang="ru-RU" dirty="0">
                <a:latin typeface="Verdana" pitchFamily="34" charset="0"/>
                <a:ea typeface="Verdana" pitchFamily="34" charset="0"/>
              </a:rPr>
              <a:t>)</a:t>
            </a:r>
          </a:p>
          <a:p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Verdana" pitchFamily="34" charset="0"/>
                <a:ea typeface="Verdana" pitchFamily="34" charset="0"/>
              </a:rPr>
              <a:t>3</a:t>
            </a:r>
            <a:endParaRPr lang="ru-RU" dirty="0">
              <a:latin typeface="Verdana" pitchFamily="34" charset="0"/>
              <a:ea typeface="Verdana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</a:t>
            </a:r>
            <a:r>
              <a:rPr lang="ru-RU" b="1" dirty="0">
                <a:latin typeface="Verdana" pitchFamily="34" charset="0"/>
                <a:ea typeface="Verdana" pitchFamily="34" charset="0"/>
              </a:rPr>
              <a:t>Нормативно-правовая база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>
              <a:buNone/>
            </a:pPr>
            <a:r>
              <a:rPr lang="ru-RU" dirty="0">
                <a:latin typeface="Verdana" pitchFamily="34" charset="0"/>
                <a:ea typeface="Verdana" pitchFamily="34" charset="0"/>
              </a:rPr>
              <a:t>Платформа обеспечивает полное соответствие требованиям российского и международного законодательства:</a:t>
            </a:r>
          </a:p>
          <a:p>
            <a:pPr indent="0"/>
            <a:r>
              <a:rPr lang="ru-RU" dirty="0">
                <a:latin typeface="Verdana" pitchFamily="34" charset="0"/>
                <a:ea typeface="Verdana" pitchFamily="34" charset="0"/>
              </a:rPr>
              <a:t> Платформа будет защищать персональные данные пользователя</a:t>
            </a:r>
            <a:r>
              <a:rPr lang="en-US" dirty="0">
                <a:latin typeface="Verdana" pitchFamily="34" charset="0"/>
                <a:ea typeface="Verdana" pitchFamily="34" charset="0"/>
              </a:rPr>
              <a:t>;</a:t>
            </a:r>
            <a:endParaRPr lang="ru-RU" b="1" dirty="0">
              <a:latin typeface="Verdana" pitchFamily="34" charset="0"/>
              <a:ea typeface="Verdana" pitchFamily="34" charset="0"/>
            </a:endParaRPr>
          </a:p>
          <a:p>
            <a:pPr indent="0"/>
            <a:r>
              <a:rPr lang="ru-RU" dirty="0">
                <a:latin typeface="Verdana" pitchFamily="34" charset="0"/>
                <a:ea typeface="Verdana" pitchFamily="34" charset="0"/>
              </a:rPr>
              <a:t> Платформа будет учитывать нормы трудового права.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3486" y="373363"/>
            <a:ext cx="10515600" cy="1325563"/>
          </a:xfrm>
        </p:spPr>
        <p:txBody>
          <a:bodyPr/>
          <a:lstStyle/>
          <a:p>
            <a:r>
              <a:rPr lang="ru-RU" b="1" dirty="0">
                <a:latin typeface="Verdana" pitchFamily="34" charset="0"/>
                <a:ea typeface="Verdana" pitchFamily="34" charset="0"/>
              </a:rPr>
              <a:t>Новостная повестка из достоверных источников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65206" y="1817387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>
                <a:latin typeface="Verdana" pitchFamily="34" charset="0"/>
                <a:ea typeface="Verdana" pitchFamily="34" charset="0"/>
              </a:rPr>
              <a:t>Психотерапевт Сергей Мартынов подчеркивает, что </a:t>
            </a:r>
            <a:r>
              <a:rPr lang="ru-RU" dirty="0" err="1">
                <a:latin typeface="Verdana" pitchFamily="34" charset="0"/>
                <a:ea typeface="Verdana" pitchFamily="34" charset="0"/>
              </a:rPr>
              <a:t>прокрастинация</a:t>
            </a:r>
            <a:r>
              <a:rPr lang="ru-RU" dirty="0">
                <a:latin typeface="Verdana" pitchFamily="34" charset="0"/>
                <a:ea typeface="Verdana" pitchFamily="34" charset="0"/>
              </a:rPr>
              <a:t> вызвана не ленью, а глубинными психологическими факторами, такими как низкая самооценка и страх неудачи. Часто люди пытаются отложить важные дела, боясь несоответствия ожиданиям. Важно ставить четкие цели и анализировать свои прошлые успехи, чтобы укрепить веру в собственные силы. </a:t>
            </a:r>
          </a:p>
          <a:p>
            <a:r>
              <a:rPr lang="ru-RU" dirty="0">
                <a:latin typeface="Verdana" pitchFamily="34" charset="0"/>
                <a:ea typeface="Verdana" pitchFamily="34" charset="0"/>
              </a:rPr>
              <a:t>Клинический психолог Анастасия </a:t>
            </a:r>
            <a:r>
              <a:rPr lang="ru-RU" dirty="0" err="1">
                <a:latin typeface="Verdana" pitchFamily="34" charset="0"/>
                <a:ea typeface="Verdana" pitchFamily="34" charset="0"/>
              </a:rPr>
              <a:t>Кардиакос</a:t>
            </a:r>
            <a:r>
              <a:rPr lang="ru-RU" dirty="0">
                <a:latin typeface="Verdana" pitchFamily="34" charset="0"/>
                <a:ea typeface="Verdana" pitchFamily="34" charset="0"/>
              </a:rPr>
              <a:t> объясняет, что </a:t>
            </a:r>
            <a:r>
              <a:rPr lang="ru-RU" dirty="0" err="1">
                <a:latin typeface="Verdana" pitchFamily="34" charset="0"/>
                <a:ea typeface="Verdana" pitchFamily="34" charset="0"/>
              </a:rPr>
              <a:t>прокрастинация</a:t>
            </a:r>
            <a:r>
              <a:rPr lang="ru-RU" dirty="0">
                <a:latin typeface="Verdana" pitchFamily="34" charset="0"/>
                <a:ea typeface="Verdana" pitchFamily="34" charset="0"/>
              </a:rPr>
              <a:t> не связана исключительно с леностью, а обусловлена желанием избежать неприятных ощущений. Люди предпочитают заниматься простыми и приятными делами, избегая сложных и напряжённых задач. Она выделяет категорию лиц, подверженных частым проявлениям прокрастинации: перфекционисты, тревожные индивиды и лица с низким уровнем самоконтроля. </a:t>
            </a:r>
          </a:p>
          <a:p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Verdana" pitchFamily="34" charset="0"/>
                <a:ea typeface="Verdana" pitchFamily="34" charset="0"/>
              </a:rPr>
              <a:t>5</a:t>
            </a:r>
            <a:endParaRPr lang="ru-RU" dirty="0">
              <a:latin typeface="Verdana" pitchFamily="34" charset="0"/>
              <a:ea typeface="Verdana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Мы провели опрос – и вот что выяснили:</a:t>
            </a:r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7277509"/>
              </p:ext>
            </p:extLst>
          </p:nvPr>
        </p:nvGraphicFramePr>
        <p:xfrm>
          <a:off x="5396832" y="794760"/>
          <a:ext cx="5917800" cy="46574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Из 441 опрошенного человека оказалось, что:</a:t>
            </a:r>
            <a:endParaRPr lang="en-US" sz="1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500" b="1" dirty="0">
                <a:latin typeface="Verdana" panose="020B0604030504040204" pitchFamily="34" charset="0"/>
                <a:ea typeface="Verdana" panose="020B0604030504040204" pitchFamily="34" charset="0"/>
              </a:rPr>
              <a:t>-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500" b="1" dirty="0">
                <a:latin typeface="Verdana" panose="020B0604030504040204" pitchFamily="34" charset="0"/>
                <a:ea typeface="Verdana" panose="020B0604030504040204" pitchFamily="34" charset="0"/>
              </a:rPr>
              <a:t>69%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 респондентов регулярно откладывают важные задачи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  <a:endParaRPr lang="ru-RU" sz="1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1500" b="1" dirty="0">
                <a:latin typeface="Verdana" panose="020B0604030504040204" pitchFamily="34" charset="0"/>
                <a:ea typeface="Verdana" panose="020B0604030504040204" pitchFamily="34" charset="0"/>
              </a:rPr>
              <a:t>- 84%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 признались, что чаще всего откладывают рабочие и учебные задачи</a:t>
            </a:r>
          </a:p>
          <a:p>
            <a:r>
              <a:rPr lang="ru-RU" sz="1500" b="1" dirty="0">
                <a:latin typeface="Verdana" panose="020B0604030504040204" pitchFamily="34" charset="0"/>
                <a:ea typeface="Verdana" panose="020B0604030504040204" pitchFamily="34" charset="0"/>
              </a:rPr>
              <a:t>- 82%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 даже испытывают чувство вины или раздражения, но всё равно не могут остановиться.</a:t>
            </a:r>
          </a:p>
          <a:p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Почему так происходит? Как выглядит этот порочный цикл? Взгляните на график справа — он наглядно показывает, насколько часто уходит наше время</a:t>
            </a:r>
          </a:p>
        </p:txBody>
      </p:sp>
    </p:spTree>
    <p:extLst>
      <p:ext uri="{BB962C8B-B14F-4D97-AF65-F5344CB8AC3E}">
        <p14:creationId xmlns:p14="http://schemas.microsoft.com/office/powerpoint/2010/main" val="3781337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6438" y="237515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Verdana" pitchFamily="34" charset="0"/>
                <a:ea typeface="Verdana" pitchFamily="34" charset="0"/>
              </a:rPr>
              <a:t>Цели и задачи проекта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32112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https://masterpiecer-images.s3.yandex.net/9980fa4c2e6a11f0a58bc2def8ce92ba: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62551" y="-18536"/>
            <a:ext cx="3929449" cy="6876536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8552" y="481666"/>
            <a:ext cx="5842686" cy="1414248"/>
          </a:xfrm>
        </p:spPr>
        <p:txBody>
          <a:bodyPr>
            <a:noAutofit/>
          </a:bodyPr>
          <a:lstStyle/>
          <a:p>
            <a:pPr algn="ctr"/>
            <a:r>
              <a:rPr lang="ru-RU" sz="3000" b="1" dirty="0">
                <a:latin typeface="Verdana" pitchFamily="34" charset="0"/>
                <a:ea typeface="Verdana" pitchFamily="34" charset="0"/>
              </a:rPr>
              <a:t>Формирование полезных привычек</a:t>
            </a:r>
            <a:r>
              <a:rPr lang="en-US" sz="3000" b="1" dirty="0">
                <a:latin typeface="Verdana" pitchFamily="34" charset="0"/>
                <a:ea typeface="Verdana" pitchFamily="34" charset="0"/>
              </a:rPr>
              <a:t> </a:t>
            </a:r>
            <a:r>
              <a:rPr lang="ru-RU" sz="3000" b="1" dirty="0">
                <a:latin typeface="Verdana" pitchFamily="34" charset="0"/>
                <a:ea typeface="Verdana" pitchFamily="34" charset="0"/>
              </a:rPr>
              <a:t>и повышение личной продуктивности</a:t>
            </a:r>
            <a:br>
              <a:rPr lang="ru-RU" sz="3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3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43753" y="1888378"/>
            <a:ext cx="6987988" cy="4817222"/>
          </a:xfrm>
        </p:spPr>
        <p:txBody>
          <a:bodyPr/>
          <a:lstStyle/>
          <a:p>
            <a:pPr indent="0">
              <a:buNone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Приложение должно помогать пользователям бороться с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прокрастинацией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: формировать здоровые привычки (регулярные занятия, контроль времени за гаджетами), повышать концентрацию внимания и дисциплину за счёт системы напоминаний, трекинга прогресса и мотивационных инструментов.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https://masterpiecer-images.s3.yandex.net/ebd7faf72e6911f0bb5452aa4dba7032: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73145" y="0"/>
            <a:ext cx="3918856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11644"/>
            <a:ext cx="7218406" cy="1471913"/>
          </a:xfrm>
        </p:spPr>
        <p:txBody>
          <a:bodyPr>
            <a:normAutofit/>
          </a:bodyPr>
          <a:lstStyle/>
          <a:p>
            <a:pPr algn="ctr"/>
            <a:r>
              <a:rPr lang="ru-RU" sz="3000" b="1" dirty="0">
                <a:latin typeface="Verdana" panose="020B0604030504040204" pitchFamily="34" charset="0"/>
                <a:ea typeface="Verdana" panose="020B0604030504040204" pitchFamily="34" charset="0"/>
              </a:rPr>
              <a:t>Улучшение эмоционального благополучия</a:t>
            </a:r>
            <a:br>
              <a:rPr lang="ru-RU" sz="30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3356" y="1939500"/>
            <a:ext cx="7325256" cy="4452335"/>
          </a:xfrm>
        </p:spPr>
        <p:txBody>
          <a:bodyPr>
            <a:normAutofit/>
          </a:bodyPr>
          <a:lstStyle/>
          <a:p>
            <a:pPr indent="0">
              <a:buNone/>
            </a:pPr>
            <a:r>
              <a:rPr lang="ru-RU" dirty="0">
                <a:latin typeface="Verdana" pitchFamily="34" charset="0"/>
                <a:ea typeface="Verdana" pitchFamily="34" charset="0"/>
              </a:rPr>
              <a:t>Многие пользователи сталкиваясь с </a:t>
            </a:r>
            <a:r>
              <a:rPr lang="ru-RU" dirty="0" err="1">
                <a:latin typeface="Verdana" pitchFamily="34" charset="0"/>
                <a:ea typeface="Verdana" pitchFamily="34" charset="0"/>
              </a:rPr>
              <a:t>прокрастинацией</a:t>
            </a:r>
            <a:r>
              <a:rPr lang="ru-RU" dirty="0">
                <a:latin typeface="Verdana" pitchFamily="34" charset="0"/>
                <a:ea typeface="Verdana" pitchFamily="34" charset="0"/>
              </a:rPr>
              <a:t> переживают негативные эмоции: стресс, беспокойство, вина. Цель приложения — снизить интенсивность этих переживаний, создавая комфортные условия для выполнения задач.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0258" y="175656"/>
            <a:ext cx="10505303" cy="1101210"/>
          </a:xfrm>
        </p:spPr>
        <p:txBody>
          <a:bodyPr>
            <a:normAutofit/>
          </a:bodyPr>
          <a:lstStyle/>
          <a:p>
            <a:r>
              <a:rPr lang="en-US" b="1" dirty="0">
                <a:latin typeface="Verdana" pitchFamily="34" charset="0"/>
                <a:ea typeface="Verdana" pitchFamily="34" charset="0"/>
              </a:rPr>
              <a:t>SWOT</a:t>
            </a:r>
            <a:r>
              <a:rPr lang="ru-RU" b="1" dirty="0">
                <a:latin typeface="Verdana" pitchFamily="34" charset="0"/>
                <a:ea typeface="Verdana" pitchFamily="34" charset="0"/>
              </a:rPr>
              <a:t>-анализ проекта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5076434"/>
              </p:ext>
            </p:extLst>
          </p:nvPr>
        </p:nvGraphicFramePr>
        <p:xfrm>
          <a:off x="840258" y="1352503"/>
          <a:ext cx="10578982" cy="49290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9491">
                  <a:extLst>
                    <a:ext uri="{9D8B030D-6E8A-4147-A177-3AD203B41FA5}">
                      <a16:colId xmlns:a16="http://schemas.microsoft.com/office/drawing/2014/main" val="1033774952"/>
                    </a:ext>
                  </a:extLst>
                </a:gridCol>
                <a:gridCol w="5289491">
                  <a:extLst>
                    <a:ext uri="{9D8B030D-6E8A-4147-A177-3AD203B41FA5}">
                      <a16:colId xmlns:a16="http://schemas.microsoft.com/office/drawing/2014/main" val="1941180716"/>
                    </a:ext>
                  </a:extLst>
                </a:gridCol>
              </a:tblGrid>
              <a:tr h="2368773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Verdana" pitchFamily="34" charset="0"/>
                          <a:ea typeface="Verdana" pitchFamily="34" charset="0"/>
                        </a:rPr>
                        <a:t>Сильные стороны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Большая потенциальная аудитория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;</a:t>
                      </a:r>
                      <a:endParaRPr lang="ru-RU" sz="1800" b="0" i="0" kern="120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Комплексный подход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;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Персонализация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;</a:t>
                      </a:r>
                      <a:endParaRPr lang="en-US" sz="1800" b="1" i="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Социальная поддержка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.</a:t>
                      </a:r>
                      <a:endParaRPr lang="ru-RU" b="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Verdana" pitchFamily="34" charset="0"/>
                          <a:ea typeface="Verdana" pitchFamily="34" charset="0"/>
                        </a:rPr>
                        <a:t>Слабые стороны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Сложность привлечения первых пользователей и удержания пользователей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;</a:t>
                      </a:r>
                      <a:endParaRPr lang="ru-RU" sz="1800" b="0" i="0" kern="120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Зависимость</a:t>
                      </a:r>
                      <a:r>
                        <a:rPr lang="ru-RU" sz="1800" b="0" i="0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 от самодисциплины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;</a:t>
                      </a:r>
                      <a:endParaRPr lang="ru-RU" sz="1800" b="0" i="0" kern="120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Риск</a:t>
                      </a:r>
                      <a:r>
                        <a:rPr lang="ru-RU" sz="1800" b="0" i="0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 «парадокса </a:t>
                      </a:r>
                      <a:r>
                        <a:rPr lang="ru-RU" sz="1800" b="0" i="0" kern="1200" baseline="0" dirty="0" err="1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прокрастинации</a:t>
                      </a:r>
                      <a:r>
                        <a:rPr lang="ru-RU" sz="1800" b="0" i="0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»</a:t>
                      </a:r>
                      <a:r>
                        <a:rPr lang="en-US" sz="1800" b="0" i="0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;</a:t>
                      </a:r>
                      <a:endParaRPr lang="ru-RU" sz="1800" b="0" i="0" kern="120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Ограниченность для сложных</a:t>
                      </a:r>
                      <a:r>
                        <a:rPr lang="ru-RU" sz="1800" b="0" i="0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 случаев</a:t>
                      </a:r>
                      <a:r>
                        <a:rPr lang="en-US" sz="1800" b="0" i="0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.</a:t>
                      </a:r>
                      <a:endParaRPr lang="ru-RU" sz="1800" b="0" i="0" kern="120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+mn-cs"/>
                      </a:endParaRPr>
                    </a:p>
                    <a:p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762732"/>
                  </a:ext>
                </a:extLst>
              </a:tr>
              <a:tr h="2368773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Verdana" pitchFamily="34" charset="0"/>
                          <a:ea typeface="Verdana" pitchFamily="34" charset="0"/>
                        </a:rPr>
                        <a:t>Возможности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Тайм-менеджмент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;</a:t>
                      </a:r>
                      <a:r>
                        <a:rPr lang="ru-RU" sz="1800" b="0" i="0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 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sz="1800" b="0" i="0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Система трекинга привычек</a:t>
                      </a:r>
                      <a:r>
                        <a:rPr lang="en-US" sz="1800" b="0" i="0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;</a:t>
                      </a:r>
                      <a:r>
                        <a:rPr lang="ru-RU" sz="1800" b="0" i="0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 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sz="1800" b="0" i="0" kern="1200" baseline="0" dirty="0" err="1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Геймификация</a:t>
                      </a:r>
                      <a:r>
                        <a:rPr lang="ru-RU" sz="1800" b="0" i="0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 продуктивности</a:t>
                      </a:r>
                      <a:r>
                        <a:rPr lang="en-US" sz="1800" b="0" i="0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;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Применение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AI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-решений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Verdana" pitchFamily="34" charset="0"/>
                          <a:ea typeface="Verdana" pitchFamily="34" charset="0"/>
                        </a:rPr>
                        <a:t>Угрозы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Жесткая</a:t>
                      </a:r>
                      <a:r>
                        <a:rPr lang="ru-RU" sz="1800" b="0" i="0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 конкуренция с «</a:t>
                      </a:r>
                      <a:r>
                        <a:rPr lang="ru-RU" sz="1800" b="0" i="0" kern="1200" baseline="0" dirty="0" err="1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дофаминовыми</a:t>
                      </a:r>
                      <a:r>
                        <a:rPr lang="ru-RU" sz="1800" b="0" i="0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» сервисами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;</a:t>
                      </a:r>
                      <a:endParaRPr lang="ru-RU" sz="1800" b="0" i="0" kern="120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Культурная</a:t>
                      </a:r>
                      <a:r>
                        <a:rPr lang="ru-RU" sz="1800" b="0" i="0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 нормализация </a:t>
                      </a:r>
                      <a:r>
                        <a:rPr lang="ru-RU" sz="1800" b="0" i="0" kern="1200" baseline="0" dirty="0" err="1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прокрастинации</a:t>
                      </a:r>
                      <a:r>
                        <a:rPr lang="en-US" sz="1800" b="0" i="0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;</a:t>
                      </a:r>
                      <a:endParaRPr lang="ru-RU" sz="1800" b="0" i="0" kern="1200" baseline="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sz="1800" b="0" i="0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Подмена реальной эффективности</a:t>
                      </a:r>
                      <a:r>
                        <a:rPr lang="en-US" sz="1800" b="0" i="0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;</a:t>
                      </a:r>
                      <a:endParaRPr lang="ru-RU" sz="1800" b="0" i="0" kern="1200" baseline="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sz="1800" b="0" i="0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Технические ограничения платформ</a:t>
                      </a:r>
                      <a:r>
                        <a:rPr lang="en-US" sz="1800" b="0" i="0" kern="1200" baseline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.</a:t>
                      </a:r>
                      <a:endParaRPr lang="ru-RU" sz="1800" b="0" i="0" kern="120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None/>
                      </a:pPr>
                      <a:endParaRPr lang="ru-RU" sz="1800" b="0" i="0" kern="120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+mn-cs"/>
                      </a:endParaRPr>
                    </a:p>
                    <a:p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518348"/>
                  </a:ext>
                </a:extLst>
              </a:tr>
            </a:tbl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765882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0271" y="562349"/>
            <a:ext cx="10515600" cy="686008"/>
          </a:xfrm>
        </p:spPr>
        <p:txBody>
          <a:bodyPr>
            <a:noAutofit/>
          </a:bodyPr>
          <a:lstStyle/>
          <a:p>
            <a:r>
              <a:rPr lang="ru-RU" b="1" dirty="0">
                <a:latin typeface="Verdana" pitchFamily="34" charset="0"/>
                <a:ea typeface="Verdana" pitchFamily="34" charset="0"/>
              </a:rPr>
              <a:t>Заинтересованные стороны и конкуренты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>
                <a:latin typeface="Verdana" pitchFamily="34" charset="0"/>
                <a:ea typeface="Verdana" pitchFamily="34" charset="0"/>
              </a:rPr>
              <a:t>Основная целевая группа — люди, страдающие от </a:t>
            </a:r>
            <a:r>
              <a:rPr lang="ru-RU" sz="2400" dirty="0" err="1">
                <a:latin typeface="Verdana" pitchFamily="34" charset="0"/>
                <a:ea typeface="Verdana" pitchFamily="34" charset="0"/>
              </a:rPr>
              <a:t>прокрастинации</a:t>
            </a:r>
            <a:r>
              <a:rPr lang="ru-RU" sz="2400" dirty="0">
                <a:latin typeface="Verdana" pitchFamily="34" charset="0"/>
                <a:ea typeface="Verdana" pitchFamily="34" charset="0"/>
              </a:rPr>
              <a:t>, стремящиеся повысить свою продуктивность и научиться эффективно распоряжаться личным временем.</a:t>
            </a:r>
          </a:p>
          <a:p>
            <a:r>
              <a:rPr lang="ru-RU" sz="2400" dirty="0">
                <a:latin typeface="Verdana" pitchFamily="34" charset="0"/>
                <a:ea typeface="Verdana" pitchFamily="34" charset="0"/>
              </a:rPr>
              <a:t>Преимущества которые мы хотим внедрить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:</a:t>
            </a:r>
          </a:p>
          <a:p>
            <a:pPr>
              <a:buFont typeface="Courier New" pitchFamily="49" charset="0"/>
              <a:buChar char="o"/>
            </a:pPr>
            <a:r>
              <a:rPr lang="ru-RU" sz="2400" dirty="0">
                <a:latin typeface="Verdana" pitchFamily="34" charset="0"/>
                <a:ea typeface="Verdana" pitchFamily="34" charset="0"/>
              </a:rPr>
              <a:t>Системные ограничения при нарушении </a:t>
            </a:r>
            <a:r>
              <a:rPr lang="ru-RU" sz="2400" dirty="0" err="1">
                <a:latin typeface="Verdana" pitchFamily="34" charset="0"/>
                <a:ea typeface="Verdana" pitchFamily="34" charset="0"/>
              </a:rPr>
              <a:t>дедлайна</a:t>
            </a:r>
            <a:r>
              <a:rPr lang="ru-RU" sz="2400" dirty="0">
                <a:latin typeface="Verdana" pitchFamily="34" charset="0"/>
                <a:ea typeface="Verdana" pitchFamily="34" charset="0"/>
              </a:rPr>
              <a:t> и невыполнения поставленных пользователем задач.</a:t>
            </a:r>
          </a:p>
          <a:p>
            <a:pPr>
              <a:buFont typeface="Courier New" pitchFamily="49" charset="0"/>
              <a:buChar char="o"/>
            </a:pPr>
            <a:r>
              <a:rPr lang="ru-RU" sz="2400" dirty="0">
                <a:latin typeface="Verdana" pitchFamily="34" charset="0"/>
                <a:ea typeface="Verdana" pitchFamily="34" charset="0"/>
              </a:rPr>
              <a:t>Внедрение персональных рекомендаций по вычленению и удалению </a:t>
            </a:r>
            <a:r>
              <a:rPr lang="ru-RU" sz="2400" dirty="0" err="1">
                <a:latin typeface="Verdana" pitchFamily="34" charset="0"/>
                <a:ea typeface="Verdana" pitchFamily="34" charset="0"/>
              </a:rPr>
              <a:t>прокрастинации</a:t>
            </a:r>
            <a:r>
              <a:rPr lang="ru-RU" sz="2400" dirty="0">
                <a:latin typeface="Verdana" pitchFamily="34" charset="0"/>
                <a:ea typeface="Verdana" pitchFamily="34" charset="0"/>
              </a:rPr>
              <a:t> из жизни человека.</a:t>
            </a:r>
          </a:p>
          <a:p>
            <a:pPr fontAlgn="base"/>
            <a:r>
              <a:rPr lang="ru-RU" sz="2400" dirty="0">
                <a:latin typeface="Verdana" pitchFamily="34" charset="0"/>
                <a:ea typeface="Verdana" pitchFamily="34" charset="0"/>
              </a:rPr>
              <a:t>Приложения конкуренты 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Google Calendar, Microsoft Outlook, Apple Reminders.</a:t>
            </a:r>
          </a:p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ru-R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33587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2920"/>
          </a:xfrm>
        </p:spPr>
        <p:txBody>
          <a:bodyPr>
            <a:normAutofit/>
          </a:bodyPr>
          <a:lstStyle/>
          <a:p>
            <a:r>
              <a:rPr lang="ru-RU" b="1" dirty="0">
                <a:latin typeface="Verdana" pitchFamily="34" charset="0"/>
                <a:ea typeface="Verdana" pitchFamily="34" charset="0"/>
              </a:rPr>
              <a:t>Этапы выполнения проекта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1724" y="148787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1.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Анализ проблемы и исследование аудитории</a:t>
            </a: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Провести опросы среди потенциальных пользователей, чтобы выявить ключевые причины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прокрастинации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Изучить конкурентов (аналогичные приложения) и их слабые места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Определить целевую аудиторию (студенты,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фрилансеры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, офисные работники и т. д.)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None/>
            </a:pPr>
            <a:endParaRPr lang="ru-RU" b="1" i="1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ru-RU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15461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0997" y="80922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Проектирование функционала и UX/UI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ru-RU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Разработать структуру приложения (основные экраны, логика работы)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Определить ключевые функции (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Pomodoro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-таймер, блокировка отвлекающих сайтов,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трекер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 привычек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AI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 технологии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Создать прототипы интерфейса и провести тестирование на удобство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ru-RU" dirty="0"/>
              <a:t>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11306" y="63331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3. Разработка MVP (минимально жизнеспособного продукта)</a:t>
            </a: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Реализовать базовые функции (учет времени, уведомления, простой трекинг)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Запустить закрытое тестирование на небольшой группе пользователей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Собрать обратную связь и доработать приложение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ru-RU" dirty="0"/>
              <a:t>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38200" y="9194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4. Расширение функционала и </a:t>
            </a:r>
            <a:r>
              <a:rPr lang="ru-RU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геймификация</a:t>
            </a:r>
            <a:endParaRPr lang="ru-RU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Добавить мотивационные элементы (достижения, уровни, соревнования)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Внедрить персонализацию (анализ поведения, рекомендации)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Оптимизировать работу приложения (ускорение, исправление багов)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ru-RU" dirty="0"/>
              <a:t>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9962" y="129840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5. Публичный запуск и маркетинг</a:t>
            </a: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Разработать стратегию продвижения (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таргет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, контент-маркетинг,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коллаборации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Запустить приложение в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App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Store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 /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Google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Play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Настроить аналитику (удержание пользователей, активность, конверсии)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ru-RU" dirty="0"/>
              <a:t>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69833" y="107359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6. Постоянное развитие и масштабирование</a:t>
            </a: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Регулярно обновлять приложение на основе отзывов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Добавлять новые функции (интеграции, AI-помощник,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комьюнити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Рассмотреть монетизацию (подписки, премиум-функции, партнерства)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BD42BC6-7C88-41DA-9B5E-F06CF25B4E59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ru-RU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90412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atin typeface="Verdana" pitchFamily="34" charset="0"/>
                <a:ea typeface="Verdana" pitchFamily="34" charset="0"/>
              </a:rPr>
              <a:t>Ресурсы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b="1" dirty="0"/>
              <a:t>1</a:t>
            </a:r>
            <a:r>
              <a:rPr lang="ru-RU" b="1" dirty="0">
                <a:latin typeface="Verdana" pitchFamily="34" charset="0"/>
                <a:ea typeface="Verdana" pitchFamily="34" charset="0"/>
              </a:rPr>
              <a:t>. Материальные ресурсы</a:t>
            </a:r>
            <a:endParaRPr lang="ru-RU" b="1" i="1" dirty="0">
              <a:latin typeface="Verdana" pitchFamily="34" charset="0"/>
              <a:ea typeface="Verdana" pitchFamily="34" charset="0"/>
            </a:endParaRPr>
          </a:p>
          <a:p>
            <a:pPr lvl="0"/>
            <a:r>
              <a:rPr lang="ru-RU" dirty="0">
                <a:latin typeface="Verdana" pitchFamily="34" charset="0"/>
                <a:ea typeface="Verdana" pitchFamily="34" charset="0"/>
              </a:rPr>
              <a:t>Финансы</a:t>
            </a:r>
            <a:r>
              <a:rPr lang="en-US" dirty="0">
                <a:latin typeface="Verdana" pitchFamily="34" charset="0"/>
                <a:ea typeface="Verdana" pitchFamily="34" charset="0"/>
              </a:rPr>
              <a:t>;</a:t>
            </a:r>
            <a:endParaRPr lang="ru-RU" dirty="0">
              <a:latin typeface="Verdana" pitchFamily="34" charset="0"/>
              <a:ea typeface="Verdana" pitchFamily="34" charset="0"/>
            </a:endParaRPr>
          </a:p>
          <a:p>
            <a:pPr lvl="0"/>
            <a:r>
              <a:rPr lang="ru-RU" dirty="0">
                <a:latin typeface="Verdana" pitchFamily="34" charset="0"/>
                <a:ea typeface="Verdana" pitchFamily="34" charset="0"/>
              </a:rPr>
              <a:t>Оборудование и технологии</a:t>
            </a:r>
            <a:r>
              <a:rPr lang="en-US" dirty="0">
                <a:latin typeface="Verdana" pitchFamily="34" charset="0"/>
                <a:ea typeface="Verdana" pitchFamily="34" charset="0"/>
              </a:rPr>
              <a:t>.</a:t>
            </a:r>
            <a:endParaRPr lang="ru-RU" dirty="0">
              <a:latin typeface="Verdana" pitchFamily="34" charset="0"/>
              <a:ea typeface="Verdana" pitchFamily="34" charset="0"/>
            </a:endParaRPr>
          </a:p>
          <a:p>
            <a:pPr lvl="0">
              <a:buNone/>
            </a:pPr>
            <a:r>
              <a:rPr lang="ru-RU" b="1" dirty="0">
                <a:latin typeface="Verdana" pitchFamily="34" charset="0"/>
                <a:ea typeface="Verdana" pitchFamily="34" charset="0"/>
              </a:rPr>
              <a:t>2. Человеческие ресурсы</a:t>
            </a:r>
            <a:endParaRPr lang="ru-RU" b="1" i="1" dirty="0">
              <a:latin typeface="Verdana" pitchFamily="34" charset="0"/>
              <a:ea typeface="Verdana" pitchFamily="34" charset="0"/>
            </a:endParaRPr>
          </a:p>
          <a:p>
            <a:pPr lvl="0"/>
            <a:r>
              <a:rPr lang="ru-RU" dirty="0">
                <a:latin typeface="Verdana" pitchFamily="34" charset="0"/>
                <a:ea typeface="Verdana" pitchFamily="34" charset="0"/>
              </a:rPr>
              <a:t>Команда</a:t>
            </a:r>
            <a:r>
              <a:rPr lang="en-US" dirty="0">
                <a:latin typeface="Verdana" pitchFamily="34" charset="0"/>
                <a:ea typeface="Verdana" pitchFamily="34" charset="0"/>
              </a:rPr>
              <a:t>;</a:t>
            </a:r>
            <a:endParaRPr lang="ru-RU" dirty="0">
              <a:latin typeface="Verdana" pitchFamily="34" charset="0"/>
              <a:ea typeface="Verdana" pitchFamily="34" charset="0"/>
            </a:endParaRPr>
          </a:p>
          <a:p>
            <a:pPr lvl="0"/>
            <a:r>
              <a:rPr lang="ru-RU" dirty="0">
                <a:latin typeface="Verdana" pitchFamily="34" charset="0"/>
                <a:ea typeface="Verdana" pitchFamily="34" charset="0"/>
              </a:rPr>
              <a:t>Наставники и менторы</a:t>
            </a:r>
            <a:r>
              <a:rPr lang="en-US" dirty="0">
                <a:latin typeface="Verdana" pitchFamily="34" charset="0"/>
                <a:ea typeface="Verdana" pitchFamily="34" charset="0"/>
              </a:rPr>
              <a:t>;</a:t>
            </a:r>
            <a:endParaRPr lang="ru-RU" dirty="0">
              <a:latin typeface="Verdana" pitchFamily="34" charset="0"/>
              <a:ea typeface="Verdana" pitchFamily="34" charset="0"/>
            </a:endParaRPr>
          </a:p>
          <a:p>
            <a:pPr lvl="0"/>
            <a:r>
              <a:rPr lang="ru-RU" dirty="0">
                <a:latin typeface="Verdana" pitchFamily="34" charset="0"/>
                <a:ea typeface="Verdana" pitchFamily="34" charset="0"/>
              </a:rPr>
              <a:t>Сети контактов</a:t>
            </a:r>
            <a:r>
              <a:rPr lang="en-US" b="1" dirty="0">
                <a:latin typeface="Verdana" pitchFamily="34" charset="0"/>
                <a:ea typeface="Verdana" pitchFamily="34" charset="0"/>
              </a:rPr>
              <a:t>.</a:t>
            </a:r>
            <a:endParaRPr lang="ru-RU" b="1" i="1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ru-RU" b="1" dirty="0">
                <a:latin typeface="Verdana" pitchFamily="34" charset="0"/>
                <a:ea typeface="Verdana" pitchFamily="34" charset="0"/>
              </a:rPr>
              <a:t>3</a:t>
            </a:r>
            <a:r>
              <a:rPr lang="ru-RU" b="1" i="1" dirty="0">
                <a:latin typeface="Verdana" pitchFamily="34" charset="0"/>
                <a:ea typeface="Verdana" pitchFamily="34" charset="0"/>
              </a:rPr>
              <a:t>. </a:t>
            </a:r>
            <a:r>
              <a:rPr lang="ru-RU" b="1" dirty="0">
                <a:latin typeface="Verdana" pitchFamily="34" charset="0"/>
                <a:ea typeface="Verdana" pitchFamily="34" charset="0"/>
              </a:rPr>
              <a:t>Нематериальные ресурсы</a:t>
            </a:r>
            <a:endParaRPr lang="ru-RU" b="1" i="1" dirty="0">
              <a:latin typeface="Verdana" pitchFamily="34" charset="0"/>
              <a:ea typeface="Verdana" pitchFamily="34" charset="0"/>
            </a:endParaRPr>
          </a:p>
          <a:p>
            <a:pPr lvl="0"/>
            <a:r>
              <a:rPr lang="ru-RU" dirty="0">
                <a:latin typeface="Verdana" pitchFamily="34" charset="0"/>
                <a:ea typeface="Verdana" pitchFamily="34" charset="0"/>
              </a:rPr>
              <a:t>Знания и экспертиза:</a:t>
            </a:r>
          </a:p>
          <a:p>
            <a:pPr lvl="0"/>
            <a:r>
              <a:rPr lang="ru-RU" dirty="0">
                <a:latin typeface="Verdana" pitchFamily="34" charset="0"/>
                <a:ea typeface="Verdana" pitchFamily="34" charset="0"/>
              </a:rPr>
              <a:t>Интеллектуальная собственность</a:t>
            </a:r>
            <a:r>
              <a:rPr lang="en-US" dirty="0">
                <a:latin typeface="Verdana" pitchFamily="34" charset="0"/>
                <a:ea typeface="Verdana" pitchFamily="34" charset="0"/>
              </a:rPr>
              <a:t>;</a:t>
            </a:r>
            <a:endParaRPr lang="ru-RU" dirty="0">
              <a:latin typeface="Verdana" pitchFamily="34" charset="0"/>
              <a:ea typeface="Verdana" pitchFamily="34" charset="0"/>
            </a:endParaRPr>
          </a:p>
          <a:p>
            <a:pPr lvl="0"/>
            <a:r>
              <a:rPr lang="ru-RU" dirty="0">
                <a:latin typeface="Verdana" pitchFamily="34" charset="0"/>
                <a:ea typeface="Verdana" pitchFamily="34" charset="0"/>
              </a:rPr>
              <a:t>Данные</a:t>
            </a:r>
            <a:r>
              <a:rPr lang="en-US" dirty="0">
                <a:latin typeface="Verdana" pitchFamily="34" charset="0"/>
                <a:ea typeface="Verdana" pitchFamily="34" charset="0"/>
              </a:rPr>
              <a:t>.</a:t>
            </a:r>
            <a:endParaRPr lang="ru-RU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047517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75673"/>
            <a:ext cx="10515600" cy="797103"/>
          </a:xfrm>
        </p:spPr>
        <p:txBody>
          <a:bodyPr>
            <a:normAutofit/>
          </a:bodyPr>
          <a:lstStyle/>
          <a:p>
            <a:r>
              <a:rPr lang="ru-RU" b="1" dirty="0">
                <a:latin typeface="Verdana" pitchFamily="34" charset="0"/>
                <a:ea typeface="Verdana" pitchFamily="34" charset="0"/>
              </a:rPr>
              <a:t>Команда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8809" y="1072776"/>
            <a:ext cx="10515600" cy="5195006"/>
          </a:xfrm>
        </p:spPr>
        <p:txBody>
          <a:bodyPr>
            <a:normAutofit fontScale="85000" lnSpcReduction="10000"/>
          </a:bodyPr>
          <a:lstStyle/>
          <a:p>
            <a:r>
              <a:rPr lang="ru-RU" dirty="0">
                <a:latin typeface="Verdana" pitchFamily="34" charset="0"/>
                <a:ea typeface="Verdana" pitchFamily="34" charset="0"/>
              </a:rPr>
              <a:t>Танцерев Андрей – координация команды, постановка целей, отслеживание прогресса, мотивация, подготовка текста.</a:t>
            </a:r>
          </a:p>
          <a:p>
            <a:r>
              <a:rPr lang="ru-RU" dirty="0" err="1">
                <a:latin typeface="Verdana" pitchFamily="34" charset="0"/>
                <a:ea typeface="Verdana" pitchFamily="34" charset="0"/>
              </a:rPr>
              <a:t>Палкин</a:t>
            </a:r>
            <a:r>
              <a:rPr lang="ru-RU" dirty="0">
                <a:latin typeface="Verdana" pitchFamily="34" charset="0"/>
                <a:ea typeface="Verdana" pitchFamily="34" charset="0"/>
              </a:rPr>
              <a:t> Егор – </a:t>
            </a:r>
            <a:r>
              <a:rPr lang="en-US" dirty="0">
                <a:latin typeface="Verdana" pitchFamily="34" charset="0"/>
                <a:ea typeface="Verdana" pitchFamily="34" charset="0"/>
              </a:rPr>
              <a:t>SWOT-</a:t>
            </a:r>
            <a:r>
              <a:rPr lang="ru-RU" dirty="0">
                <a:latin typeface="Verdana" pitchFamily="34" charset="0"/>
                <a:ea typeface="Verdana" pitchFamily="34" charset="0"/>
              </a:rPr>
              <a:t>анализ, формулирование целей и задач проекта, определение целевой аудитории. </a:t>
            </a:r>
          </a:p>
          <a:p>
            <a:r>
              <a:rPr lang="ru-RU" dirty="0">
                <a:latin typeface="Verdana" pitchFamily="34" charset="0"/>
                <a:ea typeface="Verdana" pitchFamily="34" charset="0"/>
              </a:rPr>
              <a:t>Хитров Георгий – проработка вопрос актуальности, оценку необходимых ресурсов и планирование этапов выполнения.</a:t>
            </a:r>
          </a:p>
          <a:p>
            <a:r>
              <a:rPr lang="ru-RU" dirty="0">
                <a:latin typeface="Verdana" pitchFamily="34" charset="0"/>
                <a:ea typeface="Verdana" pitchFamily="34" charset="0"/>
              </a:rPr>
              <a:t>Иван Корнев – занимался созданием презентации, анализом и редактированием данных.</a:t>
            </a:r>
          </a:p>
          <a:p>
            <a:r>
              <a:rPr lang="ru-RU" dirty="0">
                <a:latin typeface="Verdana" pitchFamily="34" charset="0"/>
                <a:ea typeface="Verdana" pitchFamily="34" charset="0"/>
              </a:rPr>
              <a:t>Корженевский Макар совместно с </a:t>
            </a:r>
            <a:r>
              <a:rPr lang="ru-RU" dirty="0" err="1">
                <a:latin typeface="Verdana" pitchFamily="34" charset="0"/>
                <a:ea typeface="Verdana" pitchFamily="34" charset="0"/>
              </a:rPr>
              <a:t>Ряшинцевым</a:t>
            </a:r>
            <a:r>
              <a:rPr lang="ru-RU" dirty="0">
                <a:latin typeface="Verdana" pitchFamily="34" charset="0"/>
                <a:ea typeface="Verdana" pitchFamily="34" charset="0"/>
              </a:rPr>
              <a:t> Владимиром занимались разработкой и развитием идеи проекта, продумывая варианты реализации и технические решения приложения</a:t>
            </a:r>
          </a:p>
          <a:p>
            <a:r>
              <a:rPr lang="ru-RU" dirty="0" err="1">
                <a:latin typeface="Verdana" pitchFamily="34" charset="0"/>
                <a:ea typeface="Verdana" pitchFamily="34" charset="0"/>
              </a:rPr>
              <a:t>Змейкова</a:t>
            </a:r>
            <a:r>
              <a:rPr lang="ru-RU" dirty="0">
                <a:latin typeface="Verdana" pitchFamily="34" charset="0"/>
                <a:ea typeface="Verdana" pitchFamily="34" charset="0"/>
              </a:rPr>
              <a:t> Екатерина – сравнение и анализ существующих приложений; способствовала созданию презентации.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347299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977</Words>
  <Application>Microsoft Office PowerPoint</Application>
  <PresentationFormat>Широкоэкранный</PresentationFormat>
  <Paragraphs>125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Verdana</vt:lpstr>
      <vt:lpstr>Тема Office</vt:lpstr>
      <vt:lpstr>Платформа для борьбы с прокрастинацией </vt:lpstr>
      <vt:lpstr>Актуальность</vt:lpstr>
      <vt:lpstr> Статистика</vt:lpstr>
      <vt:lpstr> Нормативно-правовая база</vt:lpstr>
      <vt:lpstr>Новостная повестка из достоверных источников </vt:lpstr>
      <vt:lpstr>Мы провели опрос – и вот что выяснили:</vt:lpstr>
      <vt:lpstr>Цели и задачи проекта</vt:lpstr>
      <vt:lpstr>Формирование полезных привычек и повышение личной продуктивности </vt:lpstr>
      <vt:lpstr>Улучшение эмоционального благополучия </vt:lpstr>
      <vt:lpstr>SWOT-анализ проекта</vt:lpstr>
      <vt:lpstr>Заинтересованные стороны и конкуренты</vt:lpstr>
      <vt:lpstr>Этапы выполнения проекта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Ресурсы</vt:lpstr>
      <vt:lpstr>Команда</vt:lpstr>
    </vt:vector>
  </TitlesOfParts>
  <Company>ТУСУР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проекта</dc:title>
  <dc:creator>oit</dc:creator>
  <cp:lastModifiedBy>swirth</cp:lastModifiedBy>
  <cp:revision>73</cp:revision>
  <dcterms:created xsi:type="dcterms:W3CDTF">2024-05-16T05:44:05Z</dcterms:created>
  <dcterms:modified xsi:type="dcterms:W3CDTF">2025-05-22T10:37:20Z</dcterms:modified>
</cp:coreProperties>
</file>