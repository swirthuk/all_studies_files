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Libre Baskerville" panose="020B0604020202020204" charset="0"/>
      <p:regular r:id="rId15"/>
    </p:embeddedFont>
    <p:embeddedFont>
      <p:font typeface="Open Sans" panose="020B0606030504020204" pitchFamily="34" charset="0"/>
      <p:regular r:id="rId16"/>
      <p:bold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tty swirth" initials="ks" lastIdx="1" clrIdx="0">
    <p:extLst>
      <p:ext uri="{19B8F6BF-5375-455C-9EA6-DF929625EA0E}">
        <p15:presenceInfo xmlns:p15="http://schemas.microsoft.com/office/powerpoint/2012/main" userId="919515adea8bd74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6875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36427"/>
            <a:ext cx="7556421" cy="391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Деловой этикет в США и Западной Европе: ключевые различия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189458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этой презентации мы рассмотрим ключевые различия в деловом этикете между США и Западной Европой, чтобы помочь вам избежать неловких ситуаций и выстроить успешные деловые отношения.</a:t>
            </a:r>
            <a:endParaRPr lang="en-US" sz="175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CE83300-3635-40BB-97B6-38B6487B64F4}"/>
              </a:ext>
            </a:extLst>
          </p:cNvPr>
          <p:cNvSpPr/>
          <p:nvPr/>
        </p:nvSpPr>
        <p:spPr>
          <a:xfrm>
            <a:off x="12741289" y="7648222"/>
            <a:ext cx="1889111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251" y="530900"/>
            <a:ext cx="7187803" cy="60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Приветствие и представление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51" y="1421844"/>
            <a:ext cx="481608" cy="481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4251" y="2096095"/>
            <a:ext cx="2408277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Пожимание рук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74251" y="2512576"/>
            <a:ext cx="7795498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принято пожимать руку при приветствии и представлении, в Европе – в основном при знакомстве.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51" y="3706773"/>
            <a:ext cx="481608" cy="481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4251" y="4381024"/>
            <a:ext cx="2936438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Формальное обращение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674251" y="4797504"/>
            <a:ext cx="7795498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чаще используют имя, в Европе – фамилию и звание, особенно в начале знакомства.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51" y="5991701"/>
            <a:ext cx="481608" cy="481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4251" y="6665952"/>
            <a:ext cx="2408277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Обмен визиткам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74251" y="7082433"/>
            <a:ext cx="7795498" cy="61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и Европе принято обмениваться визиткам, придерживаясь определенных правил.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8977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Деловые встречи и переговоры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47499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074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Пунктуальность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5647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и Западной Европе пунктуальность – это важное правило, которое необходимо соблюдать.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47499"/>
            <a:ext cx="3664863" cy="2395657"/>
          </a:xfrm>
          <a:prstGeom prst="roundRect">
            <a:avLst>
              <a:gd name="adj" fmla="val 1420"/>
            </a:avLst>
          </a:prstGeom>
          <a:solidFill>
            <a:srgbClr val="EAE8F3"/>
          </a:solidFill>
          <a:ln/>
        </p:spPr>
      </p:sp>
      <p:sp>
        <p:nvSpPr>
          <p:cNvPr id="8" name="Text 5"/>
          <p:cNvSpPr/>
          <p:nvPr/>
        </p:nvSpPr>
        <p:spPr>
          <a:xfrm>
            <a:off x="4912281" y="3074313"/>
            <a:ext cx="297811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Стиль коммуникации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564731"/>
            <a:ext cx="321123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деловые встречи часто проходят в более прямом и открытом стиле, в Европе – более формально.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69969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1" name="Text 8"/>
          <p:cNvSpPr/>
          <p:nvPr/>
        </p:nvSpPr>
        <p:spPr>
          <a:xfrm>
            <a:off x="1020604" y="5696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Протокол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187202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следовать протоколу деловых переговоров, который может отличаться в разных странах.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89792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Деловая одежда и внешний вид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США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бизнес-одежда часто более непринужденная, особенно в сфере информационных технологий.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Западная Европа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7831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Западной Европе деловая одежда, как правило, более классическая, с акцентом на элегантность.</a:t>
            </a:r>
            <a:endParaRPr lang="en-US" sz="175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42745D8-0883-434B-97F0-17F37A94E35B}"/>
              </a:ext>
            </a:extLst>
          </p:cNvPr>
          <p:cNvSpPr/>
          <p:nvPr/>
        </p:nvSpPr>
        <p:spPr>
          <a:xfrm>
            <a:off x="12741289" y="7648222"/>
            <a:ext cx="1889111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5235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Особенности общения и невербальная коммуникация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4740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5" name="Text 2"/>
          <p:cNvSpPr/>
          <p:nvPr/>
        </p:nvSpPr>
        <p:spPr>
          <a:xfrm>
            <a:off x="6459379" y="3559016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4740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Прямой взгляд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964424"/>
            <a:ext cx="292774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прямой взгляд в глаза считается признаком уверенности, в Европе – может быть воспринят как агрессия.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47400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10322243" y="3559016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4740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Жесты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3964424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Использование жестов в деловом общении может иметь разное значение в разных культурах.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626090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6430566" y="6345912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6260902"/>
            <a:ext cx="31640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Отношение к времени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751320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время – деньги, в Европе более ценятся отношения и долгосрочное сотрудничество.</a:t>
            </a:r>
            <a:endParaRPr lang="en-US" sz="17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37BE645-1770-4407-A949-EBA5DDEFA112}"/>
              </a:ext>
            </a:extLst>
          </p:cNvPr>
          <p:cNvSpPr/>
          <p:nvPr/>
        </p:nvSpPr>
        <p:spPr>
          <a:xfrm>
            <a:off x="12741289" y="7648222"/>
            <a:ext cx="1889111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291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4143" y="3330297"/>
            <a:ext cx="9369028" cy="682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350"/>
              </a:lnSpc>
              <a:buNone/>
            </a:pPr>
            <a:r>
              <a:rPr lang="en-US" sz="4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Подарки, угощение и развлечения</a:t>
            </a:r>
            <a:endParaRPr lang="en-US" sz="4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143" y="4340066"/>
            <a:ext cx="4367332" cy="8733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82385" y="5540812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Подарки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982385" y="6012894"/>
            <a:ext cx="3930848" cy="698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принято дарить небольшие подарки, в Европе – более ценные.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1475" y="4340066"/>
            <a:ext cx="4367332" cy="8733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49716" y="5540812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Угощение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5349716" y="6012894"/>
            <a:ext cx="3930848" cy="1047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принято угощать деловых партнеров кофе или напитками, в Европе – ужином или обедом.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98806" y="4340066"/>
            <a:ext cx="4367332" cy="8733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7048" y="5540812"/>
            <a:ext cx="2729151" cy="341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Развлечения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717048" y="6012894"/>
            <a:ext cx="3930848" cy="1397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США и Европе часто организовывают развлекательные мероприятия для деловых партнеров, чтобы сблизиться.</a:t>
            </a:r>
            <a:endParaRPr lang="en-US" sz="17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70846BB-C2D4-45D0-B979-CDC408BC95D9}"/>
              </a:ext>
            </a:extLst>
          </p:cNvPr>
          <p:cNvSpPr/>
          <p:nvPr/>
        </p:nvSpPr>
        <p:spPr>
          <a:xfrm>
            <a:off x="12741289" y="7648222"/>
            <a:ext cx="1889111" cy="50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7133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Принципы пунктуальности и планирования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829050"/>
            <a:ext cx="7556421" cy="2329101"/>
          </a:xfrm>
          <a:prstGeom prst="roundRect">
            <a:avLst>
              <a:gd name="adj" fmla="val 146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01410" y="3836670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1028224" y="398037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США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02624" y="398037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Западная Европа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01410" y="4486989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28224" y="4630698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Высокая ценность времени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802624" y="4630698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Более гибкий подход к планированию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801410" y="5500211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028224" y="564392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Соблюдение сроков – важно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02624" y="5643920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Гибкость в сроках – норма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58679"/>
            <a:ext cx="70245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Выводы и рекомендации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1907619"/>
            <a:ext cx="30480" cy="5463183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5" name="Shape 2"/>
          <p:cNvSpPr/>
          <p:nvPr/>
        </p:nvSpPr>
        <p:spPr>
          <a:xfrm>
            <a:off x="1358622" y="2402681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6" name="Shape 3"/>
          <p:cNvSpPr/>
          <p:nvPr/>
        </p:nvSpPr>
        <p:spPr>
          <a:xfrm>
            <a:off x="878800" y="216277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7" name="Text 4"/>
          <p:cNvSpPr/>
          <p:nvPr/>
        </p:nvSpPr>
        <p:spPr>
          <a:xfrm>
            <a:off x="1057989" y="2247781"/>
            <a:ext cx="151805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1344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Изучение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488" y="2624852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Изучение особенностей делового этикета – важно для успешных переговоров.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299347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1" name="Shape 8"/>
          <p:cNvSpPr/>
          <p:nvPr/>
        </p:nvSpPr>
        <p:spPr>
          <a:xfrm>
            <a:off x="878800" y="405943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1029176" y="4144447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0310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Адаптация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488" y="4521517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Адаптация к местным обычаям и правилам поможет избежать недопонимания.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196013"/>
            <a:ext cx="793790" cy="3048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</p:sp>
      <p:sp>
        <p:nvSpPr>
          <p:cNvPr id="16" name="Shape 13"/>
          <p:cNvSpPr/>
          <p:nvPr/>
        </p:nvSpPr>
        <p:spPr>
          <a:xfrm>
            <a:off x="878800" y="595610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sp>
        <p:nvSpPr>
          <p:cNvPr id="17" name="Text 14"/>
          <p:cNvSpPr/>
          <p:nvPr/>
        </p:nvSpPr>
        <p:spPr>
          <a:xfrm>
            <a:off x="1029176" y="6041112"/>
            <a:ext cx="20955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9277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Уважение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488" y="6418183"/>
            <a:ext cx="596872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Проявление уважения к местным культурам – залог успешного делового взаимодействия.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374</Words>
  <Application>Microsoft Office PowerPoint</Application>
  <PresentationFormat>Произвольный</PresentationFormat>
  <Paragraphs>63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Libre Baskerville</vt:lpstr>
      <vt:lpstr>Calibri</vt:lpstr>
      <vt:lpstr>Open Sans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kitty swirth</cp:lastModifiedBy>
  <cp:revision>2</cp:revision>
  <dcterms:created xsi:type="dcterms:W3CDTF">2024-10-31T16:44:02Z</dcterms:created>
  <dcterms:modified xsi:type="dcterms:W3CDTF">2024-10-31T16:46:00Z</dcterms:modified>
</cp:coreProperties>
</file>