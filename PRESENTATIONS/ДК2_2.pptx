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ty swirth" initials="ks" lastIdx="2" clrIdx="0">
    <p:extLst>
      <p:ext uri="{19B8F6BF-5375-455C-9EA6-DF929625EA0E}">
        <p15:presenceInfo xmlns:p15="http://schemas.microsoft.com/office/powerpoint/2012/main" userId="919515adea8bd74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656" autoAdjust="0"/>
  </p:normalViewPr>
  <p:slideViewPr>
    <p:cSldViewPr snapToGrid="0">
      <p:cViewPr varScale="1">
        <p:scale>
          <a:sx n="81" d="100"/>
          <a:sy n="81" d="100"/>
        </p:scale>
        <p:origin x="65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31T23:57:04.783" idx="1">
    <p:pos x="10" y="10"/>
    <p:text>Сегодня мы рассмотрим особенности делового этикета в США и странах Западной Европы. Понимание этих аспектов поможет эффективнее строить международные отношения и взаимодействовать с коллегами и партнерами.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03T16:34:11.599" idx="2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008C0-1562-4234-88D8-906C4473A7E6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5FD28-8066-4646-BACF-9D8C858FA0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646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47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36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664B2-E295-43D6-97E2-FE862A376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E683E1-91BC-42CB-9F8F-A71F488CA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A49ED7-2EBF-4A32-9C46-B3976913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2B6CCE-37CE-4EFA-BC95-406B9E68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5CB27-8FBE-4709-930A-DC48C224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81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6197C-12E4-4C00-9932-9D48FA38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5A1BBB-8677-42AA-8EF1-BE46B172B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DEB47D-746D-4D73-BE92-20E2F966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39AE16-7135-4A64-9B48-817C1076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79E07-76D2-4B18-9DD6-3C134DCA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26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FC1BF-1D12-44E3-9616-D77EA6006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2A04F6-3132-4FCD-A079-E89B965B0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9D30DD-E89A-4F3E-8BE9-7648303E6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680138-9930-4FBA-9997-3613A2B1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51521C-30A9-497E-8FE8-D2ABFC77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00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57B26-60BB-4D37-8A20-B754E07C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4DC60-45E0-4E03-ACF3-A8AF9181D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63A898-69C5-442A-A1E0-CB2BB184B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34D6F6-AF5E-4931-BA14-927AE26A3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CCD87C-8554-455D-9725-AEE6828B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9FBDC0-9F75-41D0-BD1B-71D8E453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11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0D033-3513-47E8-8105-B16498A28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71C590-7041-4173-8ADE-2F08A800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14EBB7-0FE0-496A-BE75-232DC872F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3D4919-EB26-4E54-9209-A956DC54C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63909C-5C6E-4DBF-9B94-4C052E447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839095-5431-4BFB-9468-7D48D05B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1F6DBDE-EE43-40DE-8FFD-DD2FF3E8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7C3A7ED-5200-472A-B0A3-139323AF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70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BE37A-BD43-4897-9974-D13FF435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315F2E-1284-45F7-94E8-CEC9BA551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361530-4519-4ADD-A01C-3B391EC3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A625693-AFE1-45EE-8CF8-2531992B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78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B9433C-C185-4E87-BEA9-6EC011954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6BC2666-E574-4F38-8648-5DB644A4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235653-F1C8-4A4A-81BC-A0DC9CF1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12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99BD7-5CC8-4312-BC92-7C56007C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FB6AAB-AF00-42A1-8F27-19052E08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9322C4-3FEE-499B-924E-DC9D9AFF9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832BBA-745C-4228-B66C-BE293B82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C74DC6-EBBE-4FFA-9037-73B5B7B2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0E9350-FAD3-45B5-8307-3308B002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70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60A56-B80B-4CE5-8607-151CFFCB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E928CA-838D-4B97-BA4C-94F06B801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C7A073-2242-4B59-BE51-5719E4F5D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E5E9CF-52BD-4283-A1BE-A0AAEFB9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681DBC-EDBF-4A59-B1F7-7CD305AB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13A315-2D0D-474F-B56F-93541468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27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756AC-B7D5-4262-9AC7-EB7E07AB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67B904-8ECF-4910-85ED-E2E40620A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387EE7-ADB1-4120-B817-42FDAF53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EA137A-4FCD-41B8-927D-7BDA316D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E971DE-E2C1-4179-9B9E-7B1D783F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81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D50EF3-44BE-45CB-B3B5-18030C147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95E96D-7FB3-4262-A9F4-15E5B0E19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BC08CA-C14E-4C2C-9CA0-E5F2A5FE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170134-D3FA-4D41-9211-286F8065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C13175-7150-4A1B-BA98-AB20EC91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808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45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72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97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D527E-EE69-48C9-8DBA-6F4E2C13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A10ABA-0EC9-4D4D-80DA-6073B848B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6BE848-83E7-4B65-8D0F-868B93425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8C0FB-45AD-443E-B09D-097C2E36C163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C36F70-87F6-401C-8E94-9AAECF6FE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6C2A7C-3B37-4700-A295-87321FD6F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8C9A5-13A9-4A25-8076-F22322D87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57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780356"/>
            <a:ext cx="6297018" cy="2380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en-US" sz="5125" dirty="0">
                <a:solidFill>
                  <a:schemeClr val="accent5">
                    <a:lumMod val="50000"/>
                  </a:schemeClr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Деловой этикет в США и Западной </a:t>
            </a:r>
            <a:r>
              <a:rPr lang="en-US" sz="5125" dirty="0" err="1">
                <a:solidFill>
                  <a:schemeClr val="accent5">
                    <a:lumMod val="50000"/>
                  </a:schemeClr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Европе</a:t>
            </a:r>
            <a:endParaRPr lang="en-US" sz="5125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492" y="3429000"/>
            <a:ext cx="629701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E83300-3635-40BB-97B6-38B6487B64F4}"/>
              </a:ext>
            </a:extLst>
          </p:cNvPr>
          <p:cNvSpPr/>
          <p:nvPr/>
        </p:nvSpPr>
        <p:spPr>
          <a:xfrm>
            <a:off x="10617741" y="6373519"/>
            <a:ext cx="1574259" cy="423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3DE3E87-5AAC-4C31-9C1F-25EA6E24A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492" y="3429000"/>
            <a:ext cx="66605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Тема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Особенности делового этикета в США и Западной Европе.</a:t>
            </a: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Задача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Понять, как приветствовать и представляться в деловой среде, чтобы успешно взаимодействовать с международными партнерами.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97A0AE-8260-450F-81AB-E500C2A8C01C}"/>
              </a:ext>
            </a:extLst>
          </p:cNvPr>
          <p:cNvSpPr/>
          <p:nvPr/>
        </p:nvSpPr>
        <p:spPr>
          <a:xfrm>
            <a:off x="522344" y="264242"/>
            <a:ext cx="6297018" cy="909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ru-RU" sz="5125" dirty="0">
                <a:solidFill>
                  <a:schemeClr val="accent5">
                    <a:lumMod val="50000"/>
                  </a:schemeClr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Введение</a:t>
            </a:r>
            <a:endParaRPr lang="en-US" sz="5125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AA773D-796C-4A96-B22F-9DF2D9209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44" y="1173538"/>
            <a:ext cx="536162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>
                <a:latin typeface="Arial" panose="020B0604020202020204" pitchFamily="34" charset="0"/>
              </a:rPr>
              <a:t>Знание делового этикета в международной среде.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Построение доверия и уважения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;</a:t>
            </a:r>
            <a:endParaRPr lang="ru-RU" sz="2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Предотвращение недопонимания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;</a:t>
            </a:r>
            <a:endParaRPr lang="ru-RU" sz="2400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Успешное ведение переговоров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;</a:t>
            </a:r>
            <a:endParaRPr lang="ru-RU" sz="2400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Положительное впечатление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;</a:t>
            </a:r>
            <a:endParaRPr lang="ru-RU" sz="2400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Эффективное общение.</a:t>
            </a:r>
            <a:endParaRPr kumimoji="0" lang="ru-RU" altLang="ru-RU" sz="240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3E3A8B-B01D-42B0-9443-2B158B625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73538"/>
            <a:ext cx="666057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Основны</a:t>
            </a:r>
            <a:r>
              <a:rPr lang="ru-RU" altLang="ru-RU" sz="2400" b="1" dirty="0">
                <a:latin typeface="Arial" panose="020B0604020202020204" pitchFamily="34" charset="0"/>
              </a:rPr>
              <a:t>е цели: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400" dirty="0"/>
              <a:t>Понять различия в деловом общении</a:t>
            </a:r>
            <a:r>
              <a:rPr lang="ru-RU" sz="2400" b="1" dirty="0">
                <a:latin typeface="Arial" panose="020B0604020202020204" pitchFamily="34" charset="0"/>
              </a:rPr>
              <a:t>;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400" dirty="0"/>
              <a:t>Узнать ключевые особенности в США и Западной Европе;</a:t>
            </a: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rgbClr val="990099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AC88D8B-191D-418E-BFD1-CCDBACB7C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8849"/>
            <a:ext cx="12192000" cy="272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0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A181EA-7129-4B34-9314-21A4A8A3C22A}"/>
              </a:ext>
            </a:extLst>
          </p:cNvPr>
          <p:cNvSpPr/>
          <p:nvPr/>
        </p:nvSpPr>
        <p:spPr>
          <a:xfrm>
            <a:off x="5203674" y="168966"/>
            <a:ext cx="6594073" cy="944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ru-RU" sz="5400" dirty="0">
                <a:solidFill>
                  <a:schemeClr val="accent1">
                    <a:lumMod val="75000"/>
                  </a:schemeClr>
                </a:solidFill>
              </a:rPr>
              <a:t>Деловой этикет в США</a:t>
            </a:r>
            <a:endParaRPr lang="en-US" sz="5125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FF0429B-186E-48EE-AB39-0F91D98C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93096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249C347-BCFA-4FBD-8D19-DD1EF911E6FA}"/>
              </a:ext>
            </a:extLst>
          </p:cNvPr>
          <p:cNvSpPr/>
          <p:nvPr/>
        </p:nvSpPr>
        <p:spPr>
          <a:xfrm>
            <a:off x="10617741" y="6434667"/>
            <a:ext cx="1574259" cy="423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7AD9BA-2AE4-453F-9C9E-EF59B1884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426" y="1113183"/>
            <a:ext cx="583716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ym typeface="Symbol" panose="05050102010706020507" pitchFamily="18" charset="2"/>
              </a:rPr>
              <a:t></a:t>
            </a:r>
            <a:r>
              <a:rPr lang="ru-RU" sz="3200" b="1" dirty="0"/>
              <a:t>Прямое общение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b="1" dirty="0"/>
              <a:t>Дружелюбие и неформальность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b="1" dirty="0"/>
              <a:t>Пунктуальность и уважение к времени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b="1" dirty="0"/>
              <a:t>Фокус на результат и цель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b="1" dirty="0"/>
              <a:t>Открытость к рискам и инновациям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b="1" dirty="0"/>
              <a:t>Стиль переговоров и принятие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80252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A181EA-7129-4B34-9314-21A4A8A3C22A}"/>
              </a:ext>
            </a:extLst>
          </p:cNvPr>
          <p:cNvSpPr/>
          <p:nvPr/>
        </p:nvSpPr>
        <p:spPr>
          <a:xfrm>
            <a:off x="5203674" y="168966"/>
            <a:ext cx="6594073" cy="944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ru-RU" sz="5400" dirty="0">
                <a:solidFill>
                  <a:schemeClr val="accent1">
                    <a:lumMod val="75000"/>
                  </a:schemeClr>
                </a:solidFill>
              </a:rPr>
              <a:t>Деловой этикет в Западной Европе</a:t>
            </a:r>
            <a:endParaRPr lang="en-US" sz="5125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FF0429B-186E-48EE-AB39-0F91D98C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93096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249C347-BCFA-4FBD-8D19-DD1EF911E6FA}"/>
              </a:ext>
            </a:extLst>
          </p:cNvPr>
          <p:cNvSpPr/>
          <p:nvPr/>
        </p:nvSpPr>
        <p:spPr>
          <a:xfrm>
            <a:off x="10617741" y="6373519"/>
            <a:ext cx="1574259" cy="423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B5F6AA-3777-40EF-A02B-38F3D656C82C}"/>
              </a:ext>
            </a:extLst>
          </p:cNvPr>
          <p:cNvSpPr txBox="1"/>
          <p:nvPr/>
        </p:nvSpPr>
        <p:spPr>
          <a:xfrm>
            <a:off x="5114222" y="1753093"/>
            <a:ext cx="609765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ym typeface="Symbol" panose="05050102010706020507" pitchFamily="18" charset="2"/>
              </a:rPr>
              <a:t> </a:t>
            </a:r>
            <a:r>
              <a:rPr lang="ru-RU" sz="2800" b="1" dirty="0"/>
              <a:t>Формальность и уважение к иерархии</a:t>
            </a:r>
          </a:p>
          <a:p>
            <a:r>
              <a:rPr lang="ru-RU" sz="2800" b="1" dirty="0">
                <a:sym typeface="Symbol" panose="05050102010706020507" pitchFamily="18" charset="2"/>
              </a:rPr>
              <a:t> </a:t>
            </a:r>
            <a:r>
              <a:rPr lang="ru-RU" sz="2800" b="1" dirty="0"/>
              <a:t>Пунктуальность и отношение ко времени</a:t>
            </a:r>
          </a:p>
          <a:p>
            <a:r>
              <a:rPr lang="ru-RU" sz="2800" b="1" dirty="0">
                <a:sym typeface="Symbol" panose="05050102010706020507" pitchFamily="18" charset="2"/>
              </a:rPr>
              <a:t> </a:t>
            </a:r>
            <a:r>
              <a:rPr lang="ru-RU" sz="2800" b="1" dirty="0"/>
              <a:t>Фокус на качестве и деталях</a:t>
            </a:r>
          </a:p>
          <a:p>
            <a:r>
              <a:rPr lang="ru-RU" sz="2800" b="1" dirty="0">
                <a:sym typeface="Symbol" panose="05050102010706020507" pitchFamily="18" charset="2"/>
              </a:rPr>
              <a:t> </a:t>
            </a:r>
            <a:r>
              <a:rPr lang="ru-RU" sz="2800" b="1" dirty="0"/>
              <a:t>Четкость и структурированность в общении</a:t>
            </a:r>
          </a:p>
          <a:p>
            <a:r>
              <a:rPr lang="ru-RU" sz="2800" b="1" dirty="0">
                <a:sym typeface="Symbol" panose="05050102010706020507" pitchFamily="18" charset="2"/>
              </a:rPr>
              <a:t> </a:t>
            </a:r>
            <a:r>
              <a:rPr lang="ru-RU" sz="2800" b="1" dirty="0"/>
              <a:t>Умеренность в невербальном общении</a:t>
            </a:r>
          </a:p>
          <a:p>
            <a:r>
              <a:rPr lang="ru-RU" sz="2800" b="1" dirty="0">
                <a:sym typeface="Symbol" panose="05050102010706020507" pitchFamily="18" charset="2"/>
              </a:rPr>
              <a:t> </a:t>
            </a:r>
            <a:r>
              <a:rPr lang="ru-RU" sz="2800" b="1" dirty="0"/>
              <a:t>Уважение к личной и профессиональной жизни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A8E31E1-3E1C-48B6-A14D-D76A50048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6287" y="0"/>
            <a:ext cx="49993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70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298258"/>
            <a:ext cx="6297018" cy="79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ru-RU" sz="4000" dirty="0">
                <a:solidFill>
                  <a:schemeClr val="accent1">
                    <a:lumMod val="75000"/>
                  </a:schemeClr>
                </a:solidFill>
              </a:rPr>
              <a:t>Взаимодействие и общение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04352" y="1140952"/>
            <a:ext cx="3054053" cy="798902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830400" y="132996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ru-RU" sz="2000" dirty="0"/>
              <a:t>Формальность в общении</a:t>
            </a:r>
            <a:endParaRPr lang="en-US" sz="1833" dirty="0"/>
          </a:p>
        </p:txBody>
      </p:sp>
      <p:sp>
        <p:nvSpPr>
          <p:cNvPr id="7" name="Shape 4"/>
          <p:cNvSpPr/>
          <p:nvPr/>
        </p:nvSpPr>
        <p:spPr>
          <a:xfrm>
            <a:off x="3912954" y="1141258"/>
            <a:ext cx="3054053" cy="798902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091780" y="1227933"/>
            <a:ext cx="2696400" cy="62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ru-RU" sz="2000" dirty="0"/>
              <a:t>Стиль общения и</a:t>
            </a:r>
          </a:p>
          <a:p>
            <a:pPr>
              <a:lnSpc>
                <a:spcPts val="2292"/>
              </a:lnSpc>
            </a:pPr>
            <a:r>
              <a:rPr lang="ru-RU" sz="2000" dirty="0"/>
              <a:t>прямолинейность</a:t>
            </a:r>
            <a:endParaRPr lang="en-US" sz="1833" dirty="0"/>
          </a:p>
        </p:txBody>
      </p:sp>
      <p:sp>
        <p:nvSpPr>
          <p:cNvPr id="10" name="Shape 7"/>
          <p:cNvSpPr/>
          <p:nvPr/>
        </p:nvSpPr>
        <p:spPr>
          <a:xfrm>
            <a:off x="656232" y="2111899"/>
            <a:ext cx="6297018" cy="461620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1410411" y="2183923"/>
            <a:ext cx="5005086" cy="30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ru-RU" sz="2000" dirty="0"/>
              <a:t>Подход к переговорам и принятию решений</a:t>
            </a:r>
            <a:endParaRPr lang="en-US" sz="1833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63465FD2-A920-44A2-92E2-425E44D9ABBF}"/>
              </a:ext>
            </a:extLst>
          </p:cNvPr>
          <p:cNvSpPr/>
          <p:nvPr/>
        </p:nvSpPr>
        <p:spPr>
          <a:xfrm>
            <a:off x="656232" y="2737901"/>
            <a:ext cx="3054053" cy="540110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0F58AD28-15AA-43B1-83D7-B2654B222650}"/>
              </a:ext>
            </a:extLst>
          </p:cNvPr>
          <p:cNvSpPr/>
          <p:nvPr/>
        </p:nvSpPr>
        <p:spPr>
          <a:xfrm>
            <a:off x="853741" y="287655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ru-RU" sz="2000" dirty="0"/>
              <a:t>Открытость и доверие</a:t>
            </a:r>
            <a:endParaRPr lang="en-US" sz="1833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8FCA5A4B-A36A-47ED-9FB3-1BA16DF86E59}"/>
              </a:ext>
            </a:extLst>
          </p:cNvPr>
          <p:cNvSpPr/>
          <p:nvPr/>
        </p:nvSpPr>
        <p:spPr>
          <a:xfrm>
            <a:off x="3912954" y="2737901"/>
            <a:ext cx="3054053" cy="540110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8B03571-8F19-4E31-84D9-AB41DFCC40C5}"/>
              </a:ext>
            </a:extLst>
          </p:cNvPr>
          <p:cNvSpPr/>
          <p:nvPr/>
        </p:nvSpPr>
        <p:spPr>
          <a:xfrm>
            <a:off x="4091780" y="2893588"/>
            <a:ext cx="2696400" cy="30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ru-RU" sz="2000" dirty="0"/>
              <a:t>Невербальное общение</a:t>
            </a:r>
            <a:endParaRPr lang="en-US" sz="1833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1FD58E4D-CE00-4B1C-B743-9572A23B53A7}"/>
              </a:ext>
            </a:extLst>
          </p:cNvPr>
          <p:cNvSpPr/>
          <p:nvPr/>
        </p:nvSpPr>
        <p:spPr>
          <a:xfrm>
            <a:off x="656232" y="3448197"/>
            <a:ext cx="6297018" cy="540110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186B4ADF-3EB4-44E6-821D-87C541A8B456}"/>
              </a:ext>
            </a:extLst>
          </p:cNvPr>
          <p:cNvSpPr/>
          <p:nvPr/>
        </p:nvSpPr>
        <p:spPr>
          <a:xfrm>
            <a:off x="1410411" y="3566789"/>
            <a:ext cx="5005086" cy="30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ru-RU" sz="2000" dirty="0"/>
              <a:t>Баланс между работой и личной жизнью</a:t>
            </a:r>
            <a:endParaRPr lang="en-US" sz="1833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2C35B855-951D-4A06-BCD1-C0BBDB2D449E}"/>
              </a:ext>
            </a:extLst>
          </p:cNvPr>
          <p:cNvSpPr/>
          <p:nvPr/>
        </p:nvSpPr>
        <p:spPr>
          <a:xfrm>
            <a:off x="1847654" y="4152690"/>
            <a:ext cx="4248345" cy="1102018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D45F5445-0723-46F9-95C3-3D9C628025A0}"/>
              </a:ext>
            </a:extLst>
          </p:cNvPr>
          <p:cNvSpPr/>
          <p:nvPr/>
        </p:nvSpPr>
        <p:spPr>
          <a:xfrm>
            <a:off x="1982378" y="4278159"/>
            <a:ext cx="3861151" cy="97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ru-RU" sz="2800" dirty="0"/>
              <a:t>Ориентация на</a:t>
            </a:r>
          </a:p>
          <a:p>
            <a:pPr>
              <a:lnSpc>
                <a:spcPts val="2292"/>
              </a:lnSpc>
            </a:pPr>
            <a:r>
              <a:rPr lang="ru-RU" sz="2800" dirty="0"/>
              <a:t> инновации и устойчивое</a:t>
            </a:r>
          </a:p>
          <a:p>
            <a:pPr>
              <a:lnSpc>
                <a:spcPts val="2292"/>
              </a:lnSpc>
            </a:pPr>
            <a:r>
              <a:rPr lang="ru-RU" sz="2800" dirty="0"/>
              <a:t> развитие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7C238D-10AC-4BA5-89B8-2D7D2453A62C}"/>
              </a:ext>
            </a:extLst>
          </p:cNvPr>
          <p:cNvSpPr/>
          <p:nvPr/>
        </p:nvSpPr>
        <p:spPr>
          <a:xfrm>
            <a:off x="3275836" y="0"/>
            <a:ext cx="5640328" cy="79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ru-RU" sz="4000" dirty="0">
                <a:solidFill>
                  <a:srgbClr val="0070C0"/>
                </a:solidFill>
              </a:rPr>
              <a:t>Дресс-код</a:t>
            </a:r>
            <a:r>
              <a:rPr lang="ru-RU" sz="4000" dirty="0">
                <a:solidFill>
                  <a:schemeClr val="accent1">
                    <a:lumMod val="75000"/>
                  </a:schemeClr>
                </a:solidFill>
              </a:rPr>
              <a:t> и внешний вид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4A1AB34-6945-4585-91FD-EC99E28C8AD8}"/>
              </a:ext>
            </a:extLst>
          </p:cNvPr>
          <p:cNvSpPr/>
          <p:nvPr/>
        </p:nvSpPr>
        <p:spPr>
          <a:xfrm>
            <a:off x="10617741" y="6434667"/>
            <a:ext cx="1574259" cy="423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F3B83-D5E1-4941-BAB4-E84C4DF8A794}"/>
              </a:ext>
            </a:extLst>
          </p:cNvPr>
          <p:cNvSpPr txBox="1"/>
          <p:nvPr/>
        </p:nvSpPr>
        <p:spPr>
          <a:xfrm>
            <a:off x="895546" y="798902"/>
            <a:ext cx="1527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USA</a:t>
            </a:r>
            <a:endParaRPr lang="ru-RU" sz="4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8BE27-13DA-4821-AA5D-BF0EA6B73B47}"/>
              </a:ext>
            </a:extLst>
          </p:cNvPr>
          <p:cNvSpPr txBox="1"/>
          <p:nvPr/>
        </p:nvSpPr>
        <p:spPr>
          <a:xfrm>
            <a:off x="7639636" y="798902"/>
            <a:ext cx="4259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70C0"/>
                </a:solidFill>
              </a:rPr>
              <a:t>Западная Европа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2F6D5-8DBA-400F-BD6D-117B06250AF2}"/>
              </a:ext>
            </a:extLst>
          </p:cNvPr>
          <p:cNvSpPr txBox="1"/>
          <p:nvPr/>
        </p:nvSpPr>
        <p:spPr>
          <a:xfrm>
            <a:off x="593889" y="1385740"/>
            <a:ext cx="50433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dirty="0"/>
              <a:t>Гибкость и ориентированность на комфорт</a:t>
            </a:r>
          </a:p>
          <a:p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en-US" sz="3200" dirty="0"/>
              <a:t>"Business Casual" и "Smart Casual"</a:t>
            </a:r>
            <a:endParaRPr lang="ru-RU" sz="3200" dirty="0"/>
          </a:p>
          <a:p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dirty="0"/>
              <a:t>Акцент на индивидуальность</a:t>
            </a:r>
          </a:p>
          <a:p>
            <a:r>
              <a:rPr lang="ru-RU" sz="3200" b="1" dirty="0">
                <a:sym typeface="Symbol" panose="05050102010706020507" pitchFamily="18" charset="2"/>
              </a:rPr>
              <a:t> </a:t>
            </a:r>
            <a:r>
              <a:rPr lang="ru-RU" sz="3200" dirty="0"/>
              <a:t>Умеренность в использовании украшений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F46B3-24E2-447C-8F8A-5FA08D57D20A}"/>
              </a:ext>
            </a:extLst>
          </p:cNvPr>
          <p:cNvSpPr txBox="1"/>
          <p:nvPr/>
        </p:nvSpPr>
        <p:spPr>
          <a:xfrm>
            <a:off x="6786488" y="1403093"/>
            <a:ext cx="54055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Symbol" panose="05050102010706020507" pitchFamily="18" charset="2"/>
              <a:buChar char="·"/>
            </a:pPr>
            <a:r>
              <a:rPr lang="ru-RU" sz="3200" dirty="0"/>
              <a:t>Формальность и консерватизм</a:t>
            </a:r>
          </a:p>
          <a:p>
            <a:pPr marL="457200" indent="-457200">
              <a:buFont typeface="Symbol" panose="05050102010706020507" pitchFamily="18" charset="2"/>
              <a:buChar char="·"/>
            </a:pPr>
            <a:r>
              <a:rPr lang="ru-RU" sz="3200" dirty="0"/>
              <a:t>"Business </a:t>
            </a:r>
            <a:r>
              <a:rPr lang="ru-RU" sz="3200" dirty="0" err="1"/>
              <a:t>Formal</a:t>
            </a:r>
            <a:r>
              <a:rPr lang="ru-RU" sz="3200" dirty="0"/>
              <a:t>" как стандарт в ряде отраслей</a:t>
            </a:r>
          </a:p>
          <a:p>
            <a:pPr marL="457200" indent="-457200">
              <a:buFont typeface="Symbol" panose="05050102010706020507" pitchFamily="18" charset="2"/>
              <a:buChar char="·"/>
            </a:pPr>
            <a:r>
              <a:rPr lang="ru-RU" sz="3200" dirty="0"/>
              <a:t>Внимание к качеству и деталям</a:t>
            </a:r>
          </a:p>
          <a:p>
            <a:pPr marL="457200" indent="-457200">
              <a:buFont typeface="Symbol" panose="05050102010706020507" pitchFamily="18" charset="2"/>
              <a:buChar char="·"/>
            </a:pPr>
            <a:r>
              <a:rPr lang="ru-RU" sz="3200" dirty="0"/>
              <a:t>Сдержанность в украшениях и аксессуарах</a:t>
            </a:r>
          </a:p>
          <a:p>
            <a:pPr marL="457200" indent="-457200">
              <a:buFont typeface="Symbol" panose="05050102010706020507" pitchFamily="18" charset="2"/>
              <a:buChar char="·"/>
            </a:pPr>
            <a:r>
              <a:rPr lang="ru-RU" sz="3200" dirty="0"/>
              <a:t>Одежда и стиль в зависимости от страны</a:t>
            </a:r>
          </a:p>
        </p:txBody>
      </p:sp>
    </p:spTree>
    <p:extLst>
      <p:ext uri="{BB962C8B-B14F-4D97-AF65-F5344CB8AC3E}">
        <p14:creationId xmlns:p14="http://schemas.microsoft.com/office/powerpoint/2010/main" val="253617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842" y="114125"/>
            <a:ext cx="5434508" cy="52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ru-RU" sz="3708" dirty="0">
                <a:solidFill>
                  <a:schemeClr val="accent1">
                    <a:lumMod val="75000"/>
                  </a:schemeClr>
                </a:solidFill>
              </a:rPr>
              <a:t>Особенности переговоров</a:t>
            </a:r>
            <a:endParaRPr lang="en-US" sz="3708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92" y="691768"/>
            <a:ext cx="6284318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50503" y="811525"/>
            <a:ext cx="27609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США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3995837" y="811525"/>
            <a:ext cx="27609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Западная Европа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661492" y="1233700"/>
            <a:ext cx="6284318" cy="12411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321D4C-466A-475D-8027-88613639AB45}"/>
              </a:ext>
            </a:extLst>
          </p:cNvPr>
          <p:cNvSpPr txBox="1"/>
          <p:nvPr/>
        </p:nvSpPr>
        <p:spPr>
          <a:xfrm>
            <a:off x="667842" y="1274480"/>
            <a:ext cx="294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Американцы предпочитают начинать переговоры с небольшого неформального разговора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D1E30-A17D-4475-85D9-769313EBF1F8}"/>
              </a:ext>
            </a:extLst>
          </p:cNvPr>
          <p:cNvSpPr txBox="1"/>
          <p:nvPr/>
        </p:nvSpPr>
        <p:spPr>
          <a:xfrm>
            <a:off x="3813176" y="1274480"/>
            <a:ext cx="3132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Взаимодействие начинается более формально участники сразу фокусируются на деловой повестке.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B80C078-5487-49DB-B1C5-B78005362346}"/>
              </a:ext>
            </a:extLst>
          </p:cNvPr>
          <p:cNvSpPr/>
          <p:nvPr/>
        </p:nvSpPr>
        <p:spPr>
          <a:xfrm>
            <a:off x="661492" y="2474807"/>
            <a:ext cx="6284318" cy="1241110"/>
          </a:xfrm>
          <a:prstGeom prst="rect">
            <a:avLst/>
          </a:prstGeom>
          <a:solidFill>
            <a:schemeClr val="accent1">
              <a:lumMod val="40000"/>
              <a:lumOff val="6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077E54-DDC0-4159-B932-7B059D88C999}"/>
              </a:ext>
            </a:extLst>
          </p:cNvPr>
          <p:cNvSpPr txBox="1"/>
          <p:nvPr/>
        </p:nvSpPr>
        <p:spPr>
          <a:xfrm>
            <a:off x="768698" y="2474808"/>
            <a:ext cx="294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Американцы предпочитают прямой, открытый и дружелюбный стиль общения.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767D3F-F2E9-4E9A-9632-8E75C9394BA8}"/>
              </a:ext>
            </a:extLst>
          </p:cNvPr>
          <p:cNvSpPr txBox="1"/>
          <p:nvPr/>
        </p:nvSpPr>
        <p:spPr>
          <a:xfrm>
            <a:off x="3863604" y="2474806"/>
            <a:ext cx="3132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Склонны к более сдержанному и дипломатичному стилю общения.</a:t>
            </a: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06D331B-6478-4783-8FA6-29DBA831923E}"/>
              </a:ext>
            </a:extLst>
          </p:cNvPr>
          <p:cNvSpPr/>
          <p:nvPr/>
        </p:nvSpPr>
        <p:spPr>
          <a:xfrm>
            <a:off x="671017" y="3715914"/>
            <a:ext cx="6284318" cy="12411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5E884-AE9A-4394-93CB-2E576D031E00}"/>
              </a:ext>
            </a:extLst>
          </p:cNvPr>
          <p:cNvSpPr txBox="1"/>
          <p:nvPr/>
        </p:nvSpPr>
        <p:spPr>
          <a:xfrm>
            <a:off x="759172" y="3673604"/>
            <a:ext cx="294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Американцы предпочитают прямой, открытый и дружелюбный стиль общения.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D5A4B0-5562-42B4-A82C-27F6935EA069}"/>
              </a:ext>
            </a:extLst>
          </p:cNvPr>
          <p:cNvSpPr txBox="1"/>
          <p:nvPr/>
        </p:nvSpPr>
        <p:spPr>
          <a:xfrm>
            <a:off x="3803651" y="3687921"/>
            <a:ext cx="294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Американцы предпочитают прямой, открытый и дружелюбный стиль общения.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842" y="114125"/>
            <a:ext cx="5434508" cy="52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ru-RU" sz="3708" dirty="0">
                <a:solidFill>
                  <a:schemeClr val="accent1">
                    <a:lumMod val="75000"/>
                  </a:schemeClr>
                </a:solidFill>
              </a:rPr>
              <a:t>Особенности переговоров</a:t>
            </a:r>
            <a:endParaRPr lang="en-US" sz="3708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92" y="691768"/>
            <a:ext cx="6284318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50503" y="811525"/>
            <a:ext cx="27609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США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3995837" y="811525"/>
            <a:ext cx="27609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Западная Европа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661492" y="1233700"/>
            <a:ext cx="6284318" cy="12411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321D4C-466A-475D-8027-88613639AB45}"/>
              </a:ext>
            </a:extLst>
          </p:cNvPr>
          <p:cNvSpPr txBox="1"/>
          <p:nvPr/>
        </p:nvSpPr>
        <p:spPr>
          <a:xfrm>
            <a:off x="667842" y="1274480"/>
            <a:ext cx="2943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США переговоры имеют ярко выраженную ориентацию на результат.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D1E30-A17D-4475-85D9-769313EBF1F8}"/>
              </a:ext>
            </a:extLst>
          </p:cNvPr>
          <p:cNvSpPr txBox="1"/>
          <p:nvPr/>
        </p:nvSpPr>
        <p:spPr>
          <a:xfrm>
            <a:off x="3813176" y="1274480"/>
            <a:ext cx="3132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Европе переговоры больше ориентированы на процесс и подробное обсуждение.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B80C078-5487-49DB-B1C5-B78005362346}"/>
              </a:ext>
            </a:extLst>
          </p:cNvPr>
          <p:cNvSpPr/>
          <p:nvPr/>
        </p:nvSpPr>
        <p:spPr>
          <a:xfrm>
            <a:off x="661492" y="2474807"/>
            <a:ext cx="6284318" cy="1241110"/>
          </a:xfrm>
          <a:prstGeom prst="rect">
            <a:avLst/>
          </a:prstGeom>
          <a:solidFill>
            <a:schemeClr val="accent1">
              <a:lumMod val="40000"/>
              <a:lumOff val="6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077E54-DDC0-4159-B932-7B059D88C999}"/>
              </a:ext>
            </a:extLst>
          </p:cNvPr>
          <p:cNvSpPr txBox="1"/>
          <p:nvPr/>
        </p:nvSpPr>
        <p:spPr>
          <a:xfrm>
            <a:off x="611064" y="2461067"/>
            <a:ext cx="34956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Американцы стремятся к поиску компромисса и взаимовыгодного решения, чтобы как можно быстрее достичь результата.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767D3F-F2E9-4E9A-9632-8E75C9394BA8}"/>
              </a:ext>
            </a:extLst>
          </p:cNvPr>
          <p:cNvSpPr txBox="1"/>
          <p:nvPr/>
        </p:nvSpPr>
        <p:spPr>
          <a:xfrm>
            <a:off x="3995837" y="2502803"/>
            <a:ext cx="3132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Европейцы склонны к более осторожному подходу.</a:t>
            </a: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06D331B-6478-4783-8FA6-29DBA831923E}"/>
              </a:ext>
            </a:extLst>
          </p:cNvPr>
          <p:cNvSpPr/>
          <p:nvPr/>
        </p:nvSpPr>
        <p:spPr>
          <a:xfrm>
            <a:off x="671017" y="3715914"/>
            <a:ext cx="6284318" cy="12411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5E884-AE9A-4394-93CB-2E576D031E00}"/>
              </a:ext>
            </a:extLst>
          </p:cNvPr>
          <p:cNvSpPr txBox="1"/>
          <p:nvPr/>
        </p:nvSpPr>
        <p:spPr>
          <a:xfrm>
            <a:off x="759172" y="3673604"/>
            <a:ext cx="294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Американская культура переговоров относительно неформальна, и решения часто принимаются быстро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D5A4B0-5562-42B4-A82C-27F6935EA069}"/>
              </a:ext>
            </a:extLst>
          </p:cNvPr>
          <p:cNvSpPr txBox="1"/>
          <p:nvPr/>
        </p:nvSpPr>
        <p:spPr>
          <a:xfrm>
            <a:off x="3792725" y="3594957"/>
            <a:ext cx="3192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Европе принятие решений часто занимает больше времени, и важные вопросы могут быть переданы на рассмотрение руководству.</a:t>
            </a:r>
          </a:p>
        </p:txBody>
      </p:sp>
    </p:spTree>
    <p:extLst>
      <p:ext uri="{BB962C8B-B14F-4D97-AF65-F5344CB8AC3E}">
        <p14:creationId xmlns:p14="http://schemas.microsoft.com/office/powerpoint/2010/main" val="3512819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842" y="114125"/>
            <a:ext cx="5434508" cy="52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ru-RU" sz="3708" dirty="0">
                <a:solidFill>
                  <a:schemeClr val="accent1">
                    <a:lumMod val="75000"/>
                  </a:schemeClr>
                </a:solidFill>
              </a:rPr>
              <a:t>Особенности переговоров</a:t>
            </a:r>
            <a:endParaRPr lang="en-US" sz="3708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92" y="691768"/>
            <a:ext cx="6284318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50503" y="811525"/>
            <a:ext cx="27609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США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3995837" y="811525"/>
            <a:ext cx="27609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Западная Европа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661492" y="1233700"/>
            <a:ext cx="6284318" cy="12411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321D4C-466A-475D-8027-88613639AB45}"/>
              </a:ext>
            </a:extLst>
          </p:cNvPr>
          <p:cNvSpPr txBox="1"/>
          <p:nvPr/>
        </p:nvSpPr>
        <p:spPr>
          <a:xfrm>
            <a:off x="667842" y="1274480"/>
            <a:ext cx="2943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США соглашения могут заключаться на основе устных договоренностей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D1E30-A17D-4475-85D9-769313EBF1F8}"/>
              </a:ext>
            </a:extLst>
          </p:cNvPr>
          <p:cNvSpPr txBox="1"/>
          <p:nvPr/>
        </p:nvSpPr>
        <p:spPr>
          <a:xfrm>
            <a:off x="3813176" y="1274480"/>
            <a:ext cx="3132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США соглашения могут заключаться на основе устных договоренностей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B80C078-5487-49DB-B1C5-B78005362346}"/>
              </a:ext>
            </a:extLst>
          </p:cNvPr>
          <p:cNvSpPr/>
          <p:nvPr/>
        </p:nvSpPr>
        <p:spPr>
          <a:xfrm>
            <a:off x="661492" y="2474807"/>
            <a:ext cx="6284318" cy="1241110"/>
          </a:xfrm>
          <a:prstGeom prst="rect">
            <a:avLst/>
          </a:prstGeom>
          <a:solidFill>
            <a:schemeClr val="accent1">
              <a:lumMod val="40000"/>
              <a:lumOff val="6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077E54-DDC0-4159-B932-7B059D88C999}"/>
              </a:ext>
            </a:extLst>
          </p:cNvPr>
          <p:cNvSpPr txBox="1"/>
          <p:nvPr/>
        </p:nvSpPr>
        <p:spPr>
          <a:xfrm>
            <a:off x="667842" y="2474805"/>
            <a:ext cx="294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Американцы часто сосредоточены на достижении результатов в рамках конкретной сделки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767D3F-F2E9-4E9A-9632-8E75C9394BA8}"/>
              </a:ext>
            </a:extLst>
          </p:cNvPr>
          <p:cNvSpPr txBox="1"/>
          <p:nvPr/>
        </p:nvSpPr>
        <p:spPr>
          <a:xfrm>
            <a:off x="3863604" y="2474806"/>
            <a:ext cx="3132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Европейцы придают большое значение долгосрочным отношениям и постепенному выстраиванию доверия.</a:t>
            </a: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06D331B-6478-4783-8FA6-29DBA831923E}"/>
              </a:ext>
            </a:extLst>
          </p:cNvPr>
          <p:cNvSpPr/>
          <p:nvPr/>
        </p:nvSpPr>
        <p:spPr>
          <a:xfrm>
            <a:off x="671017" y="3715914"/>
            <a:ext cx="6284318" cy="12411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5E884-AE9A-4394-93CB-2E576D031E00}"/>
              </a:ext>
            </a:extLst>
          </p:cNvPr>
          <p:cNvSpPr txBox="1"/>
          <p:nvPr/>
        </p:nvSpPr>
        <p:spPr>
          <a:xfrm>
            <a:off x="759172" y="3673604"/>
            <a:ext cx="294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Американцы больше ориентированы на динамичные и инновационные решения.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D5A4B0-5562-42B4-A82C-27F6935EA069}"/>
              </a:ext>
            </a:extLst>
          </p:cNvPr>
          <p:cNvSpPr txBox="1"/>
          <p:nvPr/>
        </p:nvSpPr>
        <p:spPr>
          <a:xfrm>
            <a:off x="3803651" y="3687921"/>
            <a:ext cx="29436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Европейцы отдают предпочтение устойчивым и стабильным решениям, ориентированным на долговременную выгоду.</a:t>
            </a:r>
          </a:p>
        </p:txBody>
      </p:sp>
    </p:spTree>
    <p:extLst>
      <p:ext uri="{BB962C8B-B14F-4D97-AF65-F5344CB8AC3E}">
        <p14:creationId xmlns:p14="http://schemas.microsoft.com/office/powerpoint/2010/main" val="24893043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469</Words>
  <Application>Microsoft Office PowerPoint</Application>
  <PresentationFormat>Широкоэкранный</PresentationFormat>
  <Paragraphs>82</Paragraphs>
  <Slides>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Libre Baskerville</vt:lpstr>
      <vt:lpstr>Open Sans</vt:lpstr>
      <vt:lpstr>Symbol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kitty swirth</dc:creator>
  <cp:lastModifiedBy>kitty swirth</cp:lastModifiedBy>
  <cp:revision>8</cp:revision>
  <dcterms:created xsi:type="dcterms:W3CDTF">2024-10-31T16:55:58Z</dcterms:created>
  <dcterms:modified xsi:type="dcterms:W3CDTF">2024-11-06T14:11:26Z</dcterms:modified>
</cp:coreProperties>
</file>