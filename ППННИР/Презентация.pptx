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7" r:id="rId3"/>
    <p:sldId id="263" r:id="rId4"/>
    <p:sldId id="266" r:id="rId5"/>
    <p:sldId id="269" r:id="rId6"/>
    <p:sldId id="270" r:id="rId7"/>
    <p:sldId id="271" r:id="rId8"/>
    <p:sldId id="272" r:id="rId9"/>
    <p:sldId id="273" r:id="rId10"/>
    <p:sldId id="268" r:id="rId11"/>
    <p:sldId id="262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6439" autoAdjust="0"/>
  </p:normalViewPr>
  <p:slideViewPr>
    <p:cSldViewPr snapToGrid="0" showGuides="1">
      <p:cViewPr varScale="1">
        <p:scale>
          <a:sx n="85" d="100"/>
          <a:sy n="85" d="100"/>
        </p:scale>
        <p:origin x="744" y="53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4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B95B380-F371-4322-87FE-0E51703779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F4307B-24CD-4739-A779-092374B65D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B3E31-2838-4EFC-A167-11E010CC295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841C0A-F6B0-42EE-9835-88429EDD13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F50411-433B-454A-A3E8-C98D47E653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33185-3515-459B-9259-7C7546D66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143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1150D-001A-413B-964F-7A81B33E378A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2E532-6C8F-4F71-9BA9-3023753D43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61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18.12.2025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4315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C1C127-BDB2-4D0F-B587-701998F716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32369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935001-F611-48AA-8CCD-5608B23DE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>
            <a:extLst>
              <a:ext uri="{FF2B5EF4-FFF2-40B4-BE49-F238E27FC236}">
                <a16:creationId xmlns:a16="http://schemas.microsoft.com/office/drawing/2014/main" id="{C0B80ED3-DC8A-42DC-BC4B-95F5485A2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C439BE-A362-4687-BF3E-E918BF66BC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86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CB95F22-9E2C-4211-AAFB-5B5D997EC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>
            <a:extLst>
              <a:ext uri="{FF2B5EF4-FFF2-40B4-BE49-F238E27FC236}">
                <a16:creationId xmlns:a16="http://schemas.microsoft.com/office/drawing/2014/main" id="{FCAB735F-6D60-44D5-9A62-77B6C2546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F151EA6-8C1E-47EE-BE7F-A9D10786B8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0081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C343B821-FE49-4211-9520-831C20CD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D51B9364-5DB4-4AFA-AFCD-E6626B227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C6D272EC-4FE5-4856-BBBD-4970EEA3A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A42FF725-7571-4F98-B64F-FA437E55E25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B6E80F-14C0-49FD-B3E3-C912471678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2129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935001-F611-48AA-8CCD-5608B23DE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>
            <a:extLst>
              <a:ext uri="{FF2B5EF4-FFF2-40B4-BE49-F238E27FC236}">
                <a16:creationId xmlns:a16="http://schemas.microsoft.com/office/drawing/2014/main" id="{D51B9364-5DB4-4AFA-AFCD-E6626B227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E237B4B3-823E-4C5E-A8C7-573524382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3D2DADC0-3A47-4A03-916A-647FD2D4C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45DF89-D09B-43D0-AF95-90F81E3E49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4054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10DDC-3547-4683-AC65-B0D9C447F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0052F-71FF-4783-BF9B-3D24EB9A2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4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8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51" r:id="rId3"/>
    <p:sldLayoutId id="2147483661" r:id="rId4"/>
    <p:sldLayoutId id="2147483662" r:id="rId5"/>
    <p:sldLayoutId id="2147483663" r:id="rId6"/>
    <p:sldLayoutId id="214748366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22DD62B-A6E1-D847-AC65-0FFC5C31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651"/>
            <a:ext cx="10515600" cy="3678490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Получение первичных навыков научно-исследовательской работы</a:t>
            </a:r>
            <a:br>
              <a:rPr lang="ru-RU" sz="4400" dirty="0"/>
            </a:br>
            <a:br>
              <a:rPr lang="ru-RU" sz="4400" dirty="0"/>
            </a:br>
            <a:r>
              <a:rPr lang="ru-RU" sz="4400" dirty="0"/>
              <a:t>Тема практики: Современные подходы к созданию облачных платформ и инфраструктуры</a:t>
            </a:r>
            <a:endParaRPr lang="ru-RU" sz="40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5CFFF6C-0D1D-714B-92AD-A47523416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482" y="5497942"/>
            <a:ext cx="4140200" cy="365125"/>
          </a:xfrm>
        </p:spPr>
        <p:txBody>
          <a:bodyPr/>
          <a:lstStyle/>
          <a:p>
            <a:r>
              <a:rPr lang="ru-RU" sz="2000" dirty="0"/>
              <a:t>И.Г. Афанасьева</a:t>
            </a:r>
            <a:br>
              <a:rPr lang="ru-RU" sz="2000" dirty="0"/>
            </a:br>
            <a:r>
              <a:rPr lang="ru-RU" sz="2000" dirty="0"/>
              <a:t>А.А. Танцерев, 594-2</a:t>
            </a: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2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Место и сроки прохождения практики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9787" y="1905000"/>
            <a:ext cx="9592099" cy="3733801"/>
          </a:xfrm>
        </p:spPr>
        <p:txBody>
          <a:bodyPr/>
          <a:lstStyle/>
          <a:p>
            <a:pPr algn="l">
              <a:lnSpc>
                <a:spcPts val="3672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Место</a:t>
            </a:r>
            <a:r>
              <a:rPr lang="en-US" sz="2400" b="1" dirty="0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прохождения</a:t>
            </a:r>
            <a:r>
              <a:rPr lang="en-US" sz="2400" b="1" dirty="0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практики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Томский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государственный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университет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систем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управления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радиоэлектроники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(ТУСУР)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на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кафедре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экономической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математики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информатики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статистики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(ЭМИС).</a:t>
            </a:r>
          </a:p>
          <a:p>
            <a:pPr algn="l">
              <a:lnSpc>
                <a:spcPts val="3672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l">
              <a:lnSpc>
                <a:spcPts val="3672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Сроки</a:t>
            </a:r>
            <a:r>
              <a:rPr lang="en-US" sz="2400" b="1" dirty="0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прохождения</a:t>
            </a:r>
            <a:r>
              <a:rPr lang="en-US" sz="2400" b="1" dirty="0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практики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с 1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сентября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по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30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декабря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2025 </a:t>
            </a:r>
            <a:r>
              <a:rPr lang="en-US" sz="2400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года</a:t>
            </a: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1355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3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Цель и задачи  практики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749300" y="1277271"/>
            <a:ext cx="10429353" cy="4714741"/>
          </a:xfrm>
        </p:spPr>
        <p:txBody>
          <a:bodyPr/>
          <a:lstStyle/>
          <a:p>
            <a:pPr algn="just"/>
            <a:r>
              <a:rPr lang="ru-RU" sz="2400" dirty="0"/>
              <a:t>Целью практики является получение первичных навыков научно-исследовательской деятельности студента.</a:t>
            </a:r>
          </a:p>
          <a:p>
            <a:pPr algn="just"/>
            <a:r>
              <a:rPr lang="ru-RU" sz="2400" dirty="0"/>
              <a:t>Задачи практики: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Определение значения научно-исследовательской деятельности студента в будущей профессиональной деятельности;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Знакомство с методами и средствами научного исследования;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Выделение основных этапов научно-исследовательской деятельности;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Применение навыков научно-исследовательской деятельности в рамках индивидуального задания.</a:t>
            </a:r>
          </a:p>
        </p:txBody>
      </p:sp>
    </p:spTree>
    <p:extLst>
      <p:ext uri="{BB962C8B-B14F-4D97-AF65-F5344CB8AC3E}">
        <p14:creationId xmlns:p14="http://schemas.microsoft.com/office/powerpoint/2010/main" val="4071042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4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Логика научного исследования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474695"/>
            <a:ext cx="9335153" cy="3733801"/>
          </a:xfrm>
        </p:spPr>
        <p:txBody>
          <a:bodyPr/>
          <a:lstStyle/>
          <a:p>
            <a:pPr algn="just"/>
            <a:r>
              <a:rPr lang="ru-RU" dirty="0">
                <a:effectLst/>
              </a:rPr>
              <a:t>Научное исследование — это процесс познания, направленный на выявление свойств и закономерностей объекта для создания и внедрения инновационных решений.</a:t>
            </a:r>
            <a:endParaRPr lang="en-US" dirty="0">
              <a:effectLst/>
            </a:endParaRPr>
          </a:p>
          <a:p>
            <a:pPr algn="just"/>
            <a:r>
              <a:rPr lang="ru-RU" dirty="0"/>
              <a:t>1. Проектировочная фаза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Определение проблемы ("знание о незнании").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Выделение объекта и предмета исследования.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Постановка цели и формулировка гипотезы (научного предположения).</a:t>
            </a:r>
          </a:p>
          <a:p>
            <a:pPr algn="just"/>
            <a:r>
              <a:rPr lang="ru-RU" dirty="0"/>
              <a:t>2. Технологическая фаза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Работа с эмпирическим материалом: сбор, систематизация и анализ данных.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Практическая проверка подходов с использованием различных методов.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Получение результатов для подтверждения или опровержения гипотезы.</a:t>
            </a:r>
          </a:p>
          <a:p>
            <a:pPr algn="just"/>
            <a:r>
              <a:rPr lang="ru-RU" dirty="0"/>
              <a:t>3. Рефлексивная фаза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Оценка полученных результатов.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Формирование выводов и рекомендаций.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Проверка соответствия результатов поставленной цели.</a:t>
            </a:r>
          </a:p>
        </p:txBody>
      </p:sp>
    </p:spTree>
    <p:extLst>
      <p:ext uri="{BB962C8B-B14F-4D97-AF65-F5344CB8AC3E}">
        <p14:creationId xmlns:p14="http://schemas.microsoft.com/office/powerpoint/2010/main" val="300427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5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263720"/>
            <a:ext cx="8906435" cy="786047"/>
          </a:xfrm>
        </p:spPr>
        <p:txBody>
          <a:bodyPr>
            <a:normAutofit fontScale="90000"/>
          </a:bodyPr>
          <a:lstStyle/>
          <a:p>
            <a:pPr algn="just">
              <a:lnSpc>
                <a:spcPts val="4536"/>
              </a:lnSpc>
            </a:pP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Инструменты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организации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и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проведения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исследовательской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деятельности</a:t>
            </a:r>
            <a:endParaRPr lang="en-US" sz="2800" dirty="0">
              <a:solidFill>
                <a:srgbClr val="3C388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7022726" y="2013695"/>
            <a:ext cx="5443818" cy="3135407"/>
          </a:xfrm>
        </p:spPr>
        <p:txBody>
          <a:bodyPr/>
          <a:lstStyle/>
          <a:p>
            <a:pPr algn="just"/>
            <a:r>
              <a:rPr lang="ru-RU" sz="1800" dirty="0"/>
              <a:t>3. Формы организации:</a:t>
            </a:r>
          </a:p>
          <a:p>
            <a:pPr algn="just"/>
            <a:r>
              <a:rPr lang="ru-RU" sz="1800" dirty="0"/>
              <a:t>Индивидуальная</a:t>
            </a:r>
          </a:p>
          <a:p>
            <a:pPr algn="just"/>
            <a:r>
              <a:rPr lang="ru-RU" sz="1800" dirty="0"/>
              <a:t>Коллективная (научные группы)</a:t>
            </a:r>
          </a:p>
          <a:p>
            <a:pPr algn="just"/>
            <a:r>
              <a:rPr lang="ru-RU" sz="1800" dirty="0"/>
              <a:t>Проектная</a:t>
            </a:r>
          </a:p>
          <a:p>
            <a:pPr algn="just"/>
            <a:r>
              <a:rPr lang="ru-RU" sz="1800" dirty="0"/>
              <a:t>Сетевая (виртуальные коллаборации)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BA7873B2-A62C-786B-4AFA-10828EF21A41}"/>
              </a:ext>
            </a:extLst>
          </p:cNvPr>
          <p:cNvSpPr txBox="1">
            <a:spLocks/>
          </p:cNvSpPr>
          <p:nvPr/>
        </p:nvSpPr>
        <p:spPr>
          <a:xfrm>
            <a:off x="652182" y="1714499"/>
            <a:ext cx="5443818" cy="37338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/>
              <a:t>1. Средства исследования:</a:t>
            </a:r>
          </a:p>
          <a:p>
            <a:pPr algn="just"/>
            <a:r>
              <a:rPr lang="ru-RU" sz="1800" dirty="0"/>
              <a:t>Материальные: приборы, оборудование, техника.</a:t>
            </a:r>
          </a:p>
          <a:p>
            <a:pPr algn="just"/>
            <a:r>
              <a:rPr lang="ru-RU" sz="1800" dirty="0"/>
              <a:t>Информационные: базы данных, ПО, сетевые ресурсы.</a:t>
            </a:r>
          </a:p>
          <a:p>
            <a:pPr algn="just"/>
            <a:r>
              <a:rPr lang="ru-RU" sz="1800" dirty="0"/>
              <a:t>Логико-математические: модели, схемы.</a:t>
            </a:r>
          </a:p>
          <a:p>
            <a:pPr algn="just"/>
            <a:r>
              <a:rPr lang="ru-RU" sz="1800" dirty="0"/>
              <a:t>Языковые: термины, символы, графики.</a:t>
            </a:r>
          </a:p>
          <a:p>
            <a:pPr algn="just"/>
            <a:endParaRPr lang="ru-RU" sz="1800" dirty="0"/>
          </a:p>
          <a:p>
            <a:pPr algn="just"/>
            <a:r>
              <a:rPr lang="ru-RU" sz="1800" dirty="0"/>
              <a:t>2. Методы исследования:</a:t>
            </a:r>
          </a:p>
          <a:p>
            <a:pPr algn="just"/>
            <a:r>
              <a:rPr lang="ru-RU" sz="1800" dirty="0"/>
              <a:t>Эмпирические: наблюдение, измерение, эксперимент.</a:t>
            </a:r>
          </a:p>
          <a:p>
            <a:pPr algn="just"/>
            <a:r>
              <a:rPr lang="ru-RU" sz="1800" dirty="0"/>
              <a:t>Теоретические: анализ, синтез, моделирование, индукция, дедукция.</a:t>
            </a:r>
          </a:p>
        </p:txBody>
      </p:sp>
    </p:spTree>
    <p:extLst>
      <p:ext uri="{BB962C8B-B14F-4D97-AF65-F5344CB8AC3E}">
        <p14:creationId xmlns:p14="http://schemas.microsoft.com/office/powerpoint/2010/main" val="95810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6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263720"/>
            <a:ext cx="8960224" cy="786047"/>
          </a:xfrm>
        </p:spPr>
        <p:txBody>
          <a:bodyPr>
            <a:normAutofit fontScale="90000"/>
          </a:bodyPr>
          <a:lstStyle/>
          <a:p>
            <a:pPr algn="just">
              <a:lnSpc>
                <a:spcPts val="4536"/>
              </a:lnSpc>
            </a:pP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Основные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направления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научных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исследований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в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области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внедрения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цифровых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технологий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461682" y="1640543"/>
            <a:ext cx="10098742" cy="3733801"/>
          </a:xfrm>
        </p:spPr>
        <p:txBody>
          <a:bodyPr/>
          <a:lstStyle/>
          <a:p>
            <a:pPr algn="just"/>
            <a:r>
              <a:rPr lang="ru-RU" sz="1400" dirty="0">
                <a:effectLst/>
              </a:rPr>
              <a:t>Искусственный интеллект и машинное обучение</a:t>
            </a:r>
          </a:p>
          <a:p>
            <a:pPr algn="just"/>
            <a:r>
              <a:rPr lang="ru-RU" sz="1400" dirty="0">
                <a:effectLst/>
              </a:rPr>
              <a:t>Роль: Автоматизированная обработка больших данных, построение прогнозных моделей.</a:t>
            </a:r>
          </a:p>
          <a:p>
            <a:pPr algn="just"/>
            <a:r>
              <a:rPr lang="ru-RU" sz="1400" dirty="0">
                <a:effectLst/>
              </a:rPr>
              <a:t>Примеры: Медицинская диагностика, материаловедение, климатическое моделирование, автономные транспортные системы (Университет Иннополис).</a:t>
            </a:r>
          </a:p>
          <a:p>
            <a:pPr algn="just"/>
            <a:endParaRPr lang="ru-RU" sz="1400" dirty="0">
              <a:effectLst/>
            </a:endParaRPr>
          </a:p>
          <a:p>
            <a:pPr algn="just"/>
            <a:r>
              <a:rPr lang="ru-RU" sz="1400" dirty="0">
                <a:effectLst/>
              </a:rPr>
              <a:t>Большие данные и распределённые вычисления</a:t>
            </a:r>
          </a:p>
          <a:p>
            <a:pPr algn="just"/>
            <a:r>
              <a:rPr lang="ru-RU" sz="1400" dirty="0">
                <a:effectLst/>
              </a:rPr>
              <a:t>Роль: Обработка информации в реальном времени, масштабные вычисления на облачных платформах.</a:t>
            </a:r>
          </a:p>
          <a:p>
            <a:pPr algn="just"/>
            <a:r>
              <a:rPr lang="ru-RU" sz="1400" dirty="0">
                <a:effectLst/>
              </a:rPr>
              <a:t>Пример: Проект </a:t>
            </a:r>
            <a:r>
              <a:rPr lang="ru-RU" sz="1400" dirty="0" err="1">
                <a:effectLst/>
              </a:rPr>
              <a:t>ComPass</a:t>
            </a:r>
            <a:r>
              <a:rPr lang="ru-RU" sz="1400" dirty="0">
                <a:effectLst/>
              </a:rPr>
              <a:t> ТГУ — анализ данных для автоматического подбора языковых собеседников.</a:t>
            </a:r>
          </a:p>
          <a:p>
            <a:pPr algn="just"/>
            <a:endParaRPr lang="ru-RU" sz="1400" dirty="0">
              <a:effectLst/>
            </a:endParaRPr>
          </a:p>
          <a:p>
            <a:pPr algn="just"/>
            <a:r>
              <a:rPr lang="ru-RU" sz="1400" dirty="0">
                <a:effectLst/>
              </a:rPr>
              <a:t>Виртуальные/дополненная реальность и симуляции</a:t>
            </a:r>
          </a:p>
          <a:p>
            <a:pPr algn="just"/>
            <a:r>
              <a:rPr lang="ru-RU" sz="1400" dirty="0">
                <a:effectLst/>
              </a:rPr>
              <a:t>Роль: Безопасная отработка экспериментов, визуализация сложных моделей, создание цифровых двойников.</a:t>
            </a:r>
          </a:p>
          <a:p>
            <a:pPr algn="just"/>
            <a:r>
              <a:rPr lang="ru-RU" sz="1400" dirty="0">
                <a:effectLst/>
              </a:rPr>
              <a:t>Примеры: Виртуальные лаборатории, конструктор для цифровых двойников роботов (</a:t>
            </a:r>
            <a:r>
              <a:rPr lang="ru-RU" sz="1400" dirty="0" err="1">
                <a:effectLst/>
              </a:rPr>
              <a:t>Fluctio</a:t>
            </a:r>
            <a:r>
              <a:rPr lang="ru-RU" sz="1400" dirty="0">
                <a:effectLst/>
              </a:rPr>
              <a:t> </a:t>
            </a:r>
            <a:r>
              <a:rPr lang="ru-RU" sz="1400" dirty="0" err="1">
                <a:effectLst/>
              </a:rPr>
              <a:t>Sim</a:t>
            </a:r>
            <a:r>
              <a:rPr lang="ru-RU" sz="1400" dirty="0">
                <a:effectLst/>
              </a:rPr>
              <a:t>), шоу дронов (ТУСУР).</a:t>
            </a:r>
          </a:p>
        </p:txBody>
      </p:sp>
    </p:spTree>
    <p:extLst>
      <p:ext uri="{BB962C8B-B14F-4D97-AF65-F5344CB8AC3E}">
        <p14:creationId xmlns:p14="http://schemas.microsoft.com/office/powerpoint/2010/main" val="415116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7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1" y="263720"/>
            <a:ext cx="9112624" cy="786047"/>
          </a:xfrm>
        </p:spPr>
        <p:txBody>
          <a:bodyPr>
            <a:normAutofit fontScale="90000"/>
          </a:bodyPr>
          <a:lstStyle/>
          <a:p>
            <a:pPr algn="just">
              <a:lnSpc>
                <a:spcPts val="4536"/>
              </a:lnSpc>
            </a:pP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Инновационные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площадки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для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реализации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научного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потенциала</a:t>
            </a:r>
            <a:r>
              <a:rPr lang="en-US" sz="2800" dirty="0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800" dirty="0" err="1">
                <a:solidFill>
                  <a:srgbClr val="3C388D"/>
                </a:solidFill>
                <a:latin typeface="Verdana"/>
                <a:ea typeface="Verdana"/>
                <a:cs typeface="Verdana"/>
                <a:sym typeface="Verdana"/>
              </a:rPr>
              <a:t>студентов</a:t>
            </a:r>
            <a:endParaRPr lang="en-US" sz="2800" dirty="0">
              <a:solidFill>
                <a:srgbClr val="3C388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CB6531C-7398-C856-47B0-68EA3E01E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005786"/>
              </p:ext>
            </p:extLst>
          </p:nvPr>
        </p:nvGraphicFramePr>
        <p:xfrm>
          <a:off x="1093694" y="1542873"/>
          <a:ext cx="10004612" cy="5051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306">
                  <a:extLst>
                    <a:ext uri="{9D8B030D-6E8A-4147-A177-3AD203B41FA5}">
                      <a16:colId xmlns:a16="http://schemas.microsoft.com/office/drawing/2014/main" val="2908850533"/>
                    </a:ext>
                  </a:extLst>
                </a:gridCol>
                <a:gridCol w="5002306">
                  <a:extLst>
                    <a:ext uri="{9D8B030D-6E8A-4147-A177-3AD203B41FA5}">
                      <a16:colId xmlns:a16="http://schemas.microsoft.com/office/drawing/2014/main" val="3381183873"/>
                    </a:ext>
                  </a:extLst>
                </a:gridCol>
              </a:tblGrid>
              <a:tr h="386757">
                <a:tc>
                  <a:txBody>
                    <a:bodyPr/>
                    <a:lstStyle/>
                    <a:p>
                      <a:r>
                        <a:rPr lang="ru-RU" dirty="0"/>
                        <a:t>Площадка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latin typeface="quote-cjk-patch"/>
                        </a:rPr>
                        <a:t>Основная функция / Предложение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05657666"/>
                  </a:ext>
                </a:extLst>
              </a:tr>
              <a:tr h="828766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Инновационный центр «Сколково»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Крупнейшая экосистема: гранты, налоговые льготы, акселераторы, современные лаборатории.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375027"/>
                  </a:ext>
                </a:extLst>
              </a:tr>
              <a:tr h="884017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Университет Иннополис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Интегрированная IT-площадка: работа в лабораториях,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хакатоны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 проекты с индустриальными партнёрами.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36527618"/>
                  </a:ext>
                </a:extLst>
              </a:tr>
              <a:tr h="828766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Агентство стратегических инициатив (АСИ)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Развитие молодёжного предпринимательства: инициатива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«Стартап как диплом»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711073"/>
                  </a:ext>
                </a:extLst>
              </a:tr>
              <a:tr h="1077395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Фонд содействия инновациям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Грантовая поддержка на ранних стадиях: программы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«УМНИК»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«Студенческий стартап»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15913"/>
                  </a:ext>
                </a:extLst>
              </a:tr>
              <a:tr h="828766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Университетские технопарки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Локальная экосистема: доступ к оборудованию для прототипирования, связь с индустрией.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964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58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8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Индивидуальное задание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309036"/>
            <a:ext cx="10134600" cy="4682976"/>
          </a:xfrm>
        </p:spPr>
        <p:txBody>
          <a:bodyPr/>
          <a:lstStyle/>
          <a:p>
            <a:pPr algn="just"/>
            <a:r>
              <a:rPr lang="ru-RU" dirty="0"/>
              <a:t>Тема: Современные подходы к созданию облачных платформ и инфраструктуры.</a:t>
            </a:r>
          </a:p>
          <a:p>
            <a:pPr algn="just">
              <a:spcAft>
                <a:spcPts val="1000"/>
              </a:spcAft>
            </a:pPr>
            <a:r>
              <a:rPr lang="ru-RU" dirty="0"/>
              <a:t>Актуальность: необходимость обеспечения технологического суверенитета и повышения конкурентоспособности отечественных решений в условиях активного развития рынка облачных технологий и цифровой трансформации.</a:t>
            </a:r>
          </a:p>
          <a:p>
            <a:pPr algn="just">
              <a:spcAft>
                <a:spcPts val="1000"/>
              </a:spcAft>
            </a:pPr>
            <a:r>
              <a:rPr lang="ru-RU" dirty="0"/>
              <a:t>Проблема: нехватка систематизированных подходов к выбору архитектурных решений и конфигурации облачной инфраструктуры в зависимости от специфики решаемых задач</a:t>
            </a:r>
          </a:p>
          <a:p>
            <a:pPr algn="just">
              <a:spcAft>
                <a:spcPts val="1000"/>
              </a:spcAft>
            </a:pPr>
            <a:r>
              <a:rPr lang="ru-RU" dirty="0"/>
              <a:t>Объект: </a:t>
            </a:r>
            <a:r>
              <a:rPr lang="ru-RU" dirty="0">
                <a:effectLst/>
              </a:rPr>
              <a:t>облачные платформы как комплексные программно-аппаратные системы, обеспечивающие предоставление вычислительных ресурсов, средств хранения данных и прикладных сервисов через сетевую инфраструктуру. </a:t>
            </a:r>
            <a:endParaRPr lang="ru-RU" sz="1400" dirty="0"/>
          </a:p>
          <a:p>
            <a:pPr algn="just"/>
            <a:r>
              <a:rPr lang="ru-RU" dirty="0"/>
              <a:t>Предмет: </a:t>
            </a:r>
            <a:r>
              <a:rPr lang="ru-RU" dirty="0">
                <a:effectLst/>
              </a:rPr>
              <a:t>архитектурные подходы и методы проектирования облачной инфраструктуры, адаптированные под специфику различных типов вычислительных задач и организационных требований.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82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9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800" dirty="0"/>
              <a:t>Индивидуальное задание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309036"/>
            <a:ext cx="10690412" cy="3733801"/>
          </a:xfrm>
        </p:spPr>
        <p:txBody>
          <a:bodyPr/>
          <a:lstStyle/>
          <a:p>
            <a:pPr algn="just"/>
            <a:r>
              <a:rPr lang="ru-RU" dirty="0"/>
              <a:t>1. Классификация типовых задач: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Выделение категорий рабочих нагрузок (например, высокопроизводительные вычисления (HPC), веб-приложения, обработка данных в реальном времени, машинное обучение).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Определение для каждой категории ключевых требований к задержкам, пропускной способности, хранению данных и масштабируемости.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2. Сопоставление с моделями облаков: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Создание матрицы соответствия между типами задач и оптимальными моделями (</a:t>
            </a:r>
            <a:r>
              <a:rPr lang="ru-RU" dirty="0" err="1"/>
              <a:t>IaaS</a:t>
            </a:r>
            <a:r>
              <a:rPr lang="ru-RU" dirty="0"/>
              <a:t>/</a:t>
            </a:r>
            <a:r>
              <a:rPr lang="ru-RU" dirty="0" err="1"/>
              <a:t>PaaS</a:t>
            </a:r>
            <a:r>
              <a:rPr lang="ru-RU" dirty="0"/>
              <a:t>/</a:t>
            </a:r>
            <a:r>
              <a:rPr lang="ru-RU" dirty="0" err="1"/>
              <a:t>SaaS</a:t>
            </a:r>
            <a:r>
              <a:rPr lang="ru-RU" dirty="0"/>
              <a:t>) и типами развёртывания (публичное/частное/гибридное облако).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3. Разработка шаблонов и чек-листов: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Формирование наборов рекомендуемых сервисов, настроек и технологий (например, выбор СУБД, стратегия кеширования, инструменты </a:t>
            </a:r>
            <a:r>
              <a:rPr lang="ru-RU" dirty="0" err="1"/>
              <a:t>оркестрации</a:t>
            </a:r>
            <a:r>
              <a:rPr lang="ru-RU" dirty="0"/>
              <a:t>) для каждого сценария.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Создание чек-листов для оценки производительности, безопасности и стоимости (TCO).</a:t>
            </a:r>
          </a:p>
        </p:txBody>
      </p:sp>
    </p:spTree>
    <p:extLst>
      <p:ext uri="{BB962C8B-B14F-4D97-AF65-F5344CB8AC3E}">
        <p14:creationId xmlns:p14="http://schemas.microsoft.com/office/powerpoint/2010/main" val="3576104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pPr/>
              <a:t>10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56129" y="325765"/>
            <a:ext cx="7316804" cy="786047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Заключение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749300" y="985574"/>
            <a:ext cx="9179976" cy="5371563"/>
          </a:xfrm>
        </p:spPr>
        <p:txBody>
          <a:bodyPr/>
          <a:lstStyle/>
          <a:p>
            <a:pPr algn="just"/>
            <a:r>
              <a:rPr lang="ru-RU" dirty="0"/>
              <a:t>В ходе учебной практики были успешно освоены основы методологии научно-исследовательской деятельности и применены на практике в рамках самостоятельного исследования.</a:t>
            </a:r>
            <a:endParaRPr lang="ru-RU" b="1" dirty="0"/>
          </a:p>
          <a:p>
            <a:r>
              <a:rPr lang="ru-RU" dirty="0"/>
              <a:t>Основные достигнутые результаты: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изучены логика, этапы и инструментарий научного исследования;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проанализированы актуальные направления развития информационных технологий, включая искусственный интеллект и обработку больших 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исследованы инновационные площадки для реализации научного потенциала студентов;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проведено и оформлено самостоятельное исследование по применению нейросетей в обработке естественного языка (NLP).</a:t>
            </a:r>
          </a:p>
          <a:p>
            <a:r>
              <a:rPr lang="ru-RU" dirty="0"/>
              <a:t>Сформированные компетенции: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умение формулировать цель, задачи и гипотезу исследования;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навык работы с научной литературой, поиска и критического анализа информации;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способность применять теоретические знания для анализа технологий и архитектурных решений;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готовность к оформлению и презентации результатов исследования.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1406443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8179" y="2568381"/>
            <a:ext cx="9095642" cy="1129567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  <a:br>
              <a:rPr lang="ru-RU" dirty="0"/>
            </a:b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42255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2" id="{E0AA2961-2462-44C9-A2FC-FB4DE33C9300}" vid="{F3B6674C-7AEE-4CD1-A37F-EC22DDAAFAA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tusur_ppt_presentation</Template>
  <TotalTime>400</TotalTime>
  <Words>874</Words>
  <Application>Microsoft Office PowerPoint</Application>
  <PresentationFormat>Широкоэкранный</PresentationFormat>
  <Paragraphs>106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quote-cjk-patch</vt:lpstr>
      <vt:lpstr>Verdana</vt:lpstr>
      <vt:lpstr>Verdana Bold</vt:lpstr>
      <vt:lpstr>Wingdings</vt:lpstr>
      <vt:lpstr>Тема Office</vt:lpstr>
      <vt:lpstr>Получение первичных навыков научно-исследовательской работы  Тема практики: Современные подходы к созданию облачных платформ и инфраструктуры</vt:lpstr>
      <vt:lpstr>Место и сроки прохождения практики</vt:lpstr>
      <vt:lpstr>Цель и задачи  практики</vt:lpstr>
      <vt:lpstr>Логика научного исследования</vt:lpstr>
      <vt:lpstr>Инструменты организации и проведения исследовательской деятельности</vt:lpstr>
      <vt:lpstr>Основные направления научных исследований в области внедрения цифровых технологий </vt:lpstr>
      <vt:lpstr>Инновационные площадки для реализации научного потенциала студентов</vt:lpstr>
      <vt:lpstr>Индивидуальное задание</vt:lpstr>
      <vt:lpstr>Индивидуальное задание</vt:lpstr>
      <vt:lpstr>Заключение</vt:lpstr>
      <vt:lpstr>Спасибо за внимание!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kitty swirth</cp:lastModifiedBy>
  <cp:revision>23</cp:revision>
  <dcterms:created xsi:type="dcterms:W3CDTF">2022-01-31T05:33:16Z</dcterms:created>
  <dcterms:modified xsi:type="dcterms:W3CDTF">2025-12-18T04:56:21Z</dcterms:modified>
</cp:coreProperties>
</file>