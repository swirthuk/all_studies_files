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8CD4"/>
    <a:srgbClr val="A778CA"/>
    <a:srgbClr val="9878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03" autoAdjust="0"/>
  </p:normalViewPr>
  <p:slideViewPr>
    <p:cSldViewPr snapToGrid="0">
      <p:cViewPr varScale="1">
        <p:scale>
          <a:sx n="106" d="100"/>
          <a:sy n="106" d="100"/>
        </p:scale>
        <p:origin x="7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41509-B597-42CC-A8F6-612A9061679A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CAAD29-8D4A-457C-8B81-AA8EBBFA02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583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AAD29-8D4A-457C-8B81-AA8EBBFA020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73883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CAAD29-8D4A-457C-8B81-AA8EBBFA020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3653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59F980-BF3D-484F-9E3A-AB9C1FEE2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0A35AF3-EF1F-4F11-B5AF-D5D6EA11D0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D3107B-3A3C-4D37-8D72-96FBC111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1F8D2C-D0C8-4D42-9BCE-12420F07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AC8372-D2A6-453D-BE2E-50F588559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380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3A3E9-3369-4ABE-899C-56636FF88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3F0D06-684C-4FEB-85FE-E7E7CE30E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4E6B479-79BF-4120-B8D2-A3B735559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694AD0-27BC-4797-A467-C1C45E90B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EE63B6-66D8-47C5-A687-0EDC9B1FA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753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6E985-43B4-43A8-B41B-EDAAC356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AEC-727F-4E37-AEF2-DAFF1415F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9144DE-106D-47B8-A150-FB31A3467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FB5DB7-076F-47F0-B9A2-76E3D801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12D4190-EC45-4122-8C13-2B5C37110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055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952F53-C29B-49AB-9CCD-A745DC0BD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98BC7E-4029-401A-8C67-6C5BCC70E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B1C75F3-49D5-428C-82C3-D37C99604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EFE0AA-00BD-40DF-B419-2A110F970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A781356-8E84-4EC4-A7D7-5221649BD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E6C298-AF22-41F0-BB22-CD4218AF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5614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F83628-CCF6-4EE9-85E7-FF9D89D78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6B5C18-C1D6-48C0-B348-A32560BE1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8337D9-6836-4874-9AB2-0EF5C5A64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148F42-31FB-4F96-9E6D-67FA1C1A5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45DB89D-0904-441B-9ABA-5059E6556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865B090-1ADA-4B7B-994C-587B410F1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CA0553-1978-4FFF-9700-41ADF7E4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77AA1F-CE91-450D-A92F-3A53606C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617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FB7297-5727-4A27-95A0-AD5AA0B1B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BD24322-2968-4D27-BB30-245BAFCE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74F7953-7376-4566-B196-31100CCBA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A0DE3AA-B922-4DE8-BF3A-C212A6E3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553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27A2F4-DAF5-4189-80A8-DDD1187B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0E3AC41-3A22-47AF-B3FB-752C0512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E03F72-0801-40AE-9582-72616BAB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2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19E2F-6896-418E-BA43-F8C1A26F6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0D8025-328B-47AD-89D7-BE4F9599C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C5A474F-9FBE-4CCB-A78A-FFC7AD0C3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6E4FAF-EAE0-42D2-AA40-0C9170C7F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13BE3F-2F84-4FC4-91B9-135BED2A5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4B8C92-F9BC-485E-AB3F-C1744DEE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2798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C4427-18C3-4ADF-907E-C924075CA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22F1FD5-3F8E-443A-9129-557804FD88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402DC46-8AFB-4367-B83A-BBC7BEDBC2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BCA74D-5322-4EA8-893D-2BDDC4C0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F94589-77AF-4308-8586-2299DCD3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B7C156-C768-4F7D-9CB8-10828D06B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672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1A533-D821-49A5-A893-547139C54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9F66648-E356-4E93-8299-9B9F43EFA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105DDD-69B4-4A65-A171-A80C2A216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BC5036-20B3-47B4-8BE6-4E9BB358D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281C63-871E-4831-AFC9-3206366B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990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F7D33DD-7444-4A95-B45B-41C40355BC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802E0B7-6997-4EC8-94CD-3B22B3DA46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726F44-7235-41DA-964F-703E6DAD4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B944B1-DFC9-4351-9527-B75931CF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032BA4-0C5E-4C40-8616-89D0F02AC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23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216CE-BE70-4E6C-9C20-BD0884CF9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8AA4C9-AEF9-4674-B80E-8EEC3951F4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887761-D837-4C44-96B1-CAFD2F16AF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8DF6A0-50B5-41F6-895B-EFC313C55713}" type="datetimeFigureOut">
              <a:rPr lang="ru-RU" smtClean="0"/>
              <a:t>25.10.2024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CB94D4-5237-4776-90AE-9EDD639BC2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92B3C7-A766-41BA-8FE8-8AD46DCC46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42B04-08F9-4945-B281-4EC907A84BA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8114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46506F37-7376-4D06-9680-63AC7F6B56E4}"/>
              </a:ext>
            </a:extLst>
          </p:cNvPr>
          <p:cNvGrpSpPr/>
          <p:nvPr/>
        </p:nvGrpSpPr>
        <p:grpSpPr>
          <a:xfrm>
            <a:off x="338997" y="765072"/>
            <a:ext cx="9652728" cy="4185761"/>
            <a:chOff x="552450" y="438150"/>
            <a:chExt cx="9652728" cy="418576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1191669-68AE-4BF1-87A2-2940D6650CFA}"/>
                </a:ext>
              </a:extLst>
            </p:cNvPr>
            <p:cNvSpPr txBox="1"/>
            <p:nvPr/>
          </p:nvSpPr>
          <p:spPr>
            <a:xfrm>
              <a:off x="552450" y="438150"/>
              <a:ext cx="4434419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8000" b="0" i="0" cap="all" dirty="0">
                  <a:solidFill>
                    <a:srgbClr val="FFFFFF"/>
                  </a:solidFill>
                  <a:effectLst/>
                </a:rPr>
                <a:t>Культура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44EED25-D84B-4C83-9054-A7DB26E1AB69}"/>
                </a:ext>
              </a:extLst>
            </p:cNvPr>
            <p:cNvSpPr txBox="1"/>
            <p:nvPr/>
          </p:nvSpPr>
          <p:spPr>
            <a:xfrm>
              <a:off x="552450" y="1761589"/>
              <a:ext cx="9652728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b="0" i="0" dirty="0">
                  <a:solidFill>
                    <a:srgbClr val="FFFFFF"/>
                  </a:solidFill>
                  <a:effectLst/>
                </a:rPr>
                <a:t>В центре проекта — расширение доступности культурных благ и возможностей участия в создании культурных ценностей для жителей не только крупных городов, но и отдаленных населенных пунктов</a:t>
              </a:r>
              <a:endParaRPr lang="ru-RU" sz="3600" dirty="0"/>
            </a:p>
          </p:txBody>
        </p:sp>
      </p:grp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7CAA918-29FD-4C73-A9B8-1C623515CE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-560387"/>
            <a:ext cx="7791450" cy="2650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538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F1DC86-8212-4AAC-ACA0-F59535F81EEF}"/>
              </a:ext>
            </a:extLst>
          </p:cNvPr>
          <p:cNvSpPr txBox="1"/>
          <p:nvPr/>
        </p:nvSpPr>
        <p:spPr>
          <a:xfrm>
            <a:off x="3641642" y="0"/>
            <a:ext cx="49087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b="0" i="0" cap="all" dirty="0">
                <a:solidFill>
                  <a:srgbClr val="FFFFFF"/>
                </a:solidFill>
                <a:effectLst/>
              </a:rPr>
              <a:t>Инициативы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D57318-CC96-4ABE-8E03-C06F8FF07589}"/>
              </a:ext>
            </a:extLst>
          </p:cNvPr>
          <p:cNvSpPr txBox="1"/>
          <p:nvPr/>
        </p:nvSpPr>
        <p:spPr>
          <a:xfrm>
            <a:off x="2781833" y="826820"/>
            <a:ext cx="6628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Всего предложено 19 инициатив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0A22D0-6ACE-4841-BE60-9403053B242F}"/>
              </a:ext>
            </a:extLst>
          </p:cNvPr>
          <p:cNvSpPr txBox="1"/>
          <p:nvPr/>
        </p:nvSpPr>
        <p:spPr>
          <a:xfrm>
            <a:off x="960698" y="1473151"/>
            <a:ext cx="87273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</a:rPr>
              <a:t>Мы расскажем о трёх, а именно: про культурную среду; творческих людей; реконструкцию музеев.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01118EF5-B4C8-4ABD-A10F-FBB9574D7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090" y="3429000"/>
            <a:ext cx="3426107" cy="278461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83A4DEFD-9090-4E8C-8BBD-B9CCE46A7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946" y="3429000"/>
            <a:ext cx="3426107" cy="278461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16E3833-826C-471E-847C-8F5D7329E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805" y="3429000"/>
            <a:ext cx="3426107" cy="282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08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77C23-5C61-4823-B9D1-3C1FD217356C}"/>
              </a:ext>
            </a:extLst>
          </p:cNvPr>
          <p:cNvSpPr txBox="1"/>
          <p:nvPr/>
        </p:nvSpPr>
        <p:spPr>
          <a:xfrm>
            <a:off x="2789261" y="0"/>
            <a:ext cx="661347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cap="all" dirty="0">
                <a:solidFill>
                  <a:srgbClr val="FFFFFF"/>
                </a:solidFill>
              </a:rPr>
              <a:t>Культурная среда</a:t>
            </a:r>
            <a:endParaRPr lang="ru-RU" sz="6000" b="0" i="0" cap="all" dirty="0">
              <a:solidFill>
                <a:srgbClr val="FFFFFF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EEFB-27A7-418A-BF62-B29E2EB460D1}"/>
              </a:ext>
            </a:extLst>
          </p:cNvPr>
          <p:cNvSpPr txBox="1"/>
          <p:nvPr/>
        </p:nvSpPr>
        <p:spPr>
          <a:xfrm>
            <a:off x="960698" y="1473151"/>
            <a:ext cx="1075288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b="0" i="0" dirty="0">
                <a:solidFill>
                  <a:schemeClr val="bg1"/>
                </a:solidFill>
                <a:effectLst/>
              </a:rPr>
              <a:t>Проект предусматривает реконструкцию и капитальный ремонт 989 детских школ искусств и переоснащение не менее 1070 муниципальных библиотек по модельному стандарту, а также реконструкцию 73 детских театров и </a:t>
            </a:r>
            <a:r>
              <a:rPr lang="ru-RU" sz="3600" b="0" i="0" dirty="0" err="1">
                <a:solidFill>
                  <a:schemeClr val="bg1"/>
                </a:solidFill>
                <a:effectLst/>
              </a:rPr>
              <a:t>ТЮЗов</a:t>
            </a:r>
            <a:r>
              <a:rPr lang="ru-RU" sz="3600" b="0" i="0" dirty="0">
                <a:solidFill>
                  <a:schemeClr val="bg1"/>
                </a:solidFill>
                <a:effectLst/>
              </a:rPr>
              <a:t>*.</a:t>
            </a:r>
            <a:endParaRPr lang="ru-RU" sz="36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29370-3805-4E59-9F58-02EFABC1B87B}"/>
              </a:ext>
            </a:extLst>
          </p:cNvPr>
          <p:cNvSpPr txBox="1"/>
          <p:nvPr/>
        </p:nvSpPr>
        <p:spPr>
          <a:xfrm>
            <a:off x="8219440" y="6396335"/>
            <a:ext cx="39725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1"/>
                </a:solidFill>
              </a:rPr>
              <a:t>*ТЮЗ – Театр Юного Зрителя</a:t>
            </a:r>
          </a:p>
        </p:txBody>
      </p:sp>
    </p:spTree>
    <p:extLst>
      <p:ext uri="{BB962C8B-B14F-4D97-AF65-F5344CB8AC3E}">
        <p14:creationId xmlns:p14="http://schemas.microsoft.com/office/powerpoint/2010/main" val="2680408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77C23-5C61-4823-B9D1-3C1FD217356C}"/>
              </a:ext>
            </a:extLst>
          </p:cNvPr>
          <p:cNvSpPr txBox="1"/>
          <p:nvPr/>
        </p:nvSpPr>
        <p:spPr>
          <a:xfrm>
            <a:off x="2766563" y="46299"/>
            <a:ext cx="66588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cap="all" dirty="0">
                <a:solidFill>
                  <a:srgbClr val="FFFFFF"/>
                </a:solidFill>
              </a:rPr>
              <a:t>Творческие люди</a:t>
            </a:r>
            <a:endParaRPr lang="ru-RU" sz="6000" b="0" i="0" cap="all" dirty="0">
              <a:solidFill>
                <a:srgbClr val="FFFFFF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EEFB-27A7-418A-BF62-B29E2EB460D1}"/>
              </a:ext>
            </a:extLst>
          </p:cNvPr>
          <p:cNvSpPr txBox="1"/>
          <p:nvPr/>
        </p:nvSpPr>
        <p:spPr>
          <a:xfrm>
            <a:off x="1215341" y="856357"/>
            <a:ext cx="1008155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3600" b="0" i="0" dirty="0">
                <a:solidFill>
                  <a:schemeClr val="bg1"/>
                </a:solidFill>
                <a:effectLst/>
              </a:rPr>
              <a:t>Создано добровольческое движение «Волонтеры культуры». Присоединилось больше 250 тысяч человек.</a:t>
            </a:r>
          </a:p>
          <a:p>
            <a:pPr algn="l"/>
            <a:r>
              <a:rPr lang="ru-RU" sz="3600" b="0" i="0" dirty="0">
                <a:solidFill>
                  <a:schemeClr val="bg1"/>
                </a:solidFill>
                <a:effectLst/>
              </a:rPr>
              <a:t>Поддержку получат 600 проектов НКО*. Пройдут фестивали любительских творческих коллективов, победители получат гранты от государства, и фестивали детского творчества, будут организованы 150 культурно-образовательных программ для школьников, 48 музейных выставок, военно-исторические лагеря.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6F2F28-8D09-4F6B-B66A-42818104E7BB}"/>
              </a:ext>
            </a:extLst>
          </p:cNvPr>
          <p:cNvSpPr txBox="1"/>
          <p:nvPr/>
        </p:nvSpPr>
        <p:spPr>
          <a:xfrm>
            <a:off x="8272722" y="6488668"/>
            <a:ext cx="3919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*НКО – Некоммерческая организация</a:t>
            </a:r>
          </a:p>
        </p:txBody>
      </p:sp>
    </p:spTree>
    <p:extLst>
      <p:ext uri="{BB962C8B-B14F-4D97-AF65-F5344CB8AC3E}">
        <p14:creationId xmlns:p14="http://schemas.microsoft.com/office/powerpoint/2010/main" val="1605776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177C23-5C61-4823-B9D1-3C1FD217356C}"/>
              </a:ext>
            </a:extLst>
          </p:cNvPr>
          <p:cNvSpPr txBox="1"/>
          <p:nvPr/>
        </p:nvSpPr>
        <p:spPr>
          <a:xfrm>
            <a:off x="2070874" y="0"/>
            <a:ext cx="853252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ru-RU" sz="6000" b="0" i="0" cap="all" dirty="0">
                <a:solidFill>
                  <a:srgbClr val="FFFFFF"/>
                </a:solidFill>
                <a:effectLst/>
                <a:latin typeface="WagonCondensed"/>
              </a:rPr>
              <a:t>Реконструкция музеев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1EEFB-27A7-418A-BF62-B29E2EB460D1}"/>
              </a:ext>
            </a:extLst>
          </p:cNvPr>
          <p:cNvSpPr txBox="1"/>
          <p:nvPr/>
        </p:nvSpPr>
        <p:spPr>
          <a:xfrm>
            <a:off x="960697" y="1015663"/>
            <a:ext cx="10752882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bg1"/>
                </a:solidFill>
                <a:effectLst/>
              </a:rPr>
              <a:t>Порядка 250 региональных и муниципальных музеев будут модернизированы в РФ в 2024 году Уже преображаются 214 музеев, из них 77 - в Донецкой и Луганской народных республиках, Запорожской и Херсонской областях.</a:t>
            </a:r>
          </a:p>
          <a:p>
            <a:r>
              <a:rPr lang="ru-RU" sz="3600" dirty="0">
                <a:solidFill>
                  <a:schemeClr val="bg1"/>
                </a:solidFill>
                <a:effectLst/>
              </a:rPr>
              <a:t>Проводится ежегодный конкурс проектов субъектов Российской Федерации. Реконструкция и капитальный ремонт муниципальных музеев позволит модернизировать пространство, а также увеличить количество посещений музеев. </a:t>
            </a:r>
          </a:p>
          <a:p>
            <a:br>
              <a:rPr lang="ru-RU" sz="3600" dirty="0">
                <a:effectLst/>
              </a:rPr>
            </a:b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970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9398">
              <a:srgbClr val="9A81CA"/>
            </a:gs>
            <a:gs pos="1000">
              <a:srgbClr val="9878C6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E19F922-EFB6-459B-A519-C40DE84D4F9C}"/>
              </a:ext>
            </a:extLst>
          </p:cNvPr>
          <p:cNvSpPr txBox="1"/>
          <p:nvPr/>
        </p:nvSpPr>
        <p:spPr>
          <a:xfrm>
            <a:off x="1922261" y="23149"/>
            <a:ext cx="834747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cap="all" dirty="0">
                <a:solidFill>
                  <a:srgbClr val="FFFFFF"/>
                </a:solidFill>
              </a:rPr>
              <a:t>Управление проектом</a:t>
            </a:r>
            <a:endParaRPr lang="ru-RU" sz="6000" b="0" i="0" cap="all" dirty="0">
              <a:solidFill>
                <a:srgbClr val="FFFFFF"/>
              </a:solidFill>
              <a:effectLst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BEDCF8-AC5F-468C-B9F8-B98B7F700A88}"/>
              </a:ext>
            </a:extLst>
          </p:cNvPr>
          <p:cNvSpPr txBox="1"/>
          <p:nvPr/>
        </p:nvSpPr>
        <p:spPr>
          <a:xfrm>
            <a:off x="289367" y="911703"/>
            <a:ext cx="116486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  <a:latin typeface="YS Text"/>
              </a:rPr>
              <a:t>Р</a:t>
            </a:r>
            <a:r>
              <a:rPr lang="ru-RU" sz="3200" b="0" i="0" dirty="0">
                <a:solidFill>
                  <a:schemeClr val="bg1"/>
                </a:solidFill>
                <a:effectLst/>
                <a:latin typeface="YS Text"/>
              </a:rPr>
              <a:t>уководителем проекта является Министр культуры РФ </a:t>
            </a:r>
            <a:r>
              <a:rPr lang="ru-RU" sz="3200" b="1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Ольга Борисовна Любимова </a:t>
            </a:r>
            <a:r>
              <a:rPr lang="ru-RU" sz="3200" b="1" i="0" dirty="0">
                <a:solidFill>
                  <a:schemeClr val="bg1"/>
                </a:solidFill>
                <a:effectLst/>
              </a:rPr>
              <a:t>(31 декабря 1980 года)</a:t>
            </a:r>
            <a:endParaRPr lang="ru-RU" sz="32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D59DB2-6B26-4FB1-B2CC-561F63993DB3}"/>
              </a:ext>
            </a:extLst>
          </p:cNvPr>
          <p:cNvSpPr txBox="1"/>
          <p:nvPr/>
        </p:nvSpPr>
        <p:spPr>
          <a:xfrm>
            <a:off x="289367" y="2016909"/>
            <a:ext cx="10670724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solidFill>
                  <a:schemeClr val="bg1"/>
                </a:solidFill>
              </a:rPr>
              <a:t>Курирующим вице-премьером является </a:t>
            </a:r>
            <a:r>
              <a:rPr lang="ru-RU" sz="3200" b="1" i="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Татьяна Алексеевна Голикова</a:t>
            </a:r>
            <a:r>
              <a:rPr lang="ru-RU" sz="3200" b="1" i="0" dirty="0">
                <a:solidFill>
                  <a:schemeClr val="bg1"/>
                </a:solidFill>
                <a:effectLst/>
              </a:rPr>
              <a:t> (9 февраля 1966 года), </a:t>
            </a:r>
            <a:r>
              <a:rPr lang="ru-RU" sz="3200" b="0" i="0" dirty="0">
                <a:solidFill>
                  <a:schemeClr val="bg1"/>
                </a:solidFill>
                <a:effectLst/>
              </a:rPr>
              <a:t>которая является </a:t>
            </a:r>
            <a:r>
              <a:rPr lang="ru-RU" sz="3200" b="0" i="1" dirty="0">
                <a:solidFill>
                  <a:schemeClr val="bg1"/>
                </a:solidFill>
                <a:effectLst/>
              </a:rPr>
              <a:t>Заместителем Председателя Правительства Российской Федерации</a:t>
            </a:r>
            <a:endParaRPr lang="ru-RU" sz="3200" dirty="0">
              <a:solidFill>
                <a:schemeClr val="bg1"/>
              </a:solidFill>
            </a:endParaRPr>
          </a:p>
        </p:txBody>
      </p:sp>
      <p:pic>
        <p:nvPicPr>
          <p:cNvPr id="2050" name="Picture 2" descr="Татьяна Алексеевна Голикова">
            <a:extLst>
              <a:ext uri="{FF2B5EF4-FFF2-40B4-BE49-F238E27FC236}">
                <a16:creationId xmlns:a16="http://schemas.microsoft.com/office/drawing/2014/main" id="{7D46EF70-38BF-4FD6-978F-A379D9A05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4967" y="3979891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Ольга Борисовна Любимова">
            <a:extLst>
              <a:ext uri="{FF2B5EF4-FFF2-40B4-BE49-F238E27FC236}">
                <a16:creationId xmlns:a16="http://schemas.microsoft.com/office/drawing/2014/main" id="{13F0F672-31D4-4F89-8278-D5692DD0C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48" y="3972171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488A72-9EDE-4608-B1F0-54CCECE99271}"/>
              </a:ext>
            </a:extLst>
          </p:cNvPr>
          <p:cNvSpPr txBox="1"/>
          <p:nvPr/>
        </p:nvSpPr>
        <p:spPr>
          <a:xfrm>
            <a:off x="12181" y="6265891"/>
            <a:ext cx="5325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/>
              </a:rPr>
              <a:t>Ольга Борисовна Любимова</a:t>
            </a:r>
            <a:endParaRPr lang="ru-RU" sz="28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B1D330-C952-4825-B607-BA81C0288562}"/>
              </a:ext>
            </a:extLst>
          </p:cNvPr>
          <p:cNvSpPr txBox="1"/>
          <p:nvPr/>
        </p:nvSpPr>
        <p:spPr>
          <a:xfrm>
            <a:off x="6607653" y="6265891"/>
            <a:ext cx="55721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i="0" dirty="0">
                <a:solidFill>
                  <a:schemeClr val="accent2">
                    <a:lumMod val="75000"/>
                  </a:schemeClr>
                </a:solidFill>
                <a:effectLst/>
                <a:latin typeface="Helvetica Neue"/>
              </a:rPr>
              <a:t>Татьяна Алексеевна Голикова</a:t>
            </a:r>
            <a:endParaRPr lang="ru-RU" sz="2800" b="1" dirty="0">
              <a:solidFill>
                <a:schemeClr val="accent2">
                  <a:lumMod val="75000"/>
                </a:schemeClr>
              </a:solidFill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4214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42EBC-3B5E-4780-8510-7B98DED6A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EA707E-AC3F-4F57-B7AD-0BCC7E608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FF0CFE-1B7B-47C0-ACA1-2FAFFFA99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41"/>
            <a:ext cx="12192000" cy="682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22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9F8CD4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5E20BD-BE93-4425-86A4-F960E8EE0F4C}"/>
              </a:ext>
            </a:extLst>
          </p:cNvPr>
          <p:cNvSpPr txBox="1"/>
          <p:nvPr/>
        </p:nvSpPr>
        <p:spPr>
          <a:xfrm>
            <a:off x="2363375" y="0"/>
            <a:ext cx="74652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000" b="0" i="0" cap="all" dirty="0">
                <a:solidFill>
                  <a:srgbClr val="FFFFFF"/>
                </a:solidFill>
                <a:effectLst/>
              </a:rPr>
              <a:t>Связанные проекты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61671-A41A-475E-995B-4D2DCFF9AE08}"/>
              </a:ext>
            </a:extLst>
          </p:cNvPr>
          <p:cNvSpPr txBox="1"/>
          <p:nvPr/>
        </p:nvSpPr>
        <p:spPr>
          <a:xfrm>
            <a:off x="416459" y="1015663"/>
            <a:ext cx="33922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400" dirty="0">
                <a:solidFill>
                  <a:schemeClr val="bg1"/>
                </a:solidFill>
              </a:rPr>
              <a:t>Образование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7C247F-B0E4-4E79-80CF-CFC3C3EA7787}"/>
              </a:ext>
            </a:extLst>
          </p:cNvPr>
          <p:cNvSpPr txBox="1"/>
          <p:nvPr/>
        </p:nvSpPr>
        <p:spPr>
          <a:xfrm>
            <a:off x="7512866" y="1015663"/>
            <a:ext cx="438539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0" i="0" strike="noStrike" dirty="0">
                <a:solidFill>
                  <a:schemeClr val="bg1"/>
                </a:solidFill>
                <a:effectLst/>
                <a:latin typeface="Hauss"/>
              </a:rPr>
              <a:t>Туризм и индустрия гостеприимства</a:t>
            </a:r>
            <a:endParaRPr lang="ru-RU" sz="4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C55426-7BD5-42D5-BC2E-D7D48DB06720}"/>
              </a:ext>
            </a:extLst>
          </p:cNvPr>
          <p:cNvSpPr txBox="1"/>
          <p:nvPr/>
        </p:nvSpPr>
        <p:spPr>
          <a:xfrm>
            <a:off x="416459" y="2031326"/>
            <a:ext cx="406848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Поддержка школ искусств, учреждений доп. образования</a:t>
            </a:r>
            <a:br>
              <a:rPr lang="ru-RU" sz="2800" dirty="0">
                <a:solidFill>
                  <a:schemeClr val="accent2">
                    <a:lumMod val="50000"/>
                  </a:schemeClr>
                </a:solidFill>
              </a:rPr>
            </a:br>
            <a:endParaRPr lang="ru-RU" sz="2800" dirty="0">
              <a:solidFill>
                <a:schemeClr val="accent2">
                  <a:lumMod val="50000"/>
                </a:schemeClr>
              </a:solidFill>
            </a:endParaRPr>
          </a:p>
          <a:p>
            <a:br>
              <a:rPr lang="ru-RU" sz="28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Подготовка специалистов и педагогов для работы в культурной сфере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13FAF5-A975-415B-AC62-FCE2E2639D34}"/>
              </a:ext>
            </a:extLst>
          </p:cNvPr>
          <p:cNvSpPr txBox="1"/>
          <p:nvPr/>
        </p:nvSpPr>
        <p:spPr>
          <a:xfrm>
            <a:off x="7440439" y="3139321"/>
            <a:ext cx="422042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Создание маршрутов по историческим и культурным местам</a:t>
            </a:r>
          </a:p>
          <a:p>
            <a:endParaRPr lang="ru-RU" sz="2800" dirty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ru-RU" sz="2800" dirty="0">
                <a:solidFill>
                  <a:schemeClr val="accent2">
                    <a:lumMod val="50000"/>
                  </a:schemeClr>
                </a:solidFill>
              </a:rPr>
              <a:t>Поддержка и развитие событийного туризма, включая фестивали и культурные мероприятия.</a:t>
            </a:r>
          </a:p>
        </p:txBody>
      </p:sp>
    </p:spTree>
    <p:extLst>
      <p:ext uri="{BB962C8B-B14F-4D97-AF65-F5344CB8AC3E}">
        <p14:creationId xmlns:p14="http://schemas.microsoft.com/office/powerpoint/2010/main" val="28003345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298</Words>
  <Application>Microsoft Office PowerPoint</Application>
  <PresentationFormat>Широкоэкранный</PresentationFormat>
  <Paragraphs>31</Paragraphs>
  <Slides>8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Hauss</vt:lpstr>
      <vt:lpstr>Helvetica Neue</vt:lpstr>
      <vt:lpstr>WagonCondensed</vt:lpstr>
      <vt:lpstr>YS Text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kitty swirth</dc:creator>
  <cp:lastModifiedBy>Student</cp:lastModifiedBy>
  <cp:revision>13</cp:revision>
  <dcterms:created xsi:type="dcterms:W3CDTF">2024-10-17T10:01:03Z</dcterms:created>
  <dcterms:modified xsi:type="dcterms:W3CDTF">2024-10-25T07:26:34Z</dcterms:modified>
</cp:coreProperties>
</file>