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rimson Roman" panose="020B0604020202020204" charset="0"/>
      <p:regular r:id="rId16"/>
    </p:embeddedFont>
    <p:embeddedFont>
      <p:font typeface="Lora" pitchFamily="2" charset="-52"/>
      <p:regular r:id="rId17"/>
      <p:bold r:id="rId18"/>
      <p:italic r:id="rId19"/>
      <p:boldItalic r:id="rId20"/>
    </p:embeddedFont>
    <p:embeddedFont>
      <p:font typeface="Montserrat" panose="00000500000000000000" pitchFamily="2" charset="-52"/>
      <p:regular r:id="rId21"/>
    </p:embeddedFont>
    <p:embeddedFont>
      <p:font typeface="Montserrat Bold" panose="00000800000000000000" charset="-52"/>
      <p:regular r:id="rId22"/>
    </p:embeddedFont>
    <p:embeddedFont>
      <p:font typeface="Montserrat Medium" panose="00000600000000000000" pitchFamily="2" charset="-52"/>
      <p:regular r:id="rId23"/>
      <p: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2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viewProps" Target="viewProps.xml"/></Relationships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64" t="-31347" r="-1056" b="-31347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1315627" y="0"/>
            <a:ext cx="6972373" cy="10439375"/>
          </a:xfrm>
          <a:prstGeom prst="rect">
            <a:avLst/>
          </a:prstGeom>
          <a:solidFill>
            <a:srgbClr val="EB8208"/>
          </a:solidFill>
        </p:spPr>
      </p:sp>
      <p:sp>
        <p:nvSpPr>
          <p:cNvPr id="4" name="TextBox 4"/>
          <p:cNvSpPr txBox="1"/>
          <p:nvPr/>
        </p:nvSpPr>
        <p:spPr>
          <a:xfrm>
            <a:off x="1028700" y="3238500"/>
            <a:ext cx="9209188" cy="3348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86"/>
              </a:lnSpc>
            </a:pPr>
            <a:r>
              <a:rPr lang="en-US" sz="10238" spc="-307">
                <a:solidFill>
                  <a:srgbClr val="3F4042"/>
                </a:solidFill>
                <a:latin typeface="Crimson Roman"/>
                <a:ea typeface="Crimson Roman"/>
                <a:cs typeface="Crimson Roman"/>
                <a:sym typeface="Crimson Roman"/>
              </a:rPr>
              <a:t>Исполнительная власть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45174" y="3634370"/>
            <a:ext cx="5414126" cy="274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23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Один из видов самостоятельной и независимой власти в государстве, представляющий собой совокупность органов, закреплённых в Конституции и законах, для реализации целей и задач государственной политики.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397966" y="2161498"/>
            <a:ext cx="1333763" cy="9525"/>
          </a:xfrm>
          <a:prstGeom prst="rect">
            <a:avLst/>
          </a:prstGeom>
          <a:solidFill>
            <a:srgbClr val="100F0E">
              <a:alpha val="83922"/>
            </a:srgbClr>
          </a:solidFill>
        </p:spPr>
      </p:sp>
      <p:sp>
        <p:nvSpPr>
          <p:cNvPr id="3" name="AutoShape 3"/>
          <p:cNvSpPr/>
          <p:nvPr/>
        </p:nvSpPr>
        <p:spPr>
          <a:xfrm>
            <a:off x="9397966" y="4143149"/>
            <a:ext cx="1333763" cy="9525"/>
          </a:xfrm>
          <a:prstGeom prst="rect">
            <a:avLst/>
          </a:prstGeom>
          <a:solidFill>
            <a:srgbClr val="100F0E">
              <a:alpha val="83922"/>
            </a:srgbClr>
          </a:solidFill>
        </p:spPr>
      </p:sp>
      <p:sp>
        <p:nvSpPr>
          <p:cNvPr id="4" name="AutoShape 4"/>
          <p:cNvSpPr/>
          <p:nvPr/>
        </p:nvSpPr>
        <p:spPr>
          <a:xfrm>
            <a:off x="9397966" y="6124801"/>
            <a:ext cx="1333763" cy="9525"/>
          </a:xfrm>
          <a:prstGeom prst="rect">
            <a:avLst/>
          </a:prstGeom>
          <a:solidFill>
            <a:srgbClr val="100F0E">
              <a:alpha val="83922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9397966" y="8106452"/>
            <a:ext cx="1333763" cy="9525"/>
          </a:xfrm>
          <a:prstGeom prst="rect">
            <a:avLst/>
          </a:prstGeom>
          <a:solidFill>
            <a:srgbClr val="100F0E">
              <a:alpha val="83922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0" y="0"/>
            <a:ext cx="8042679" cy="102870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7" name="TextBox 7"/>
          <p:cNvSpPr txBox="1"/>
          <p:nvPr/>
        </p:nvSpPr>
        <p:spPr>
          <a:xfrm>
            <a:off x="316667" y="506941"/>
            <a:ext cx="8211831" cy="591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2"/>
              </a:lnSpc>
            </a:pPr>
            <a:r>
              <a:rPr lang="en-US" sz="8175">
                <a:solidFill>
                  <a:srgbClr val="3F4042"/>
                </a:solidFill>
                <a:latin typeface="Crimson Roman"/>
                <a:ea typeface="Crimson Roman"/>
                <a:cs typeface="Crimson Roman"/>
                <a:sym typeface="Crimson Roman"/>
              </a:rPr>
              <a:t>Некоторые основные признаки исполнительной власти: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62228" y="1569613"/>
            <a:ext cx="5756860" cy="113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144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Самостоятельность </a:t>
            </a:r>
            <a:r>
              <a:rPr lang="en-US" sz="2144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и взаимосвязь с законодательной и судебной ветвями государственной власти.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62228" y="3607461"/>
            <a:ext cx="5756860" cy="108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ru-RU" sz="2069" b="1" dirty="0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Контролирование</a:t>
            </a:r>
            <a:r>
              <a:rPr lang="en-US" sz="2069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69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законодательной</a:t>
            </a:r>
            <a:r>
              <a:rPr lang="en-US" sz="2069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2069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судебной</a:t>
            </a:r>
            <a:r>
              <a:rPr lang="en-US" sz="2069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69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ветвям</a:t>
            </a:r>
            <a:r>
              <a:rPr lang="en-US" sz="2069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69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государственной</a:t>
            </a:r>
            <a:r>
              <a:rPr lang="en-US" sz="2069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69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власти</a:t>
            </a:r>
            <a:r>
              <a:rPr lang="en-US" sz="2069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62228" y="5411724"/>
            <a:ext cx="7225772" cy="139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1987" b="1" dirty="0" err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Осуществление</a:t>
            </a:r>
            <a:r>
              <a:rPr lang="en-US" sz="1987" b="1" dirty="0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специальными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государственными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органами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органами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местного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самоуправления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имеющими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в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установленном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нормативном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порядке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87" dirty="0" err="1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компетенцию</a:t>
            </a:r>
            <a:r>
              <a:rPr lang="en-US" sz="1987" dirty="0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2228" y="7570764"/>
            <a:ext cx="5756860" cy="1061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069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исполнительной власти основываются на нормах Конституции РФ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76054" y="1414738"/>
            <a:ext cx="829544" cy="138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0"/>
              </a:lnSpc>
            </a:pPr>
            <a:r>
              <a:rPr lang="en-US" sz="8300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76054" y="3396389"/>
            <a:ext cx="829544" cy="138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0"/>
              </a:lnSpc>
            </a:pPr>
            <a:r>
              <a:rPr lang="en-US" sz="8300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76054" y="5378041"/>
            <a:ext cx="829544" cy="138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0"/>
              </a:lnSpc>
            </a:pPr>
            <a:r>
              <a:rPr lang="en-US" sz="8300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76054" y="7350167"/>
            <a:ext cx="829544" cy="138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0"/>
              </a:lnSpc>
            </a:pPr>
            <a:r>
              <a:rPr lang="en-US" sz="8300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4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397966" y="2161498"/>
            <a:ext cx="1333763" cy="9525"/>
          </a:xfrm>
          <a:prstGeom prst="rect">
            <a:avLst/>
          </a:prstGeom>
          <a:solidFill>
            <a:srgbClr val="100F0E">
              <a:alpha val="86667"/>
            </a:srgbClr>
          </a:solidFill>
        </p:spPr>
      </p:sp>
      <p:sp>
        <p:nvSpPr>
          <p:cNvPr id="3" name="AutoShape 3"/>
          <p:cNvSpPr/>
          <p:nvPr/>
        </p:nvSpPr>
        <p:spPr>
          <a:xfrm>
            <a:off x="9397966" y="4143149"/>
            <a:ext cx="1333763" cy="9525"/>
          </a:xfrm>
          <a:prstGeom prst="rect">
            <a:avLst/>
          </a:prstGeom>
          <a:solidFill>
            <a:srgbClr val="100F0E">
              <a:alpha val="86667"/>
            </a:srgbClr>
          </a:solidFill>
        </p:spPr>
      </p:sp>
      <p:sp>
        <p:nvSpPr>
          <p:cNvPr id="4" name="AutoShape 4"/>
          <p:cNvSpPr/>
          <p:nvPr/>
        </p:nvSpPr>
        <p:spPr>
          <a:xfrm>
            <a:off x="9397966" y="6124801"/>
            <a:ext cx="1333763" cy="9525"/>
          </a:xfrm>
          <a:prstGeom prst="rect">
            <a:avLst/>
          </a:prstGeom>
          <a:solidFill>
            <a:srgbClr val="100F0E">
              <a:alpha val="86667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9397966" y="8106452"/>
            <a:ext cx="1333763" cy="9525"/>
          </a:xfrm>
          <a:prstGeom prst="rect">
            <a:avLst/>
          </a:prstGeom>
          <a:solidFill>
            <a:srgbClr val="100F0E">
              <a:alpha val="86667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0" y="0"/>
            <a:ext cx="8042679" cy="102870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7" name="TextBox 7"/>
          <p:cNvSpPr txBox="1"/>
          <p:nvPr/>
        </p:nvSpPr>
        <p:spPr>
          <a:xfrm>
            <a:off x="316667" y="506941"/>
            <a:ext cx="8211831" cy="591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2"/>
              </a:lnSpc>
            </a:pPr>
            <a:r>
              <a:rPr lang="en-US" sz="8175">
                <a:solidFill>
                  <a:srgbClr val="3F4042"/>
                </a:solidFill>
                <a:latin typeface="Crimson Roman"/>
                <a:ea typeface="Crimson Roman"/>
                <a:cs typeface="Crimson Roman"/>
                <a:sym typeface="Crimson Roman"/>
              </a:rPr>
              <a:t>Некоторые основные признаки исполнительной власти: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62228" y="1760113"/>
            <a:ext cx="5756860" cy="755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144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Организующая деятельность </a:t>
            </a:r>
            <a:r>
              <a:rPr lang="en-US" sz="2144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и реализация властных полномочий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62228" y="3788436"/>
            <a:ext cx="5756860" cy="699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069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Применение норм административного принуждения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62228" y="5764149"/>
            <a:ext cx="6197072" cy="692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1987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Подготовка и издание правовых актов управления.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2228" y="7389789"/>
            <a:ext cx="5756860" cy="142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069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Правоприменительная и охранительная деятельность</a:t>
            </a:r>
            <a:r>
              <a:rPr lang="en-US" sz="2069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 специальных органов и должностных лиц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76054" y="1418231"/>
            <a:ext cx="829544" cy="138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0"/>
              </a:lnSpc>
            </a:pPr>
            <a:r>
              <a:rPr lang="en-US" sz="8300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76054" y="3399882"/>
            <a:ext cx="829544" cy="138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0"/>
              </a:lnSpc>
            </a:pPr>
            <a:r>
              <a:rPr lang="en-US" sz="8300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76054" y="5381533"/>
            <a:ext cx="829544" cy="138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0"/>
              </a:lnSpc>
            </a:pPr>
            <a:r>
              <a:rPr lang="en-US" sz="8300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76054" y="7353659"/>
            <a:ext cx="829544" cy="138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0"/>
              </a:lnSpc>
            </a:pPr>
            <a:r>
              <a:rPr lang="en-US" sz="8300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221273"/>
            <a:ext cx="8777387" cy="10810008"/>
          </a:xfrm>
          <a:prstGeom prst="rect">
            <a:avLst/>
          </a:prstGeom>
          <a:solidFill>
            <a:srgbClr val="100F0E"/>
          </a:solidFill>
        </p:spPr>
      </p:sp>
      <p:grpSp>
        <p:nvGrpSpPr>
          <p:cNvPr id="3" name="Group 3"/>
          <p:cNvGrpSpPr/>
          <p:nvPr/>
        </p:nvGrpSpPr>
        <p:grpSpPr>
          <a:xfrm>
            <a:off x="9535586" y="1751677"/>
            <a:ext cx="2751627" cy="2751616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38888" r="-38888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535586" y="6120674"/>
            <a:ext cx="2751627" cy="2751616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t="-17114" b="-17114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12722999" y="3122722"/>
            <a:ext cx="2000176" cy="9525"/>
          </a:xfrm>
          <a:prstGeom prst="rect">
            <a:avLst/>
          </a:prstGeom>
          <a:solidFill>
            <a:srgbClr val="100F0E"/>
          </a:solidFill>
        </p:spPr>
      </p:sp>
      <p:sp>
        <p:nvSpPr>
          <p:cNvPr id="8" name="AutoShape 8"/>
          <p:cNvSpPr/>
          <p:nvPr/>
        </p:nvSpPr>
        <p:spPr>
          <a:xfrm>
            <a:off x="12720636" y="7496482"/>
            <a:ext cx="2000176" cy="9525"/>
          </a:xfrm>
          <a:prstGeom prst="rect">
            <a:avLst/>
          </a:prstGeom>
          <a:solidFill>
            <a:srgbClr val="100F0E"/>
          </a:solidFill>
        </p:spPr>
      </p:sp>
      <p:sp>
        <p:nvSpPr>
          <p:cNvPr id="9" name="TextBox 9"/>
          <p:cNvSpPr txBox="1"/>
          <p:nvPr/>
        </p:nvSpPr>
        <p:spPr>
          <a:xfrm>
            <a:off x="15009061" y="2340413"/>
            <a:ext cx="2752535" cy="152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1"/>
              </a:lnSpc>
            </a:pPr>
            <a:r>
              <a:rPr lang="en-US" sz="2900">
                <a:solidFill>
                  <a:srgbClr val="3F4042"/>
                </a:solidFill>
                <a:latin typeface="Open Sans"/>
                <a:ea typeface="Open Sans"/>
                <a:cs typeface="Open Sans"/>
                <a:sym typeface="Open Sans"/>
              </a:rPr>
              <a:t>Президента Российской Федерации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1751677"/>
            <a:ext cx="7327559" cy="5507204"/>
            <a:chOff x="0" y="0"/>
            <a:chExt cx="9770078" cy="734293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523788"/>
              <a:ext cx="9770078" cy="777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4"/>
                </a:lnSpc>
              </a:pPr>
              <a:r>
                <a:rPr lang="en-US" sz="2049" b="1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ОСУЩЕСТВЛЯЕТ ПРАВИТЕЛЬСТВО РОССИЙСКОЙ ФЕДЕРАЦИИ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5983"/>
              <a:ext cx="9770078" cy="5872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387"/>
                </a:lnSpc>
              </a:pPr>
              <a:r>
                <a:rPr lang="en-US" sz="7625">
                  <a:solidFill>
                    <a:srgbClr val="FFFFFF"/>
                  </a:solidFill>
                  <a:latin typeface="Crimson Roman"/>
                  <a:ea typeface="Crimson Roman"/>
                  <a:cs typeface="Crimson Roman"/>
                  <a:sym typeface="Crimson Roman"/>
                </a:rPr>
                <a:t>Исполнительную власть Российской Федерации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158963" y="6454646"/>
            <a:ext cx="3129037" cy="203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1"/>
              </a:lnSpc>
            </a:pPr>
            <a:r>
              <a:rPr lang="en-US" sz="2900">
                <a:solidFill>
                  <a:srgbClr val="3F4042"/>
                </a:solidFill>
                <a:latin typeface="Open Sans"/>
                <a:ea typeface="Open Sans"/>
                <a:cs typeface="Open Sans"/>
                <a:sym typeface="Open Sans"/>
              </a:rPr>
              <a:t>Председателя Правительства Российской Федерации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35586" y="1257966"/>
            <a:ext cx="5756860" cy="39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269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Владимир Владимирович Путин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44569" y="5623338"/>
            <a:ext cx="5756860" cy="39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sz="2269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Михаил Владимирович Мишустин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444" b="-1144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6163849" y="2648689"/>
            <a:ext cx="10597" cy="4989622"/>
          </a:xfrm>
          <a:prstGeom prst="rect">
            <a:avLst/>
          </a:prstGeom>
          <a:solidFill>
            <a:srgbClr val="100F0E"/>
          </a:solidFill>
        </p:spPr>
      </p:sp>
      <p:sp>
        <p:nvSpPr>
          <p:cNvPr id="4" name="AutoShape 4"/>
          <p:cNvSpPr/>
          <p:nvPr/>
        </p:nvSpPr>
        <p:spPr>
          <a:xfrm>
            <a:off x="12113554" y="2648689"/>
            <a:ext cx="10597" cy="4989622"/>
          </a:xfrm>
          <a:prstGeom prst="rect">
            <a:avLst/>
          </a:prstGeom>
          <a:solidFill>
            <a:srgbClr val="100F0E"/>
          </a:solidFill>
        </p:spPr>
      </p:sp>
      <p:grpSp>
        <p:nvGrpSpPr>
          <p:cNvPr id="5" name="Group 5"/>
          <p:cNvGrpSpPr/>
          <p:nvPr/>
        </p:nvGrpSpPr>
        <p:grpSpPr>
          <a:xfrm>
            <a:off x="1028700" y="3152052"/>
            <a:ext cx="4949534" cy="5796953"/>
            <a:chOff x="0" y="0"/>
            <a:chExt cx="6599378" cy="7729270"/>
          </a:xfrm>
        </p:grpSpPr>
        <p:sp>
          <p:nvSpPr>
            <p:cNvPr id="6" name="TextBox 6"/>
            <p:cNvSpPr txBox="1"/>
            <p:nvPr/>
          </p:nvSpPr>
          <p:spPr>
            <a:xfrm>
              <a:off x="0" y="5602053"/>
              <a:ext cx="6599378" cy="21347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7"/>
                </a:lnSpc>
                <a:spcBef>
                  <a:spcPct val="0"/>
                </a:spcBef>
              </a:pPr>
              <a:r>
                <a:rPr lang="en-US" sz="1840">
                  <a:solidFill>
                    <a:srgbClr val="3F40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Исполнительная власть представляет собой оснащенную необходимыми атрибутами ветвь единой по своей государственно-правовой сути государственной власти.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06071"/>
              <a:ext cx="6599378" cy="2799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3"/>
                </a:lnSpc>
              </a:pPr>
              <a:r>
                <a:rPr lang="en-US" sz="3023" b="1">
                  <a:solidFill>
                    <a:srgbClr val="3F404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САМОСТОЯТЕЛЬНОСТЬ ОРГАНОВ ИСПОЛНИТЕЛЬНОЙ ВЛАСТИ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20936" y="-251695"/>
              <a:ext cx="1357506" cy="1792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37"/>
                </a:lnSpc>
              </a:pPr>
              <a:r>
                <a:rPr lang="en-US" sz="7644" spc="772">
                  <a:solidFill>
                    <a:srgbClr val="EB8208"/>
                  </a:solidFill>
                  <a:latin typeface="Crimson Roman"/>
                  <a:ea typeface="Crimson Roman"/>
                  <a:cs typeface="Crimson Roman"/>
                  <a:sym typeface="Crimson Roman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00981" y="3152052"/>
            <a:ext cx="4486037" cy="6610758"/>
            <a:chOff x="0" y="0"/>
            <a:chExt cx="5981383" cy="881434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4984835"/>
              <a:ext cx="5981383" cy="3551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8"/>
                </a:lnSpc>
                <a:spcBef>
                  <a:spcPct val="0"/>
                </a:spcBef>
              </a:pPr>
              <a:r>
                <a:rPr lang="en-US" sz="1905">
                  <a:solidFill>
                    <a:srgbClr val="3F40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В пределах ведения и полномочий Российской Федерации по предметам совместного ведения Российской Федерации и ее субъектов они образуют единую систему исполнительной власти в Российской Федерации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191790"/>
              <a:ext cx="5981383" cy="2542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1"/>
                </a:lnSpc>
              </a:pPr>
              <a:r>
                <a:rPr lang="en-US" sz="2743" b="1">
                  <a:solidFill>
                    <a:srgbClr val="3F404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ЕДИНСТВО СИСТЕМЫ ОРГАНОВ ИСПОЛНИТЕЛЬНОЙ ВЛАСТИ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75500" y="-261365"/>
              <a:ext cx="1230383" cy="1866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293"/>
                </a:lnSpc>
                <a:spcBef>
                  <a:spcPct val="0"/>
                </a:spcBef>
              </a:pPr>
              <a:r>
                <a:rPr lang="en-US" sz="7917" u="none" spc="799">
                  <a:solidFill>
                    <a:srgbClr val="EB8208"/>
                  </a:solidFill>
                  <a:latin typeface="Crimson Roman"/>
                  <a:ea typeface="Crimson Roman"/>
                  <a:cs typeface="Crimson Roman"/>
                  <a:sym typeface="Crimson Roman"/>
                </a:rPr>
                <a:t>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48051" y="3152052"/>
            <a:ext cx="4331189" cy="3228611"/>
            <a:chOff x="0" y="0"/>
            <a:chExt cx="5774919" cy="430481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3576380"/>
              <a:ext cx="5774919" cy="735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7"/>
                </a:lnSpc>
                <a:spcBef>
                  <a:spcPct val="0"/>
                </a:spcBef>
              </a:pPr>
              <a:r>
                <a:rPr lang="en-US" sz="1640">
                  <a:solidFill>
                    <a:srgbClr val="3F40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принцип организации и деятельности органов исполнительной власти.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114162"/>
              <a:ext cx="5774919" cy="1212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08"/>
                </a:lnSpc>
              </a:pPr>
              <a:r>
                <a:rPr lang="en-US" sz="2648" b="1">
                  <a:solidFill>
                    <a:srgbClr val="3F404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ФЕДЕРАЛИЗМ В ЕГО НОВОМ КАЧЕСТВЕ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93503" y="-251695"/>
              <a:ext cx="1187913" cy="18010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37"/>
                </a:lnSpc>
              </a:pPr>
              <a:r>
                <a:rPr lang="en-US" sz="7644" spc="772">
                  <a:solidFill>
                    <a:srgbClr val="EB8208"/>
                  </a:solidFill>
                  <a:latin typeface="Crimson Roman"/>
                  <a:ea typeface="Crimson Roman"/>
                  <a:cs typeface="Crimson Roman"/>
                  <a:sym typeface="Crimson Roman"/>
                </a:rPr>
                <a:t>3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502795"/>
            <a:ext cx="16654224" cy="250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2"/>
              </a:lnSpc>
            </a:pPr>
            <a:r>
              <a:rPr lang="en-US" sz="5629">
                <a:solidFill>
                  <a:srgbClr val="3F4042"/>
                </a:solidFill>
                <a:latin typeface="Crimson Roman"/>
                <a:ea typeface="Crimson Roman"/>
                <a:cs typeface="Crimson Roman"/>
                <a:sym typeface="Crimson Roman"/>
              </a:rPr>
              <a:t>Принципы, на базе которых строится и функционирует система органов исполнительной власти: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444" b="-1144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6163849" y="2648689"/>
            <a:ext cx="10597" cy="4989622"/>
          </a:xfrm>
          <a:prstGeom prst="rect">
            <a:avLst/>
          </a:prstGeom>
          <a:solidFill>
            <a:srgbClr val="100F0E"/>
          </a:solidFill>
        </p:spPr>
      </p:sp>
      <p:sp>
        <p:nvSpPr>
          <p:cNvPr id="4" name="AutoShape 4"/>
          <p:cNvSpPr/>
          <p:nvPr/>
        </p:nvSpPr>
        <p:spPr>
          <a:xfrm>
            <a:off x="12113554" y="2648689"/>
            <a:ext cx="10597" cy="4989622"/>
          </a:xfrm>
          <a:prstGeom prst="rect">
            <a:avLst/>
          </a:prstGeom>
          <a:solidFill>
            <a:srgbClr val="100F0E"/>
          </a:solidFill>
        </p:spPr>
      </p:sp>
      <p:grpSp>
        <p:nvGrpSpPr>
          <p:cNvPr id="5" name="Group 5"/>
          <p:cNvGrpSpPr/>
          <p:nvPr/>
        </p:nvGrpSpPr>
        <p:grpSpPr>
          <a:xfrm>
            <a:off x="1028700" y="3002960"/>
            <a:ext cx="4949534" cy="3549053"/>
            <a:chOff x="0" y="0"/>
            <a:chExt cx="6599378" cy="473207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68453"/>
              <a:ext cx="6599378" cy="1271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7"/>
                </a:lnSpc>
                <a:spcBef>
                  <a:spcPct val="0"/>
                </a:spcBef>
              </a:pPr>
              <a:r>
                <a:rPr lang="en-US" sz="1840">
                  <a:solidFill>
                    <a:srgbClr val="3F40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один из ведущих принципов организации и деятельности органов исполнительной власти.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06071"/>
              <a:ext cx="6599378" cy="665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3"/>
                </a:lnSpc>
              </a:pPr>
              <a:r>
                <a:rPr lang="en-US" sz="3023" b="1">
                  <a:solidFill>
                    <a:srgbClr val="3F404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ЗАКОННОСТЬ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20936" y="-251695"/>
              <a:ext cx="1357506" cy="1792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37"/>
                </a:lnSpc>
              </a:pPr>
              <a:r>
                <a:rPr lang="en-US" sz="7644" spc="772">
                  <a:solidFill>
                    <a:srgbClr val="EB8208"/>
                  </a:solidFill>
                  <a:latin typeface="Crimson Roman"/>
                  <a:ea typeface="Crimson Roman"/>
                  <a:cs typeface="Crimson Roman"/>
                  <a:sym typeface="Crimson Roman"/>
                </a:rPr>
                <a:t>4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98453" y="2997692"/>
            <a:ext cx="4491094" cy="5308200"/>
            <a:chOff x="0" y="0"/>
            <a:chExt cx="5988126" cy="70776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3691559"/>
              <a:ext cx="5988126" cy="3107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1"/>
                </a:lnSpc>
                <a:spcBef>
                  <a:spcPct val="0"/>
                </a:spcBef>
              </a:pPr>
              <a:r>
                <a:rPr lang="en-US" sz="1907">
                  <a:solidFill>
                    <a:srgbClr val="3F40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механизм реализации исполнительной власти крайне многоструктурен и оснащен, мягко говоря, значительным количеством служащих (чиновников), выполняющих повседневно его функции.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185936"/>
              <a:ext cx="5988126" cy="1254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5"/>
                </a:lnSpc>
              </a:pPr>
              <a:r>
                <a:rPr lang="en-US" sz="2746" b="1">
                  <a:solidFill>
                    <a:srgbClr val="3F404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ПРИНЦИП ЭКОНОМИЧНОСТИ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78178" y="-270895"/>
              <a:ext cx="1231770" cy="1869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304"/>
                </a:lnSpc>
                <a:spcBef>
                  <a:spcPct val="0"/>
                </a:spcBef>
              </a:pPr>
              <a:r>
                <a:rPr lang="en-US" sz="7926" spc="800">
                  <a:solidFill>
                    <a:srgbClr val="EB8208"/>
                  </a:solidFill>
                  <a:latin typeface="Crimson Roman"/>
                  <a:ea typeface="Crimson Roman"/>
                  <a:cs typeface="Crimson Roman"/>
                  <a:sym typeface="Crimson Roman"/>
                </a:rPr>
                <a:t>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928111" y="2997692"/>
            <a:ext cx="4331189" cy="5405951"/>
            <a:chOff x="0" y="0"/>
            <a:chExt cx="5774919" cy="720793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4190589"/>
              <a:ext cx="5774919" cy="30248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7"/>
                </a:lnSpc>
                <a:spcBef>
                  <a:spcPct val="0"/>
                </a:spcBef>
              </a:pPr>
              <a:r>
                <a:rPr lang="en-US" sz="1640">
                  <a:solidFill>
                    <a:srgbClr val="3F40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принцип управления, учитывающий современные особенности сферы государственного управления, в которой наряду с государственными объектами функционирует множество негосударственных, в основном коммерческих, структур, включая частные.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106071"/>
              <a:ext cx="5774919" cy="18343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08"/>
                </a:lnSpc>
              </a:pPr>
              <a:r>
                <a:rPr lang="en-US" sz="2648" b="1">
                  <a:solidFill>
                    <a:srgbClr val="3F404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УЧЕТ ОСОБЕННОСТЕЙ УПРАВЛЯЕМЫХ ОБЪЕКТОВ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93503" y="-251695"/>
              <a:ext cx="1187913" cy="1792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37"/>
                </a:lnSpc>
              </a:pPr>
              <a:r>
                <a:rPr lang="en-US" sz="7644" spc="772">
                  <a:solidFill>
                    <a:srgbClr val="EB8208"/>
                  </a:solidFill>
                  <a:latin typeface="Crimson Roman"/>
                  <a:ea typeface="Crimson Roman"/>
                  <a:cs typeface="Crimson Roman"/>
                  <a:sym typeface="Crimson Roman"/>
                </a:rPr>
                <a:t>6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502795"/>
            <a:ext cx="16654224" cy="250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2"/>
              </a:lnSpc>
            </a:pPr>
            <a:r>
              <a:rPr lang="en-US" sz="5629">
                <a:solidFill>
                  <a:srgbClr val="3F4042"/>
                </a:solidFill>
                <a:latin typeface="Crimson Roman"/>
                <a:ea typeface="Crimson Roman"/>
                <a:cs typeface="Crimson Roman"/>
                <a:sym typeface="Crimson Roman"/>
              </a:rPr>
              <a:t>Принципы, на базе которых строится и функционирует система органов исполнительной власти: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444" b="-114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005815" y="3437688"/>
            <a:ext cx="4744587" cy="4032259"/>
            <a:chOff x="0" y="0"/>
            <a:chExt cx="6326116" cy="5376345"/>
          </a:xfrm>
        </p:grpSpPr>
        <p:sp>
          <p:nvSpPr>
            <p:cNvPr id="4" name="TextBox 4"/>
            <p:cNvSpPr txBox="1"/>
            <p:nvPr/>
          </p:nvSpPr>
          <p:spPr>
            <a:xfrm>
              <a:off x="0" y="3220376"/>
              <a:ext cx="6326116" cy="1861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21"/>
                </a:lnSpc>
                <a:spcBef>
                  <a:spcPct val="0"/>
                </a:spcBef>
              </a:pPr>
              <a:r>
                <a:rPr lang="en-US" sz="2015">
                  <a:solidFill>
                    <a:srgbClr val="3F40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широкое обнародование через средства массовой информации процесса и результатов работы органов исполнительной власти.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322068"/>
              <a:ext cx="6326116" cy="631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2"/>
                </a:lnSpc>
              </a:pPr>
              <a:r>
                <a:rPr lang="en-US" sz="2901" b="1">
                  <a:solidFill>
                    <a:srgbClr val="3F404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ГЛАСНОСТЬ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512410" y="-280656"/>
              <a:ext cx="1301295" cy="1968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86"/>
                </a:lnSpc>
                <a:spcBef>
                  <a:spcPct val="0"/>
                </a:spcBef>
              </a:pPr>
              <a:r>
                <a:rPr lang="en-US" sz="8374" spc="845">
                  <a:solidFill>
                    <a:srgbClr val="EB8208"/>
                  </a:solidFill>
                  <a:latin typeface="Crimson Roman"/>
                  <a:ea typeface="Crimson Roman"/>
                  <a:cs typeface="Crimson Roman"/>
                  <a:sym typeface="Crimson Roman"/>
                </a:rPr>
                <a:t>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165070" y="3437688"/>
            <a:ext cx="4331189" cy="3035930"/>
            <a:chOff x="0" y="0"/>
            <a:chExt cx="5774919" cy="4047906"/>
          </a:xfrm>
        </p:grpSpPr>
        <p:sp>
          <p:nvSpPr>
            <p:cNvPr id="8" name="TextBox 8"/>
            <p:cNvSpPr txBox="1"/>
            <p:nvPr/>
          </p:nvSpPr>
          <p:spPr>
            <a:xfrm>
              <a:off x="0" y="3145952"/>
              <a:ext cx="5774919" cy="909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27"/>
                </a:lnSpc>
                <a:spcBef>
                  <a:spcPct val="0"/>
                </a:spcBef>
              </a:pPr>
              <a:r>
                <a:rPr lang="en-US" sz="2019">
                  <a:solidFill>
                    <a:srgbClr val="3F40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обеспечение прав и свобод человека и гражданина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270086"/>
              <a:ext cx="5774919" cy="635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</a:pPr>
              <a:r>
                <a:rPr lang="en-US" sz="2899" b="1">
                  <a:solidFill>
                    <a:srgbClr val="3F404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НАРОДОВЛАСТИЕ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93503" y="-280270"/>
              <a:ext cx="1187913" cy="1975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80"/>
                </a:lnSpc>
              </a:pPr>
              <a:r>
                <a:rPr lang="en-US" sz="8369" spc="845">
                  <a:solidFill>
                    <a:srgbClr val="EB8208"/>
                  </a:solidFill>
                  <a:latin typeface="Crimson Roman"/>
                  <a:ea typeface="Crimson Roman"/>
                  <a:cs typeface="Crimson Roman"/>
                  <a:sym typeface="Crimson Roman"/>
                </a:rPr>
                <a:t>8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502795"/>
            <a:ext cx="16654224" cy="250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2"/>
              </a:lnSpc>
            </a:pPr>
            <a:r>
              <a:rPr lang="en-US" sz="5629">
                <a:solidFill>
                  <a:srgbClr val="3F4042"/>
                </a:solidFill>
                <a:latin typeface="Crimson Roman"/>
                <a:ea typeface="Crimson Roman"/>
                <a:cs typeface="Crimson Roman"/>
                <a:sym typeface="Crimson Roman"/>
              </a:rPr>
              <a:t>Принципы, на базе которых строится и функционирует система органов исполнительной власти: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38" r="-143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31793"/>
            <a:ext cx="14952732" cy="244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2"/>
              </a:lnSpc>
              <a:spcBef>
                <a:spcPct val="0"/>
              </a:spcBef>
            </a:pPr>
            <a:r>
              <a:rPr lang="en-US" sz="7460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Взаимодействие исполнительной и судебной ветвей власти: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4607" y="3568985"/>
            <a:ext cx="14701139" cy="512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678" lvl="1" indent="-267339" algn="l">
              <a:lnSpc>
                <a:spcPts val="3714"/>
              </a:lnSpc>
              <a:buFont typeface="Arial"/>
              <a:buChar char="•"/>
            </a:pPr>
            <a:r>
              <a:rPr lang="en-US" sz="2476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Исполнительная власть не может оказывать воздействие и влиять на отправление правосудия.</a:t>
            </a:r>
          </a:p>
          <a:p>
            <a:pPr marL="534678" lvl="1" indent="-267339" algn="l">
              <a:lnSpc>
                <a:spcPts val="3714"/>
              </a:lnSpc>
              <a:buFont typeface="Arial"/>
              <a:buChar char="•"/>
            </a:pPr>
            <a:r>
              <a:rPr lang="en-US" sz="2476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В рамках судебной системы реализуются полномочия по проверке нормативных и иных актов, которые издаются в рамках исполнительной власти.</a:t>
            </a:r>
          </a:p>
          <a:p>
            <a:pPr marL="534678" lvl="1" indent="-267339" algn="l">
              <a:lnSpc>
                <a:spcPts val="3714"/>
              </a:lnSpc>
              <a:buFont typeface="Arial"/>
              <a:buChar char="•"/>
            </a:pPr>
            <a:r>
              <a:rPr lang="en-US" sz="2476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Органы судебной власти уполномочены рассматривать жалобы граждан, а также разрешать конфликтные ситуации, возникшие между органами государственной власти.</a:t>
            </a:r>
          </a:p>
          <a:p>
            <a:pPr marL="534678" lvl="1" indent="-267339" algn="l">
              <a:lnSpc>
                <a:spcPts val="3714"/>
              </a:lnSpc>
              <a:buFont typeface="Arial"/>
              <a:buChar char="•"/>
            </a:pPr>
            <a:r>
              <a:rPr lang="en-US" sz="2476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Силами исполнительной власти обеспечивается материальная база судебной.</a:t>
            </a:r>
          </a:p>
          <a:p>
            <a:pPr marL="534678" lvl="1" indent="-267339" algn="l">
              <a:lnSpc>
                <a:spcPts val="3714"/>
              </a:lnSpc>
              <a:buFont typeface="Arial"/>
              <a:buChar char="•"/>
            </a:pPr>
            <a:r>
              <a:rPr lang="en-US" sz="2476">
                <a:solidFill>
                  <a:srgbClr val="3F4042"/>
                </a:solidFill>
                <a:latin typeface="Montserrat"/>
                <a:ea typeface="Montserrat"/>
                <a:cs typeface="Montserrat"/>
                <a:sym typeface="Montserrat"/>
              </a:rPr>
              <a:t>Органы исполнительной власти принимают участие в формировании судейского корпуса.</a:t>
            </a:r>
          </a:p>
          <a:p>
            <a:pPr marL="0" lvl="0" indent="0" algn="l">
              <a:lnSpc>
                <a:spcPts val="3714"/>
              </a:lnSpc>
              <a:spcBef>
                <a:spcPct val="0"/>
              </a:spcBef>
            </a:pPr>
            <a:endParaRPr lang="en-US" sz="2476">
              <a:solidFill>
                <a:srgbClr val="3F40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205598" y="2019132"/>
            <a:ext cx="1333763" cy="9525"/>
          </a:xfrm>
          <a:prstGeom prst="rect">
            <a:avLst/>
          </a:prstGeom>
          <a:solidFill>
            <a:srgbClr val="100F0E"/>
          </a:solidFill>
        </p:spPr>
      </p:sp>
      <p:sp>
        <p:nvSpPr>
          <p:cNvPr id="3" name="AutoShape 3"/>
          <p:cNvSpPr/>
          <p:nvPr/>
        </p:nvSpPr>
        <p:spPr>
          <a:xfrm>
            <a:off x="0" y="0"/>
            <a:ext cx="8042679" cy="102870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" name="Freeform 4"/>
          <p:cNvSpPr/>
          <p:nvPr/>
        </p:nvSpPr>
        <p:spPr>
          <a:xfrm>
            <a:off x="-5194773" y="0"/>
            <a:ext cx="13237451" cy="10287000"/>
          </a:xfrm>
          <a:custGeom>
            <a:avLst/>
            <a:gdLst/>
            <a:ahLst/>
            <a:cxnLst/>
            <a:rect l="l" t="t" r="r" b="b"/>
            <a:pathLst>
              <a:path w="13237451" h="10287000">
                <a:moveTo>
                  <a:pt x="0" y="0"/>
                </a:moveTo>
                <a:lnTo>
                  <a:pt x="13237452" y="0"/>
                </a:lnTo>
                <a:lnTo>
                  <a:pt x="132374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r="-17688" b="-89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97536" y="952500"/>
            <a:ext cx="6848392" cy="4167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4821">
                <a:solidFill>
                  <a:srgbClr val="3F4042"/>
                </a:solidFill>
                <a:latin typeface="Crimson Roman"/>
                <a:ea typeface="Crimson Roman"/>
                <a:cs typeface="Crimson Roman"/>
                <a:sym typeface="Crimson Roman"/>
              </a:rPr>
              <a:t>Взаимодействие законодательных  и исполнительных органов государственной власти субъектов РФ осуществляется в формах: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2736" y="1808247"/>
            <a:ext cx="5756860" cy="374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144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Законодательной инициативы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99866" y="1444957"/>
            <a:ext cx="641778" cy="107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3"/>
              </a:lnSpc>
            </a:pPr>
            <a:r>
              <a:rPr lang="en-US" sz="6421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1</a:t>
            </a:r>
          </a:p>
        </p:txBody>
      </p:sp>
      <p:sp>
        <p:nvSpPr>
          <p:cNvPr id="8" name="AutoShape 8"/>
          <p:cNvSpPr/>
          <p:nvPr/>
        </p:nvSpPr>
        <p:spPr>
          <a:xfrm>
            <a:off x="9205598" y="3064879"/>
            <a:ext cx="1333763" cy="9525"/>
          </a:xfrm>
          <a:prstGeom prst="rect">
            <a:avLst/>
          </a:prstGeom>
          <a:solidFill>
            <a:srgbClr val="100F0E"/>
          </a:solidFill>
        </p:spPr>
      </p:sp>
      <p:sp>
        <p:nvSpPr>
          <p:cNvPr id="9" name="TextBox 9"/>
          <p:cNvSpPr txBox="1"/>
          <p:nvPr/>
        </p:nvSpPr>
        <p:spPr>
          <a:xfrm>
            <a:off x="10872736" y="2853994"/>
            <a:ext cx="5756860" cy="374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144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Издания законов субъектов РФ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99866" y="2490704"/>
            <a:ext cx="641778" cy="107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3"/>
              </a:lnSpc>
            </a:pPr>
            <a:r>
              <a:rPr lang="en-US" sz="6421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20361" y="3626354"/>
            <a:ext cx="5756860" cy="151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144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осуществления контроля за соблюдением и исполнением Конституции и законов РФ, законов субъекта РФ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9866" y="3834564"/>
            <a:ext cx="641778" cy="107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3"/>
              </a:lnSpc>
            </a:pPr>
            <a:r>
              <a:rPr lang="en-US" sz="6421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3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253222" y="5783036"/>
            <a:ext cx="1333763" cy="9525"/>
          </a:xfrm>
          <a:prstGeom prst="rect">
            <a:avLst/>
          </a:prstGeom>
          <a:solidFill>
            <a:srgbClr val="100F0E"/>
          </a:solidFill>
        </p:spPr>
      </p:sp>
      <p:sp>
        <p:nvSpPr>
          <p:cNvPr id="15" name="TextBox 15"/>
          <p:cNvSpPr txBox="1"/>
          <p:nvPr/>
        </p:nvSpPr>
        <p:spPr>
          <a:xfrm>
            <a:off x="10872736" y="5478215"/>
            <a:ext cx="5756860" cy="755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144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формирования органов власти субъекта РФ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99866" y="5295900"/>
            <a:ext cx="641778" cy="107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3"/>
              </a:lnSpc>
            </a:pPr>
            <a:r>
              <a:rPr lang="en-US" sz="6421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72736" y="6426540"/>
            <a:ext cx="5756860" cy="151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144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права высшего должностного лица участвовать в работе высшего законодательного органа субъекта РФ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99866" y="6520451"/>
            <a:ext cx="641778" cy="107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3"/>
              </a:lnSpc>
            </a:pPr>
            <a:r>
              <a:rPr lang="en-US" sz="6421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72736" y="8354013"/>
            <a:ext cx="5756860" cy="374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144" b="1">
                <a:solidFill>
                  <a:srgbClr val="3F40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иных формах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99866" y="7943686"/>
            <a:ext cx="641778" cy="107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3"/>
              </a:lnSpc>
            </a:pPr>
            <a:r>
              <a:rPr lang="en-US" sz="6421">
                <a:solidFill>
                  <a:srgbClr val="EB8208"/>
                </a:solidFill>
                <a:latin typeface="Crimson Roman"/>
                <a:ea typeface="Crimson Roman"/>
                <a:cs typeface="Crimson Roman"/>
                <a:sym typeface="Crimson Roman"/>
              </a:rPr>
              <a:t>6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253223" y="8560136"/>
            <a:ext cx="1333763" cy="9525"/>
          </a:xfrm>
          <a:prstGeom prst="rect">
            <a:avLst/>
          </a:prstGeom>
          <a:solidFill>
            <a:srgbClr val="100F0E"/>
          </a:solidFill>
        </p:spPr>
      </p:sp>
      <p:sp>
        <p:nvSpPr>
          <p:cNvPr id="23" name="AutoShape 14"/>
          <p:cNvSpPr/>
          <p:nvPr/>
        </p:nvSpPr>
        <p:spPr>
          <a:xfrm>
            <a:off x="9253222" y="7047001"/>
            <a:ext cx="1333763" cy="9525"/>
          </a:xfrm>
          <a:prstGeom prst="rect">
            <a:avLst/>
          </a:prstGeom>
          <a:solidFill>
            <a:srgbClr val="100F0E"/>
          </a:solidFill>
        </p:spPr>
      </p:sp>
      <p:sp>
        <p:nvSpPr>
          <p:cNvPr id="25" name="AutoShape 14"/>
          <p:cNvSpPr/>
          <p:nvPr/>
        </p:nvSpPr>
        <p:spPr>
          <a:xfrm>
            <a:off x="9205598" y="4279426"/>
            <a:ext cx="1333763" cy="9525"/>
          </a:xfrm>
          <a:prstGeom prst="rect">
            <a:avLst/>
          </a:prstGeom>
          <a:solidFill>
            <a:srgbClr val="100F0E"/>
          </a:solid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2" b="-769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0110" y="-2284905"/>
            <a:ext cx="8857621" cy="8857621"/>
          </a:xfrm>
          <a:custGeom>
            <a:avLst/>
            <a:gdLst/>
            <a:ahLst/>
            <a:cxnLst/>
            <a:rect l="l" t="t" r="r" b="b"/>
            <a:pathLst>
              <a:path w="8857621" h="8857621">
                <a:moveTo>
                  <a:pt x="0" y="0"/>
                </a:moveTo>
                <a:lnTo>
                  <a:pt x="8857620" y="0"/>
                </a:lnTo>
                <a:lnTo>
                  <a:pt x="8857620" y="8857621"/>
                </a:lnTo>
                <a:lnTo>
                  <a:pt x="0" y="8857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188795" y="206648"/>
            <a:ext cx="6910510" cy="4638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82"/>
              </a:lnSpc>
              <a:spcBef>
                <a:spcPct val="0"/>
              </a:spcBef>
            </a:pPr>
            <a:r>
              <a:rPr lang="en-US" sz="8844" dirty="0">
                <a:solidFill>
                  <a:srgbClr val="EB8208"/>
                </a:solidFill>
                <a:latin typeface="Lora"/>
                <a:ea typeface="Lora"/>
                <a:cs typeface="Lora"/>
                <a:sym typeface="Lora"/>
              </a:rPr>
              <a:t>СПАСИБО ЗА ВНИМАНИЕ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95277" y="6877937"/>
            <a:ext cx="4201620" cy="3036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579">
                <a:solidFill>
                  <a:srgbClr val="17141A"/>
                </a:solidFill>
                <a:latin typeface="Lora"/>
                <a:ea typeface="Lora"/>
                <a:cs typeface="Lora"/>
                <a:sym typeface="Lora"/>
              </a:rPr>
              <a:t>ВЫПОЛНЯЛИ ПРОЕКТ: 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579">
                <a:solidFill>
                  <a:srgbClr val="17141A"/>
                </a:solidFill>
                <a:latin typeface="Lora"/>
                <a:ea typeface="Lora"/>
                <a:cs typeface="Lora"/>
                <a:sym typeface="Lora"/>
              </a:rPr>
              <a:t> КОРЖЕНЕВСКИЙ МАКАР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579">
                <a:solidFill>
                  <a:srgbClr val="17141A"/>
                </a:solidFill>
                <a:latin typeface="Lora"/>
                <a:ea typeface="Lora"/>
                <a:cs typeface="Lora"/>
                <a:sym typeface="Lora"/>
              </a:rPr>
              <a:t> БУРМАН ЕКАТЕРИНА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579">
                <a:solidFill>
                  <a:srgbClr val="17141A"/>
                </a:solidFill>
                <a:latin typeface="Lora"/>
                <a:ea typeface="Lora"/>
                <a:cs typeface="Lora"/>
                <a:sym typeface="Lora"/>
              </a:rPr>
              <a:t> ТАНЦЕРЕВ АНДРЕЙ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579">
                <a:solidFill>
                  <a:srgbClr val="17141A"/>
                </a:solidFill>
                <a:latin typeface="Lora"/>
                <a:ea typeface="Lora"/>
                <a:cs typeface="Lora"/>
                <a:sym typeface="Lora"/>
              </a:rPr>
              <a:t> КОМАРОВ ИЛЬЯ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579">
                <a:solidFill>
                  <a:srgbClr val="17141A"/>
                </a:solidFill>
                <a:latin typeface="Lora"/>
                <a:ea typeface="Lora"/>
                <a:cs typeface="Lora"/>
                <a:sym typeface="Lora"/>
              </a:rPr>
              <a:t> ЧЕПЕЛИНСКАЯ ВАЛЕРИЯ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500</Words>
  <Application>Microsoft Office PowerPoint</Application>
  <PresentationFormat>Произвольный</PresentationFormat>
  <Paragraphs>79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Lora</vt:lpstr>
      <vt:lpstr>Crimson Roman</vt:lpstr>
      <vt:lpstr>Arial</vt:lpstr>
      <vt:lpstr>Montserrat</vt:lpstr>
      <vt:lpstr>Calibri</vt:lpstr>
      <vt:lpstr>Montserrat Bold</vt:lpstr>
      <vt:lpstr>Open Sans</vt:lpstr>
      <vt:lpstr>Montserrat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Исполнительная власть</dc:title>
  <dc:creator>kitty swirth</dc:creator>
  <cp:lastModifiedBy>swirth</cp:lastModifiedBy>
  <cp:revision>4</cp:revision>
  <dcterms:created xsi:type="dcterms:W3CDTF">2006-08-16T00:00:00Z</dcterms:created>
  <dcterms:modified xsi:type="dcterms:W3CDTF">2024-12-19T16:07:20Z</dcterms:modified>
  <dc:identifier>DAGZgwodAlk</dc:identifier>
</cp:coreProperties>
</file>