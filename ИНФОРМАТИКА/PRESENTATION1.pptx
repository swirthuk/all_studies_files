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3" r:id="rId8"/>
    <p:sldId id="260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984024745558628"/>
          <c:y val="2.578124841404722E-2"/>
          <c:w val="0.47239774179651978"/>
          <c:h val="0.9069372596618319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Количество человек</c:v>
                </c:pt>
              </c:strCache>
            </c:strRef>
          </c:tx>
          <c:spPr>
            <a:solidFill>
              <a:schemeClr val="accent1"/>
            </a:solidFill>
            <a:ln w="38100">
              <a:noFill/>
            </a:ln>
            <a:effectLst/>
          </c:spPr>
          <c:invertIfNegative val="0"/>
          <c:cat>
            <c:strRef>
              <c:f>Лист1!$A$2:$A$7</c:f>
              <c:strCache>
                <c:ptCount val="6"/>
                <c:pt idx="0">
                  <c:v>Бесы</c:v>
                </c:pt>
                <c:pt idx="1">
                  <c:v>Братья Каразмовы</c:v>
                </c:pt>
                <c:pt idx="2">
                  <c:v>Подросток</c:v>
                </c:pt>
                <c:pt idx="3">
                  <c:v>Униженные и оскорблённые</c:v>
                </c:pt>
                <c:pt idx="4">
                  <c:v>Преступление и наказание</c:v>
                </c:pt>
                <c:pt idx="5">
                  <c:v>Идиот</c:v>
                </c:pt>
              </c:strCache>
            </c:strRef>
          </c:cat>
          <c:val>
            <c:numRef>
              <c:f>Лист1!$B$2:$B$7</c:f>
              <c:numCache>
                <c:formatCode>General</c:formatCode>
                <c:ptCount val="6"/>
                <c:pt idx="0">
                  <c:v>21277</c:v>
                </c:pt>
                <c:pt idx="1">
                  <c:v>32668</c:v>
                </c:pt>
                <c:pt idx="2">
                  <c:v>6576</c:v>
                </c:pt>
                <c:pt idx="3">
                  <c:v>20254</c:v>
                </c:pt>
                <c:pt idx="4">
                  <c:v>100866</c:v>
                </c:pt>
                <c:pt idx="5">
                  <c:v>49843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E7-4DB1-AC6C-E916E441FFF9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Лист1!$A$2:$A$7</c:f>
              <c:strCache>
                <c:ptCount val="6"/>
                <c:pt idx="0">
                  <c:v>Бесы</c:v>
                </c:pt>
                <c:pt idx="1">
                  <c:v>Братья Каразмовы</c:v>
                </c:pt>
                <c:pt idx="2">
                  <c:v>Подросток</c:v>
                </c:pt>
                <c:pt idx="3">
                  <c:v>Униженные и оскорблённые</c:v>
                </c:pt>
                <c:pt idx="4">
                  <c:v>Преступление и наказание</c:v>
                </c:pt>
                <c:pt idx="5">
                  <c:v>Идиот</c:v>
                </c:pt>
              </c:strCache>
            </c:strRef>
          </c:cat>
          <c:val>
            <c:numRef>
              <c:f>Лист1!$C$2:$C$7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1-DAE7-4DB1-AC6C-E916E441FFF9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Лист1!$A$2:$A$7</c:f>
              <c:strCache>
                <c:ptCount val="6"/>
                <c:pt idx="0">
                  <c:v>Бесы</c:v>
                </c:pt>
                <c:pt idx="1">
                  <c:v>Братья Каразмовы</c:v>
                </c:pt>
                <c:pt idx="2">
                  <c:v>Подросток</c:v>
                </c:pt>
                <c:pt idx="3">
                  <c:v>Униженные и оскорблённые</c:v>
                </c:pt>
                <c:pt idx="4">
                  <c:v>Преступление и наказание</c:v>
                </c:pt>
                <c:pt idx="5">
                  <c:v>Идиот</c:v>
                </c:pt>
              </c:strCache>
            </c:strRef>
          </c:cat>
          <c:val>
            <c:numRef>
              <c:f>Лист1!$D$2:$D$7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2-DAE7-4DB1-AC6C-E916E441FF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27862687"/>
        <c:axId val="1327875999"/>
      </c:barChart>
      <c:catAx>
        <c:axId val="13278626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27875999"/>
        <c:crosses val="autoZero"/>
        <c:auto val="1"/>
        <c:lblAlgn val="ctr"/>
        <c:lblOffset val="100"/>
        <c:noMultiLvlLbl val="0"/>
      </c:catAx>
      <c:valAx>
        <c:axId val="13278759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27862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legendEntry>
        <c:idx val="1"/>
        <c:delete val="1"/>
      </c:legendEntry>
      <c:overlay val="0"/>
      <c:spPr>
        <a:noFill/>
        <a:ln w="25400">
          <a:solidFill>
            <a:schemeClr val="tx1">
              <a:lumMod val="95000"/>
              <a:lumOff val="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6821B-F7DF-43CE-88F3-F83F58D52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A7DE6F-6A49-4A69-BFB4-4FFB950DD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9CD4AF-13E3-40FE-96E2-8CEA66A7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F11-6A7A-41E9-9D85-85CD24A0230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E90131-BD65-4456-BA8A-2A7D0AD6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EBC0F4-49FE-468C-8260-55C67940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30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84A391-1F79-4714-B350-EA843C76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1F70AD-F100-4795-9D55-F775585CD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77AC58-D2FC-4F2C-B75C-42027C1AB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F11-6A7A-41E9-9D85-85CD24A0230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627C44-2013-441D-9A71-29D55AD0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00F142-7CEB-4FEB-8936-E624043E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086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C7CD63-E416-4372-9281-F4A9D04A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AF6D7B-399A-4315-9C6F-E333C5550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65B8B7-EC8E-4F12-9FF0-C11E73E5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F11-6A7A-41E9-9D85-85CD24A0230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62D33A-9B11-4285-A16B-EEE8CBCF1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0AD41E-7480-4CBD-A3B8-642FDA441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204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B5378-E6D3-49D8-8297-5F9352B4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67B57F-5B71-4982-B5A8-F8F1284A6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0ADA69-D708-4415-89C3-FE0152F8A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873432-0F55-40DE-B732-8232F1650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F11-6A7A-41E9-9D85-85CD24A0230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BF71CD-DF36-48EC-8AFF-BED797F0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C777A9-7A60-4FB2-AC25-ADF167FAD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454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64834-8143-4DE8-8569-BC2308DCC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C330CB-F236-43E7-85C9-4EF3B638E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A52E8D-7DC1-4D0A-B9DB-9853CD162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4A753D-EFAB-46E5-A66C-D5B16017FD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9A5828-9757-454E-9EEB-D301D12E8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C6348AE-DB05-405B-AA06-FEAAB1FE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F11-6A7A-41E9-9D85-85CD24A0230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69DC33E-A2A5-4590-A634-BEDC3AC47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E87BFEA-2818-4334-BDFA-8E0D52818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48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FB209-8E84-4E16-8306-CA82BDD2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A2C094F-4524-4444-8637-019C31254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F11-6A7A-41E9-9D85-85CD24A0230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EFE2BB-9F62-46ED-B78F-E897ECBD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328A8B-EE43-4B9A-9617-3918A7D1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802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FF7EDA7-D633-40D3-82BD-87DB4AF39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F11-6A7A-41E9-9D85-85CD24A0230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F44819E-029E-4A92-9E29-13ADD2CD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14275D-CA70-4EBF-BFDF-279F2EE3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81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AE78E4-B120-4DC8-9F47-8C0A3BA2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074FAA-A4CE-4C9E-AE0B-BE622372D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6CCD0E-2ED4-4494-BCBF-B84C2030F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15BC29-A37E-4AA4-A358-DA9B5ECC8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F11-6A7A-41E9-9D85-85CD24A0230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5C5E14-5A8D-46AD-A1CF-E3AC9A77C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759A7C-634B-42DF-BBB6-5F24A5F4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89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BD69E-18EE-4A23-A6FF-13AEE29A1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DBC2DD4-1D96-4E1D-948B-3FB12607A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092A30-9B5C-4647-AF97-E6D635DCB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B768BE-D9B0-4AB7-9962-2D4219C9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F11-6A7A-41E9-9D85-85CD24A0230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3ACB2F-D7BF-4036-9390-3C653DDF9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21D9AC-6D92-474D-8A06-1C4ED3AE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305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15C84-708B-4A50-AC72-579C2F45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6AABDD-8935-4EF0-B665-228A05EC0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53557C-59B7-48A1-8316-BAEC2F781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F11-6A7A-41E9-9D85-85CD24A0230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340DF4-0762-4E6D-9755-F2F4A662E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418E0D-5D33-4136-83AF-118B40EF8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501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8B0DDAF-A89C-4D4A-A8DB-9FF7ADF9AB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23B4984-2C0F-468D-98C8-E4CB56262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268438-83BA-4F63-BD45-05EE6C8F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F11-6A7A-41E9-9D85-85CD24A0230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42738D-ED14-4D87-81FE-38CBDB1B9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947645-D277-451B-A1D7-A6B3F045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05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1FF97-CBBF-4A18-800A-9B8D9F1A1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91C739-2936-499D-A4F5-6886C8492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934EB6-083C-485E-9C73-C744996587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D3F11-6A7A-41E9-9D85-85CD24A0230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FF8275-2FD7-4AA8-A723-7EA04A27E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E9C534-FC31-47E7-9243-9317A0B82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16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21CE6-7978-4BC6-9DDE-C1029D8E9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096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</a:t>
            </a:r>
            <a:b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ТОМСКИЙ ГОСУДАРСТВЕННЫЙ УНИВЕРСИТЕТ СИСТЕМ УПРАВЛЕНИЯ И РАДИОЭЛЕКТРОНИКИ (ТУСУР)</a:t>
            </a:r>
            <a:b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экономической математики, информатики и статики (ЭМИС)</a:t>
            </a:r>
            <a:b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9C0306-1FE5-437A-B6E2-5743DEE39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3513" y="2508733"/>
            <a:ext cx="9144000" cy="1655762"/>
          </a:xfrm>
        </p:spPr>
        <p:txBody>
          <a:bodyPr/>
          <a:lstStyle/>
          <a:p>
            <a:r>
              <a:rPr lang="ru-RU" dirty="0"/>
              <a:t>ДОСТОЕВСКИЙ</a:t>
            </a:r>
          </a:p>
          <a:p>
            <a:r>
              <a:rPr lang="ru-RU" dirty="0"/>
              <a:t>Презентация по дисциплине «Информатика»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FE5439-F34D-41E5-9C54-D341A8C65EAB}"/>
              </a:ext>
            </a:extLst>
          </p:cNvPr>
          <p:cNvSpPr txBox="1"/>
          <p:nvPr/>
        </p:nvSpPr>
        <p:spPr>
          <a:xfrm>
            <a:off x="9601943" y="5562132"/>
            <a:ext cx="2291140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Студент группы 594-2</a:t>
            </a:r>
            <a:br>
              <a:rPr lang="ru-RU" dirty="0"/>
            </a:br>
            <a:r>
              <a:rPr lang="ru-RU" dirty="0"/>
              <a:t>Танцерев А.А.</a:t>
            </a:r>
            <a:br>
              <a:rPr lang="ru-RU" dirty="0"/>
            </a:br>
            <a:r>
              <a:rPr lang="ru-RU" dirty="0"/>
              <a:t>15.11.2024</a:t>
            </a:r>
          </a:p>
        </p:txBody>
      </p:sp>
    </p:spTree>
    <p:extLst>
      <p:ext uri="{BB962C8B-B14F-4D97-AF65-F5344CB8AC3E}">
        <p14:creationId xmlns:p14="http://schemas.microsoft.com/office/powerpoint/2010/main" val="998937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10050"/>
    </mc:Choice>
    <mc:Fallback>
      <p:transition advClick="0" advTm="1005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E4DCF-64E5-4BFF-80AE-0FDD0F6F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317" y="98286"/>
            <a:ext cx="3369366" cy="1165501"/>
          </a:xfrm>
        </p:spPr>
        <p:txBody>
          <a:bodyPr/>
          <a:lstStyle/>
          <a:p>
            <a:pPr algn="ctr"/>
            <a:r>
              <a:rPr lang="ru-RU" dirty="0"/>
              <a:t>Достоевский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AD5CB1-ACC3-422B-88A2-9D8352F36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48" y="1063487"/>
            <a:ext cx="5135217" cy="555079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Достоевский Федор Михайлович (30 октября (11 ноября) 1821 – 29 января (9 февраля) 1881) - русский писатель, мыслитель, философ и публицист. Член-корреспондент Петербургской АН с 1877 года.</a:t>
            </a:r>
          </a:p>
          <a:p>
            <a:pPr algn="l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Родился в Москве. Сын штаб-лекаря Мариинской больницы Михаила Андреевича Достоевского, убитого крепостными крестьянами, и дочери купца Марии Федоровны, урожденной Нечаевой, умершей от туберкулеза.</a:t>
            </a:r>
          </a:p>
          <a:p>
            <a:pPr algn="l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детства страдал эпилепсией.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9BB85E-BE89-477D-85CD-5F0B64F29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401" y="1084883"/>
            <a:ext cx="4665663" cy="6759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951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100">
        <p:fade/>
      </p:transition>
    </mc:Choice>
    <mc:Fallback>
      <p:transition spd="med" advTm="201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A7A3BE4-4A13-4DEA-897C-5097A8607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739" y="477462"/>
            <a:ext cx="9156700" cy="6558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74020-1C85-4E8F-8720-52A227583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706" y="167163"/>
            <a:ext cx="5628588" cy="869786"/>
          </a:xfrm>
        </p:spPr>
        <p:txBody>
          <a:bodyPr/>
          <a:lstStyle/>
          <a:p>
            <a:pPr algn="ctr"/>
            <a:r>
              <a:rPr lang="ru-RU" dirty="0"/>
              <a:t>Работы Достоевского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BEFBAC-BEC0-4E9E-B85A-62D8C0233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299" y="1036948"/>
            <a:ext cx="5091260" cy="54392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Достоевский за свою жизнь написал 54 произведения, среди которых 8 романов, пять из которых входят в так называемое «Великое </a:t>
            </a:r>
            <a:r>
              <a:rPr lang="ru-RU" dirty="0" err="1"/>
              <a:t>пятикнижие</a:t>
            </a:r>
            <a:r>
              <a:rPr lang="ru-RU" dirty="0"/>
              <a:t> Достоевского», а именно: «Преступление и наказание», «Бесы», «Идиот», «Подросток» и «Братья Карамазовы».</a:t>
            </a:r>
          </a:p>
          <a:p>
            <a:pPr marL="0" indent="0">
              <a:buNone/>
            </a:pPr>
            <a:r>
              <a:rPr lang="ru-RU" dirty="0"/>
              <a:t>Произведения Достоевского поистине считаются мировой классической литературой, его произведения переведены свыше, чем 170 языков!</a:t>
            </a:r>
          </a:p>
          <a:p>
            <a:pPr marL="0" indent="0">
              <a:buNone/>
            </a:pPr>
            <a:r>
              <a:rPr lang="ru-RU" dirty="0"/>
              <a:t>Достоевский привнёс в мировую литературу неизмеримый вклад.</a:t>
            </a:r>
          </a:p>
        </p:txBody>
      </p:sp>
    </p:spTree>
    <p:extLst>
      <p:ext uri="{BB962C8B-B14F-4D97-AF65-F5344CB8AC3E}">
        <p14:creationId xmlns:p14="http://schemas.microsoft.com/office/powerpoint/2010/main" val="1849670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0">
        <p:fade/>
      </p:transition>
    </mc:Choice>
    <mc:Fallback>
      <p:transition spd="med" advTm="2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47BC1-94F4-4FCD-88F6-F5EC988B1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Количество людей, прочитавших произведения Достоевского, согласно статистике </a:t>
            </a:r>
            <a:r>
              <a:rPr lang="en-US" dirty="0" err="1"/>
              <a:t>LiveLib</a:t>
            </a:r>
            <a:endParaRPr lang="ru-RU" dirty="0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302BC0C8-0D11-4FBC-B472-8CC5ABCD54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9392840"/>
              </p:ext>
            </p:extLst>
          </p:nvPr>
        </p:nvGraphicFramePr>
        <p:xfrm>
          <a:off x="1631427" y="1343818"/>
          <a:ext cx="9809922" cy="4913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40767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5000">
        <p:fade/>
      </p:transition>
    </mc:Choice>
    <mc:Fallback>
      <p:transition spd="med" advClick="0" advTm="15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0DB6A813-4310-4AF0-93FF-E6C49B03A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504" y="2208167"/>
            <a:ext cx="178117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75449F76-F0A6-40EC-8E0F-12E54BB14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426" y="4203568"/>
            <a:ext cx="2282073" cy="2282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96FF9-3F0E-4780-8C4D-9A68482D4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217" y="120028"/>
            <a:ext cx="4987565" cy="1325563"/>
          </a:xfrm>
        </p:spPr>
        <p:txBody>
          <a:bodyPr/>
          <a:lstStyle/>
          <a:p>
            <a:pPr algn="ctr"/>
            <a:r>
              <a:rPr lang="ru-RU" dirty="0"/>
              <a:t>Книги Достоевского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93C899-27D7-437D-92FD-45138AFFB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739" y="1253331"/>
            <a:ext cx="7730765" cy="52323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Сейчас на территории Российской Федерации существует множество издательств, которые выпускают произведения Достоевского в различных изданиях. Самыми популярными считаются: «Эксклюзивная классика АСТ», «Азбука Классика», «Магистраль» и другие.</a:t>
            </a:r>
          </a:p>
          <a:p>
            <a:pPr marL="0" indent="0">
              <a:buNone/>
            </a:pPr>
            <a:r>
              <a:rPr lang="ru-RU" dirty="0"/>
              <a:t>Однако хочется выделить издание «Яркие страницы», которые за невысокую стоимость предлагают качественные, офсетные, белые листы, твёрдую обложку, приятный глазу шрифт. Цены на это издание представлены в виде таблицы на следующем слайде.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2D6FEA-722A-461B-B3FC-94701076D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6666" y="653097"/>
            <a:ext cx="2101594" cy="34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43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0">
        <p:fade/>
      </p:transition>
    </mc:Choice>
    <mc:Fallback>
      <p:transition spd="med" advTm="20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7DAC8-3BAC-4518-BBA9-3F9DE3623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075" y="45772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Где можно купить книги Достоевского?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16A8A758-7937-4E1D-95FF-E76A86107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544814"/>
              </p:ext>
            </p:extLst>
          </p:nvPr>
        </p:nvGraphicFramePr>
        <p:xfrm>
          <a:off x="1381539" y="1783287"/>
          <a:ext cx="9422673" cy="3477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766">
                  <a:extLst>
                    <a:ext uri="{9D8B030D-6E8A-4147-A177-3AD203B41FA5}">
                      <a16:colId xmlns:a16="http://schemas.microsoft.com/office/drawing/2014/main" val="3304347841"/>
                    </a:ext>
                  </a:extLst>
                </a:gridCol>
                <a:gridCol w="1163955">
                  <a:extLst>
                    <a:ext uri="{9D8B030D-6E8A-4147-A177-3AD203B41FA5}">
                      <a16:colId xmlns:a16="http://schemas.microsoft.com/office/drawing/2014/main" val="1115965012"/>
                    </a:ext>
                  </a:extLst>
                </a:gridCol>
                <a:gridCol w="1757238">
                  <a:extLst>
                    <a:ext uri="{9D8B030D-6E8A-4147-A177-3AD203B41FA5}">
                      <a16:colId xmlns:a16="http://schemas.microsoft.com/office/drawing/2014/main" val="3498172498"/>
                    </a:ext>
                  </a:extLst>
                </a:gridCol>
                <a:gridCol w="1757238">
                  <a:extLst>
                    <a:ext uri="{9D8B030D-6E8A-4147-A177-3AD203B41FA5}">
                      <a16:colId xmlns:a16="http://schemas.microsoft.com/office/drawing/2014/main" val="3025750798"/>
                    </a:ext>
                  </a:extLst>
                </a:gridCol>
                <a:gridCol w="1757238">
                  <a:extLst>
                    <a:ext uri="{9D8B030D-6E8A-4147-A177-3AD203B41FA5}">
                      <a16:colId xmlns:a16="http://schemas.microsoft.com/office/drawing/2014/main" val="2563162896"/>
                    </a:ext>
                  </a:extLst>
                </a:gridCol>
                <a:gridCol w="1757238">
                  <a:extLst>
                    <a:ext uri="{9D8B030D-6E8A-4147-A177-3AD203B41FA5}">
                      <a16:colId xmlns:a16="http://schemas.microsoft.com/office/drawing/2014/main" val="3859883006"/>
                    </a:ext>
                  </a:extLst>
                </a:gridCol>
              </a:tblGrid>
              <a:tr h="69553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Магазины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Братья Карамазовы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Бесы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Преступление и наказание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Идиот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713859"/>
                  </a:ext>
                </a:extLst>
              </a:tr>
              <a:tr h="695532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WildBerries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i="1" dirty="0"/>
                        <a:t>432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396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337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507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874615"/>
                  </a:ext>
                </a:extLst>
              </a:tr>
              <a:tr h="695532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Ozon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449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412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355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510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679238"/>
                  </a:ext>
                </a:extLst>
              </a:tr>
              <a:tr h="695532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Chitai-gorod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778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712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572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712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565808"/>
                  </a:ext>
                </a:extLst>
              </a:tr>
              <a:tr h="695532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Яндекс Маркет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496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917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432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1" dirty="0"/>
                        <a:t>504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7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982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5000">
        <p:fade/>
      </p:transition>
    </mc:Choice>
    <mc:Fallback>
      <p:transition spd="med" advTm="15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513AF-849F-46E8-AE4D-CC9E8016A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302" y="216817"/>
            <a:ext cx="8937396" cy="1068519"/>
          </a:xfrm>
        </p:spPr>
        <p:txBody>
          <a:bodyPr/>
          <a:lstStyle/>
          <a:p>
            <a:pPr algn="ctr"/>
            <a:r>
              <a:rPr lang="ru-RU" dirty="0"/>
              <a:t>Сериал «Преступление и наказание»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A530D1-BB38-4176-A9D8-40D4F0BB1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262" y="1285336"/>
            <a:ext cx="6740951" cy="49239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 тому же, недавно был выпущен сериал «Преступление и наказание», действия в котором описывают одноимённый роман Фёдора Михайловича Достоевского. Роль Родина Романовича Раскольникова сыграл Иван Янковский, который прославился благодаря своей роли в сериале «Слово пацана. Кровь на асфальте».</a:t>
            </a:r>
          </a:p>
          <a:p>
            <a:pPr marL="0" indent="0">
              <a:buNone/>
            </a:pPr>
            <a:r>
              <a:rPr lang="ru-RU" dirty="0"/>
              <a:t>Сериал получил не самую высокую оценку, а именно 5,8</a:t>
            </a:r>
            <a:r>
              <a:rPr lang="en-US" dirty="0"/>
              <a:t>/10</a:t>
            </a:r>
            <a:r>
              <a:rPr lang="ru-RU" dirty="0"/>
              <a:t> (на момент 66-ти тысяч голосов).</a:t>
            </a:r>
          </a:p>
        </p:txBody>
      </p:sp>
      <p:pic>
        <p:nvPicPr>
          <p:cNvPr id="3076" name="Picture 4" descr="Преступление и наказание">
            <a:extLst>
              <a:ext uri="{FF2B5EF4-FFF2-40B4-BE49-F238E27FC236}">
                <a16:creationId xmlns:a16="http://schemas.microsoft.com/office/drawing/2014/main" id="{4C05DA7B-0974-48F9-A2D0-6DA0294B0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435" y="1159497"/>
            <a:ext cx="3717303" cy="533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673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0">
        <p:fade/>
      </p:transition>
    </mc:Choice>
    <mc:Fallback>
      <p:transition spd="med" advTm="20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7CA31-0D5D-40E1-BB5A-50406978C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78"/>
            <a:ext cx="10515600" cy="877266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Тизер к сериалу «Преступление и наказание»</a:t>
            </a:r>
          </a:p>
        </p:txBody>
      </p:sp>
      <p:pic>
        <p:nvPicPr>
          <p:cNvPr id="4" name="Преступление и Наказание тизер">
            <a:hlinkClick r:id="" action="ppaction://media"/>
            <a:extLst>
              <a:ext uri="{FF2B5EF4-FFF2-40B4-BE49-F238E27FC236}">
                <a16:creationId xmlns:a16="http://schemas.microsoft.com/office/drawing/2014/main" id="{20BC8F4B-B15A-417B-BB3E-496BC5ABD38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98543" y="1103244"/>
            <a:ext cx="8994913" cy="505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49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0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419</Words>
  <Application>Microsoft Office PowerPoint</Application>
  <PresentationFormat>Широкоэкранный</PresentationFormat>
  <Paragraphs>47</Paragraphs>
  <Slides>8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Тема Office</vt:lpstr>
      <vt:lpstr>Министерство науки и высшего образования Российской Федерации Федеральное государственное автономное образовательное учреждение высшего образования ТОМСКИЙ ГОСУДАРСТВЕННЫЙ УНИВЕРСИТЕТ СИСТЕМ УПРАВЛЕНИЯ И РАДИОЭЛЕКТРОНИКИ (ТУСУР) Кафедра экономической математики, информатики и статики (ЭМИС) </vt:lpstr>
      <vt:lpstr>Достоевский</vt:lpstr>
      <vt:lpstr>Работы Достоевского</vt:lpstr>
      <vt:lpstr>Количество людей, прочитавших произведения Достоевского, согласно статистике LiveLib</vt:lpstr>
      <vt:lpstr>Книги Достоевского</vt:lpstr>
      <vt:lpstr>Где можно купить книги Достоевского?</vt:lpstr>
      <vt:lpstr>Сериал «Преступление и наказание»</vt:lpstr>
      <vt:lpstr>Тизер к сериалу «Преступление и наказание»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науки и высшего образования Российской Федерации Федеральное государственное автономное образовательное учреждение высшего образования ТОМСКИЙ ГОСУДАРСТВЕННЫЙ УНИВЕРСИТЕТ СИСТЕМ УПРАВЛЕНИЯ И РАДИОЭЛЕКТРОНИКИ (ТУСУР) Кафедра экономической математики, информатики и статики (ЭМИС)</dc:title>
  <dc:creator>kitty swirth</dc:creator>
  <cp:lastModifiedBy>kitty swirth</cp:lastModifiedBy>
  <cp:revision>12</cp:revision>
  <dcterms:created xsi:type="dcterms:W3CDTF">2024-11-09T07:06:24Z</dcterms:created>
  <dcterms:modified xsi:type="dcterms:W3CDTF">2024-11-12T12:37:42Z</dcterms:modified>
</cp:coreProperties>
</file>