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1" r:id="rId4"/>
    <p:sldId id="262" r:id="rId5"/>
    <p:sldId id="265" r:id="rId6"/>
    <p:sldId id="270" r:id="rId7"/>
    <p:sldId id="264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ty swirth" initials="ks" lastIdx="1" clrIdx="0">
    <p:extLst>
      <p:ext uri="{19B8F6BF-5375-455C-9EA6-DF929625EA0E}">
        <p15:presenceInfo xmlns:p15="http://schemas.microsoft.com/office/powerpoint/2012/main" userId="919515adea8bd74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6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6C5E297-01A9-4F11-A1C4-EBF090EB9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896935-41BD-457F-A11D-1F3C87B008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61EA2-5AA7-41AC-BEC3-FF361A0E1326}" type="datetimeFigureOut">
              <a:rPr lang="ru-RU" smtClean="0"/>
              <a:t>03.12.2024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C0D25E7-EF77-4C60-9FFF-1267C793A2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94972A-6A28-4EFD-BE91-1467A203AC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BA5AA-D1E4-4DED-B0F4-BDD3CFFDFD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0549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7ABC4-1994-4054-B943-F854669F4562}" type="datetimeFigureOut">
              <a:rPr lang="ru-RU" smtClean="0"/>
              <a:t>03.12.2024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DB12F-85E9-4348-B78A-313D4DF45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3694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6821B-F7DF-43CE-88F3-F83F58D52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A7DE6F-6A49-4A69-BFB4-4FFB950DD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9CD4AF-13E3-40FE-96E2-8CEA66A7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B9D5-AF58-4B1B-8634-76F4BA62158A}" type="datetime1">
              <a:rPr lang="ru-RU" smtClean="0"/>
              <a:t>03.12.2024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E90131-BD65-4456-BA8A-2A7D0AD6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BC0F4-49FE-468C-8260-55C67940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30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4A391-1F79-4714-B350-EA843C76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F70AD-F100-4795-9D55-F775585CD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7AC58-D2FC-4F2C-B75C-42027C1A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4C85C-FE06-4AB5-878C-157FB03553C3}" type="datetime1">
              <a:rPr lang="ru-RU" smtClean="0"/>
              <a:t>03.12.2024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27C44-2013-441D-9A71-29D55AD0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00F142-7CEB-4FEB-8936-E624043E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08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7CD63-E416-4372-9281-F4A9D04A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AF6D7B-399A-4315-9C6F-E333C5550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5B8B7-EC8E-4F12-9FF0-C11E73E5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74B0A-443E-4841-8AFB-2B46E60622B2}" type="datetime1">
              <a:rPr lang="ru-RU" smtClean="0"/>
              <a:t>03.12.2024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62D33A-9B11-4285-A16B-EEE8CBCF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0AD41E-7480-4CBD-A3B8-642FDA44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20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B5378-E6D3-49D8-8297-5F9352B4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67B57F-5B71-4982-B5A8-F8F1284A6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0ADA69-D708-4415-89C3-FE0152F8A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873432-0F55-40DE-B732-8232F165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DB53-3872-4D9B-BFB6-1022894790BE}" type="datetime1">
              <a:rPr lang="ru-RU" smtClean="0"/>
              <a:t>03.12.2024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BF71CD-DF36-48EC-8AFF-BED797F0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777A9-7A60-4FB2-AC25-ADF167FA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5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64834-8143-4DE8-8569-BC2308DC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C330CB-F236-43E7-85C9-4EF3B638E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A52E8D-7DC1-4D0A-B9DB-9853CD162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4A753D-EFAB-46E5-A66C-D5B16017F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9A5828-9757-454E-9EEB-D301D12E8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C6348AE-DB05-405B-AA06-FEAAB1FE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1C171-A8F8-41FC-ACDD-C73D37196336}" type="datetime1">
              <a:rPr lang="ru-RU" smtClean="0"/>
              <a:t>03.12.2024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9DC33E-A2A5-4590-A634-BEDC3AC4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87BFEA-2818-4334-BDFA-8E0D5281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48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FB209-8E84-4E16-8306-CA82BDD2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2C094F-4524-4444-8637-019C3125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9057-70FF-416B-B524-5C0DA3C1F5DC}" type="datetime1">
              <a:rPr lang="ru-RU" smtClean="0"/>
              <a:t>03.12.2024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EFE2BB-9F62-46ED-B78F-E897ECBD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328A8B-EE43-4B9A-9617-3918A7D1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80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F7EDA7-D633-40D3-82BD-87DB4AF3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E1AB6-C427-4BA1-95C2-6E81C7D4E690}" type="datetime1">
              <a:rPr lang="ru-RU" smtClean="0"/>
              <a:t>03.12.2024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F44819E-029E-4A92-9E29-13ADD2CD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14275D-CA70-4EBF-BFDF-279F2EE3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1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AE78E4-B120-4DC8-9F47-8C0A3BA2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074FAA-A4CE-4C9E-AE0B-BE622372D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6CCD0E-2ED4-4494-BCBF-B84C2030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15BC29-A37E-4AA4-A358-DA9B5ECC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F63BD-C35C-4D94-9FAE-992D2B7C59E2}" type="datetime1">
              <a:rPr lang="ru-RU" smtClean="0"/>
              <a:t>03.12.2024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5C5E14-5A8D-46AD-A1CF-E3AC9A77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759A7C-634B-42DF-BBB6-5F24A5F4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89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BD69E-18EE-4A23-A6FF-13AEE29A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BC2DD4-1D96-4E1D-948B-3FB12607A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092A30-9B5C-4647-AF97-E6D635DCB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B768BE-D9B0-4AB7-9962-2D4219C9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ACC5-E8EF-4EB8-BA9B-73222BF193B5}" type="datetime1">
              <a:rPr lang="ru-RU" smtClean="0"/>
              <a:t>03.12.2024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3ACB2F-D7BF-4036-9390-3C653DDF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21D9AC-6D92-474D-8A06-1C4ED3AE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30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15C84-708B-4A50-AC72-579C2F45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6AABDD-8935-4EF0-B665-228A05EC0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3557C-59B7-48A1-8316-BAEC2F78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7A34-6747-4CB8-9AEF-51CC4B1D93EC}" type="datetime1">
              <a:rPr lang="ru-RU" smtClean="0"/>
              <a:t>03.12.2024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40DF4-0762-4E6D-9755-F2F4A662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18E0D-5D33-4136-83AF-118B40EF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50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8B0DDAF-A89C-4D4A-A8DB-9FF7ADF9A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3B4984-2C0F-468D-98C8-E4CB56262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68438-83BA-4F63-BD45-05EE6C8F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272-108E-4C62-8BA2-CDF466CE46FE}" type="datetime1">
              <a:rPr lang="ru-RU" smtClean="0"/>
              <a:t>03.12.2024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42738D-ED14-4D87-81FE-38CBDB1B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47645-D277-451B-A1D7-A6B3F045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05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6000">
              <a:schemeClr val="bg1">
                <a:lumMod val="95000"/>
              </a:schemeClr>
            </a:gs>
            <a:gs pos="41000">
              <a:schemeClr val="accent1">
                <a:lumMod val="45000"/>
                <a:lumOff val="55000"/>
              </a:schemeClr>
            </a:gs>
            <a:gs pos="0">
              <a:schemeClr val="accent1">
                <a:lumMod val="40000"/>
                <a:lumOff val="60000"/>
              </a:schemeClr>
            </a:gs>
            <a:gs pos="94000">
              <a:schemeClr val="accent2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1FF97-CBBF-4A18-800A-9B8D9F1A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91C739-2936-499D-A4F5-6886C849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934EB6-083C-485E-9C73-C74499658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5E87B-6248-4B79-A345-852B67DF59AD}" type="datetime1">
              <a:rPr lang="ru-RU" smtClean="0"/>
              <a:t>03.12.2024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FF8275-2FD7-4AA8-A723-7EA04A27E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E9C534-FC31-47E7-9243-9317A0B82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400CF-52D6-4D59-B660-F1516802AA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6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21CE6-7978-4BC6-9DDE-C1029D8E9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9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ТОМСКИЙ ГОСУДАРСТВЕННЫЙ УНИВЕРСИТЕТ СИСТЕМ УПРАВЛЕНИЯ И РАДИОЭЛЕКТРОНИКИ (ТУСУР)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экономической математики, информатики и статики (ЭМИС)</a:t>
            </a:r>
            <a:b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9C0306-1FE5-437A-B6E2-5743DEE39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513" y="2508733"/>
            <a:ext cx="9144000" cy="1655762"/>
          </a:xfrm>
        </p:spPr>
        <p:txBody>
          <a:bodyPr/>
          <a:lstStyle/>
          <a:p>
            <a:r>
              <a:rPr lang="ru-RU" dirty="0"/>
              <a:t>ДОСТОЕВСКИЙ</a:t>
            </a:r>
          </a:p>
          <a:p>
            <a:r>
              <a:rPr lang="ru-RU" dirty="0"/>
              <a:t>Презентация по дисциплине «Информатика»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E5439-F34D-41E5-9C54-D341A8C65EAB}"/>
              </a:ext>
            </a:extLst>
          </p:cNvPr>
          <p:cNvSpPr txBox="1"/>
          <p:nvPr/>
        </p:nvSpPr>
        <p:spPr>
          <a:xfrm>
            <a:off x="9601943" y="5458437"/>
            <a:ext cx="2291140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Студент группы 594-2</a:t>
            </a:r>
            <a:br>
              <a:rPr lang="ru-RU" dirty="0"/>
            </a:br>
            <a:r>
              <a:rPr lang="ru-RU" dirty="0"/>
              <a:t>Танцерев А.А.</a:t>
            </a:r>
            <a:br>
              <a:rPr lang="ru-RU" dirty="0"/>
            </a:br>
            <a:r>
              <a:rPr lang="ru-RU" dirty="0"/>
              <a:t>25.11.2024</a:t>
            </a:r>
          </a:p>
        </p:txBody>
      </p:sp>
      <p:pic>
        <p:nvPicPr>
          <p:cNvPr id="5" name="Requiem For A Dream - Soundtrack">
            <a:hlinkClick r:id="" action="ppaction://media"/>
            <a:extLst>
              <a:ext uri="{FF2B5EF4-FFF2-40B4-BE49-F238E27FC236}">
                <a16:creationId xmlns:a16="http://schemas.microsoft.com/office/drawing/2014/main" id="{EA3CF835-7282-440A-ADC1-35027310747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8000" end="212177.083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13226" y="4562573"/>
            <a:ext cx="487363" cy="4873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6B68E5-4E23-4F62-9E95-73FCB5EDE4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5958"/>
            <a:ext cx="2932042" cy="293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37709"/>
      </p:ext>
    </p:extLst>
  </p:cSld>
  <p:clrMapOvr>
    <a:masterClrMapping/>
  </p:clrMapOvr>
  <p:transition spd="slow" advClick="0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1463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4DCF-64E5-4BFF-80AE-0FDD0F6F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317" y="98286"/>
            <a:ext cx="3369366" cy="1165501"/>
          </a:xfrm>
        </p:spPr>
        <p:txBody>
          <a:bodyPr/>
          <a:lstStyle/>
          <a:p>
            <a:pPr algn="ctr"/>
            <a:r>
              <a:rPr lang="ru-RU" dirty="0"/>
              <a:t>Достоевский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AD5CB1-ACC3-422B-88A2-9D8352F36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7" y="1063487"/>
            <a:ext cx="6401483" cy="5550797"/>
          </a:xfrm>
        </p:spPr>
        <p:txBody>
          <a:bodyPr>
            <a:normAutofit/>
          </a:bodyPr>
          <a:lstStyle/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Достоевский Федор Михайлович (30 октября (11 ноября) 1821 – 29 января (9 февраля) 1881) - русский писатель, мыслитель, философ и публицист. Член-корреспондент Петербургской АН с 1877 года.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Родился в Москве. Сын штаб-лекаря Мариинской больницы Михаила Андреевича Достоевского, убитого крепостными крестьянами, и дочери купца Марии Федоровны, урожденной Нечаевой, умершей от туберкулеза.</a:t>
            </a:r>
          </a:p>
          <a:p>
            <a:pPr algn="l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детства страдал эпилепсией.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FCB321-6E07-4F81-97A2-68B15D6F8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521" y="581346"/>
            <a:ext cx="8029815" cy="6032938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ED04F74-AC93-475D-8D92-F963ED93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249159"/>
            <a:ext cx="2743200" cy="365125"/>
          </a:xfrm>
        </p:spPr>
        <p:txBody>
          <a:bodyPr/>
          <a:lstStyle/>
          <a:p>
            <a:r>
              <a:rPr lang="ru-RU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23951648"/>
      </p:ext>
    </p:extLst>
  </p:cSld>
  <p:clrMapOvr>
    <a:masterClrMapping/>
  </p:clrMapOvr>
  <p:transition spd="slow" advTm="20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74020-1C85-4E8F-8720-52A22758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706" y="167163"/>
            <a:ext cx="5628588" cy="869786"/>
          </a:xfrm>
        </p:spPr>
        <p:txBody>
          <a:bodyPr/>
          <a:lstStyle/>
          <a:p>
            <a:pPr algn="ctr"/>
            <a:r>
              <a:rPr lang="ru-RU" dirty="0"/>
              <a:t>Работы Достоевского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BEFBAC-BEC0-4E9E-B85A-62D8C0233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34" y="1036948"/>
            <a:ext cx="5264925" cy="5439265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Достоевский за свою жизнь написал 54 произведения, среди которых 8 романов, пять из которых входят в так называемое «Великое Пятикнижие Достоевского», а именно:</a:t>
            </a:r>
          </a:p>
          <a:p>
            <a:pPr>
              <a:spcBef>
                <a:spcPts val="0"/>
              </a:spcBef>
            </a:pPr>
            <a:r>
              <a:rPr lang="ru-RU" dirty="0"/>
              <a:t>«Преступление и наказание»;</a:t>
            </a:r>
          </a:p>
          <a:p>
            <a:pPr>
              <a:spcBef>
                <a:spcPts val="0"/>
              </a:spcBef>
            </a:pPr>
            <a:r>
              <a:rPr lang="ru-RU" dirty="0"/>
              <a:t> «Бесы»;</a:t>
            </a:r>
          </a:p>
          <a:p>
            <a:pPr>
              <a:spcBef>
                <a:spcPts val="0"/>
              </a:spcBef>
            </a:pPr>
            <a:r>
              <a:rPr lang="ru-RU" dirty="0"/>
              <a:t>«Идиот»;</a:t>
            </a:r>
          </a:p>
          <a:p>
            <a:pPr>
              <a:spcBef>
                <a:spcPts val="0"/>
              </a:spcBef>
            </a:pPr>
            <a:r>
              <a:rPr lang="ru-RU" dirty="0"/>
              <a:t>«Подросток»;</a:t>
            </a:r>
          </a:p>
          <a:p>
            <a:pPr>
              <a:spcBef>
                <a:spcPts val="0"/>
              </a:spcBef>
            </a:pPr>
            <a:r>
              <a:rPr lang="ru-RU" dirty="0"/>
              <a:t>«Братья Карамазовы».</a:t>
            </a:r>
          </a:p>
          <a:p>
            <a:pPr marL="0" indent="0">
              <a:buNone/>
            </a:pPr>
            <a:r>
              <a:rPr lang="ru-RU" dirty="0"/>
              <a:t>Произведения Достоевского поистине считаются мировой классической литературой, его произведения переведены свыше 170 языков!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045848-1025-4970-A093-90F4D490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197975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3</a:t>
            </a:fld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35EDD-709C-4671-8DFA-B177A3857217}"/>
              </a:ext>
            </a:extLst>
          </p:cNvPr>
          <p:cNvSpPr txBox="1"/>
          <p:nvPr/>
        </p:nvSpPr>
        <p:spPr>
          <a:xfrm>
            <a:off x="6679703" y="862862"/>
            <a:ext cx="52649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b="1" i="0" u="sng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Романы:</a:t>
            </a:r>
          </a:p>
          <a:p>
            <a:pPr algn="l"/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1844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Бедные люди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- 13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1861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Униженные и оскорблённые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- 26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1866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Игрок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- 28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1866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Преступление и наказание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- 3 июля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1868—1869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Идиот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- 5 июля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1870—1872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Бесы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- 8 июля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1874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Подросток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- 10 июля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1878—1880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Братья Карамазовы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- 14 июля</a:t>
            </a:r>
          </a:p>
          <a:p>
            <a:pPr algn="l"/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1" i="0" u="sng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Повести: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1846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Двойник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- 14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1847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Хозяйка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- 18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1848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Слабое сердце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- 18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1848 — </a:t>
            </a:r>
            <a:r>
              <a:rPr lang="ru-RU" sz="1600" b="1" i="0" dirty="0" err="1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Неточка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1600" b="1" i="0" dirty="0" err="1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Незванова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- 20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1848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Белые ночи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- 20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1859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Дядюшкин сон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- 22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1859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Село </a:t>
            </a:r>
            <a:r>
              <a:rPr lang="ru-RU" sz="1600" b="1" i="0" dirty="0" err="1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Степанчиково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 и его обитатели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- 23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1860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Записки из Мёртвого дома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- 27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1864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Записки из подполья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- 24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1870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Вечный муж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- 29 июня</a:t>
            </a:r>
            <a:b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</a:b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1876 — </a:t>
            </a:r>
            <a:r>
              <a:rPr lang="ru-RU" sz="1600" b="1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Кроткая</a:t>
            </a:r>
            <a:r>
              <a:rPr lang="ru-RU" sz="1600" b="0" i="0" dirty="0">
                <a:solidFill>
                  <a:srgbClr val="252626"/>
                </a:solidFill>
                <a:effectLst/>
                <a:latin typeface="Source Sans Pro" panose="020B0503030403020204" pitchFamily="34" charset="0"/>
              </a:rPr>
              <a:t> - 29 июня</a:t>
            </a:r>
          </a:p>
        </p:txBody>
      </p:sp>
    </p:spTree>
    <p:extLst>
      <p:ext uri="{BB962C8B-B14F-4D97-AF65-F5344CB8AC3E}">
        <p14:creationId xmlns:p14="http://schemas.microsoft.com/office/powerpoint/2010/main" val="1849670987"/>
      </p:ext>
    </p:extLst>
  </p:cSld>
  <p:clrMapOvr>
    <a:masterClrMapping/>
  </p:clrMapOvr>
  <p:transition spd="slow" advTm="20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DB6A813-4310-4AF0-93FF-E6C49B03A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504" y="2208167"/>
            <a:ext cx="17811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96FF9-3F0E-4780-8C4D-9A68482D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634" y="1"/>
            <a:ext cx="4987565" cy="942680"/>
          </a:xfrm>
        </p:spPr>
        <p:txBody>
          <a:bodyPr/>
          <a:lstStyle/>
          <a:p>
            <a:pPr algn="ctr"/>
            <a:r>
              <a:rPr lang="ru-RU" dirty="0"/>
              <a:t>Книги Достоевского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93C899-27D7-437D-92FD-45138AFFB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39" y="1070767"/>
            <a:ext cx="7730765" cy="53831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Сейчас на территории Российской Федерации существует множество издательств, которые выпускают произведения Достоевского в различных изданиях. Самыми популярными считаются: «Эксклюзивная классика АСТ», «Азбука Классика», «Магистраль» и другие.</a:t>
            </a:r>
          </a:p>
          <a:p>
            <a:pPr marL="0" indent="0">
              <a:buNone/>
            </a:pPr>
            <a:r>
              <a:rPr lang="ru-RU" dirty="0"/>
              <a:t>Книги Достоевского исследуют глубокие темы человеческой психологии, морали, веры, страдания и борьбы с внутренними противоречиями. Его произведения часто концентрируются на сложных и противоречивых героях, которые пытаются разобраться с вопросами добра и зла, свободы выбора и смысла жизни. Достоевский показывает как личные трагедии, так и общественные конфликты, что делает его творчество актуальным и сегодня.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A13280-47FE-49D4-A364-6C91AE76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02217" y="6271344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4</a:t>
            </a:fld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E1323A-B04F-41AE-BECD-F3C7248F8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312" y="779417"/>
            <a:ext cx="1831569" cy="28574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064585-F4CE-4DE4-AE93-EA0E601C9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312" y="3778970"/>
            <a:ext cx="1830683" cy="285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43969"/>
      </p:ext>
    </p:extLst>
  </p:cSld>
  <p:clrMapOvr>
    <a:masterClrMapping/>
  </p:clrMapOvr>
  <p:transition spd="slow" advTm="20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96FF9-3F0E-4780-8C4D-9A68482D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410" y="-16190"/>
            <a:ext cx="12386820" cy="1325563"/>
          </a:xfrm>
        </p:spPr>
        <p:txBody>
          <a:bodyPr/>
          <a:lstStyle/>
          <a:p>
            <a:pPr algn="ctr"/>
            <a:r>
              <a:rPr lang="ru-RU" dirty="0"/>
              <a:t>Взаимосвязь произведение Великого Пятикнижия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A13280-47FE-49D4-A364-6C91AE76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02217" y="6271344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5</a:t>
            </a:fld>
            <a:endParaRPr lang="ru-RU" sz="2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1E2E58-5E0C-4C66-9B51-8D9478890155}"/>
              </a:ext>
            </a:extLst>
          </p:cNvPr>
          <p:cNvSpPr/>
          <p:nvPr/>
        </p:nvSpPr>
        <p:spPr>
          <a:xfrm>
            <a:off x="4220066" y="1203014"/>
            <a:ext cx="3751868" cy="9651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Фёдор Михайлович Достоевский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A38C837-387B-4F9C-957D-42E60CCD0A66}"/>
              </a:ext>
            </a:extLst>
          </p:cNvPr>
          <p:cNvSpPr/>
          <p:nvPr/>
        </p:nvSpPr>
        <p:spPr>
          <a:xfrm>
            <a:off x="78557" y="2647128"/>
            <a:ext cx="2218441" cy="1048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Преступление и наказание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1A0F916-B4D5-4414-8D46-46D6D5084618}"/>
              </a:ext>
            </a:extLst>
          </p:cNvPr>
          <p:cNvSpPr/>
          <p:nvPr/>
        </p:nvSpPr>
        <p:spPr>
          <a:xfrm>
            <a:off x="2466682" y="2647128"/>
            <a:ext cx="2218441" cy="1048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Подросток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4AB9A85-018A-4843-96D1-08D3ADA424C1}"/>
              </a:ext>
            </a:extLst>
          </p:cNvPr>
          <p:cNvSpPr/>
          <p:nvPr/>
        </p:nvSpPr>
        <p:spPr>
          <a:xfrm>
            <a:off x="4973817" y="2636575"/>
            <a:ext cx="2218441" cy="10484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Бесы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C7B844B-3182-4ED6-96DA-90EB3BB3C9B7}"/>
              </a:ext>
            </a:extLst>
          </p:cNvPr>
          <p:cNvSpPr/>
          <p:nvPr/>
        </p:nvSpPr>
        <p:spPr>
          <a:xfrm>
            <a:off x="7480952" y="2636575"/>
            <a:ext cx="2218441" cy="1048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Братья Карамазовы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96A813B-C214-47E0-85E9-471BA3466DA7}"/>
              </a:ext>
            </a:extLst>
          </p:cNvPr>
          <p:cNvSpPr/>
          <p:nvPr/>
        </p:nvSpPr>
        <p:spPr>
          <a:xfrm>
            <a:off x="9895002" y="2647032"/>
            <a:ext cx="2218441" cy="1037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Идиот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B48A4474-9233-4973-AB71-56BA72F52CE9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flipH="1">
            <a:off x="1187778" y="2168164"/>
            <a:ext cx="4908222" cy="478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32C69263-D100-4693-92A7-CB2752E8D3C3}"/>
              </a:ext>
            </a:extLst>
          </p:cNvPr>
          <p:cNvCxnSpPr>
            <a:stCxn id="8" idx="2"/>
            <a:endCxn id="13" idx="0"/>
          </p:cNvCxnSpPr>
          <p:nvPr/>
        </p:nvCxnSpPr>
        <p:spPr>
          <a:xfrm flipH="1">
            <a:off x="3575903" y="2168164"/>
            <a:ext cx="2520097" cy="478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A7D0D1C5-D66A-4150-8723-2697981505F4}"/>
              </a:ext>
            </a:extLst>
          </p:cNvPr>
          <p:cNvCxnSpPr>
            <a:stCxn id="8" idx="2"/>
            <a:endCxn id="14" idx="0"/>
          </p:cNvCxnSpPr>
          <p:nvPr/>
        </p:nvCxnSpPr>
        <p:spPr>
          <a:xfrm flipH="1">
            <a:off x="6083038" y="2168164"/>
            <a:ext cx="12962" cy="468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C11397F-15EA-4F2A-9383-D346407B9E6B}"/>
              </a:ext>
            </a:extLst>
          </p:cNvPr>
          <p:cNvCxnSpPr>
            <a:stCxn id="8" idx="2"/>
            <a:endCxn id="15" idx="0"/>
          </p:cNvCxnSpPr>
          <p:nvPr/>
        </p:nvCxnSpPr>
        <p:spPr>
          <a:xfrm>
            <a:off x="6096000" y="2168164"/>
            <a:ext cx="2494173" cy="468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0DEABAD-8487-4C2C-B3CA-890980B8AAA9}"/>
              </a:ext>
            </a:extLst>
          </p:cNvPr>
          <p:cNvCxnSpPr>
            <a:stCxn id="8" idx="2"/>
            <a:endCxn id="16" idx="0"/>
          </p:cNvCxnSpPr>
          <p:nvPr/>
        </p:nvCxnSpPr>
        <p:spPr>
          <a:xfrm>
            <a:off x="6096000" y="2168164"/>
            <a:ext cx="4908223" cy="47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DD21531-04DF-42C8-9909-44930D90AD70}"/>
              </a:ext>
            </a:extLst>
          </p:cNvPr>
          <p:cNvSpPr/>
          <p:nvPr/>
        </p:nvSpPr>
        <p:spPr>
          <a:xfrm>
            <a:off x="1187776" y="4397945"/>
            <a:ext cx="2736913" cy="1545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Темы греха, искупления и веры.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96EDDF0-9ADD-448F-AD3E-07ED304DB3E7}"/>
              </a:ext>
            </a:extLst>
          </p:cNvPr>
          <p:cNvSpPr/>
          <p:nvPr/>
        </p:nvSpPr>
        <p:spPr>
          <a:xfrm>
            <a:off x="4338683" y="4397946"/>
            <a:ext cx="2967089" cy="15456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Образы "святых страдальцев" и философия любви.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60B4E26-8A86-4AB4-97AF-FBE9E41A9DF1}"/>
              </a:ext>
            </a:extLst>
          </p:cNvPr>
          <p:cNvSpPr/>
          <p:nvPr/>
        </p:nvSpPr>
        <p:spPr>
          <a:xfrm>
            <a:off x="7719765" y="4400311"/>
            <a:ext cx="2847682" cy="1545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Анализ революционных идей и кризисов в обществе.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8FCA30E-144F-4B95-A94A-CAAA7DD5BB5D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1187778" y="3695545"/>
            <a:ext cx="1368455" cy="70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19647067-6545-41C1-9166-A8821FB95689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 flipH="1">
            <a:off x="2556233" y="3684991"/>
            <a:ext cx="6033940" cy="712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BF76D343-3309-4CC5-835F-AF741CE31C92}"/>
              </a:ext>
            </a:extLst>
          </p:cNvPr>
          <p:cNvCxnSpPr>
            <a:stCxn id="12" idx="2"/>
            <a:endCxn id="28" idx="0"/>
          </p:cNvCxnSpPr>
          <p:nvPr/>
        </p:nvCxnSpPr>
        <p:spPr>
          <a:xfrm>
            <a:off x="1187778" y="3695545"/>
            <a:ext cx="4634450" cy="702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05FEC8D5-4FCF-4FE4-8EB3-9B88EA2DF666}"/>
              </a:ext>
            </a:extLst>
          </p:cNvPr>
          <p:cNvCxnSpPr>
            <a:stCxn id="16" idx="2"/>
            <a:endCxn id="28" idx="0"/>
          </p:cNvCxnSpPr>
          <p:nvPr/>
        </p:nvCxnSpPr>
        <p:spPr>
          <a:xfrm flipH="1">
            <a:off x="5822228" y="3684992"/>
            <a:ext cx="5181995" cy="712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5CC86B2-9F6B-4A05-AC8D-5ACBE597EE5B}"/>
              </a:ext>
            </a:extLst>
          </p:cNvPr>
          <p:cNvCxnSpPr>
            <a:stCxn id="14" idx="2"/>
            <a:endCxn id="31" idx="0"/>
          </p:cNvCxnSpPr>
          <p:nvPr/>
        </p:nvCxnSpPr>
        <p:spPr>
          <a:xfrm>
            <a:off x="6083038" y="3684992"/>
            <a:ext cx="3060568" cy="715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CEBA8A2E-E4F8-4D63-A93E-BE03AA27AE2E}"/>
              </a:ext>
            </a:extLst>
          </p:cNvPr>
          <p:cNvCxnSpPr>
            <a:stCxn id="15" idx="2"/>
            <a:endCxn id="31" idx="0"/>
          </p:cNvCxnSpPr>
          <p:nvPr/>
        </p:nvCxnSpPr>
        <p:spPr>
          <a:xfrm>
            <a:off x="8590173" y="3684991"/>
            <a:ext cx="553433" cy="715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79001"/>
      </p:ext>
    </p:extLst>
  </p:cSld>
  <p:clrMapOvr>
    <a:masterClrMapping/>
  </p:clrMapOvr>
  <p:transition spd="slow" advTm="10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38866E-888A-486E-8939-0CD07BD6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0213" y="6416990"/>
            <a:ext cx="371573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6</a:t>
            </a:fld>
            <a:endParaRPr lang="ru-RU" sz="28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651B824-ED7A-4641-9DBE-40437E35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221" y="0"/>
            <a:ext cx="3877558" cy="864602"/>
          </a:xfrm>
        </p:spPr>
        <p:txBody>
          <a:bodyPr/>
          <a:lstStyle/>
          <a:p>
            <a:pPr algn="ctr"/>
            <a:r>
              <a:rPr lang="ru-RU" dirty="0"/>
              <a:t>Достоевский </a:t>
            </a:r>
            <a:r>
              <a:rPr lang="en-US" dirty="0" err="1"/>
              <a:t>irl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7A1DEA-D286-4F1F-9A2F-0BFE06FD2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03" y="75415"/>
            <a:ext cx="51435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1B09113B-EAF0-4CC9-86CB-6E69BF810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5827" y="940017"/>
                <a:ext cx="6061436" cy="547697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ru-RU" b="1" dirty="0"/>
                  <a:t>Формула анализа текста Достоевского</a:t>
                </a:r>
                <a:endParaRPr lang="en-US" b="1" dirty="0"/>
              </a:p>
              <a:p>
                <a:pPr marL="0" indent="0" algn="ctr">
                  <a:buNone/>
                </a:pPr>
                <a:endParaRPr lang="ru-RU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𝑬𝒎𝒐𝒕𝒊𝒐𝒏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/>
              </a:p>
              <a:p>
                <a:pPr marL="0" indent="0" algn="just">
                  <a:buNone/>
                </a:pPr>
                <a:r>
                  <a:rPr lang="ru-RU" sz="2000" dirty="0"/>
                  <a:t>где </a:t>
                </a:r>
                <a:r>
                  <a:rPr lang="en-US" sz="2000" b="1" dirty="0"/>
                  <a:t>M</a:t>
                </a:r>
                <a:r>
                  <a:rPr lang="en-US" sz="2000" dirty="0"/>
                  <a:t> - </a:t>
                </a:r>
                <a:r>
                  <a:rPr lang="ru-RU" sz="2000" dirty="0"/>
                  <a:t>"эмоциональная насыщенность" текста,</a:t>
                </a:r>
                <a:endParaRPr lang="en-US" sz="2000" dirty="0"/>
              </a:p>
              <a:p>
                <a:pPr marL="0" indent="358775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ru-RU" sz="2000" dirty="0"/>
                  <a:t> — каждое слово из текста (всего n),</a:t>
                </a:r>
                <a:endParaRPr lang="en-US" sz="2000" dirty="0"/>
              </a:p>
              <a:p>
                <a:pPr marL="0" indent="358775" algn="just">
                  <a:buNone/>
                </a:pPr>
                <a:r>
                  <a:rPr lang="ru-RU" sz="2000" b="1" dirty="0" err="1"/>
                  <a:t>Emotion</a:t>
                </a:r>
                <a:r>
                  <a:rPr lang="ru-RU" sz="20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ru-RU" sz="2000" b="1" dirty="0"/>
                  <a:t>​)</a:t>
                </a:r>
                <a:r>
                  <a:rPr lang="ru-RU" sz="2000" dirty="0"/>
                  <a:t> — функция, которая возвращает эмоциональный вес слова (например, через словари эмоций),</a:t>
                </a:r>
                <a:endParaRPr lang="en-US" sz="2000" dirty="0"/>
              </a:p>
              <a:p>
                <a:pPr marL="0" indent="358775" algn="just">
                  <a:buNone/>
                </a:pPr>
                <a:r>
                  <a:rPr lang="en-US" sz="2000" b="1" dirty="0"/>
                  <a:t>n</a:t>
                </a:r>
                <a:r>
                  <a:rPr lang="en-US" sz="2000" dirty="0"/>
                  <a:t> — </a:t>
                </a:r>
                <a:r>
                  <a:rPr lang="ru-RU" sz="2000" dirty="0"/>
                  <a:t>общее количество слов.</a:t>
                </a:r>
                <a:endParaRPr lang="ru-RU" sz="3200" dirty="0"/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1B09113B-EAF0-4CC9-86CB-6E69BF810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5827" y="940017"/>
                <a:ext cx="6061436" cy="5476973"/>
              </a:xfrm>
              <a:blipFill>
                <a:blip r:embed="rId3"/>
                <a:stretch>
                  <a:fillRect l="-1107" t="-1780" r="-10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49994"/>
      </p:ext>
    </p:extLst>
  </p:cSld>
  <p:clrMapOvr>
    <a:masterClrMapping/>
  </p:clrMapOvr>
  <p:transition spd="slow" advTm="15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7F6E606-FBE9-4311-ADBD-A79975412425}"/>
              </a:ext>
            </a:extLst>
          </p:cNvPr>
          <p:cNvSpPr txBox="1">
            <a:spLocks/>
          </p:cNvSpPr>
          <p:nvPr/>
        </p:nvSpPr>
        <p:spPr>
          <a:xfrm>
            <a:off x="2896189" y="-11946"/>
            <a:ext cx="6399622" cy="737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Экранизации книг Достоевского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3D6BE83-0162-4690-8285-DDE712861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21" y="942681"/>
            <a:ext cx="7221716" cy="54769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Множество произведений Достоевского получили экранизации в самых различных уголках нашей планеты. Существует огромное количество сериалов, фильмов и даже адаптаций в формате </a:t>
            </a:r>
            <a:r>
              <a:rPr lang="ru-RU" dirty="0" err="1"/>
              <a:t>манги</a:t>
            </a:r>
            <a:r>
              <a:rPr lang="ru-RU" dirty="0"/>
              <a:t>. Эти работы не только отражают философскую глубину и психологизм его произведений, но и переосмысливают их через призму разных культур и эпох. «Преступление и наказание», «Идиот», «Братья Карамазовы» и «Бесы» особенно часто вдохновляют режиссёров, от классических фильмов до современных сериалов и театральных постановок.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87A023-14B3-4488-AA71-07B50065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288005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7</a:t>
            </a:fld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82C3EFB-0E26-42E8-9957-0C8141864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251" y="1175830"/>
            <a:ext cx="4815729" cy="450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93203"/>
      </p:ext>
    </p:extLst>
  </p:cSld>
  <p:clrMapOvr>
    <a:masterClrMapping/>
  </p:clrMapOvr>
  <p:transition spd="slow" advTm="3000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7F6E606-FBE9-4311-ADBD-A79975412425}"/>
              </a:ext>
            </a:extLst>
          </p:cNvPr>
          <p:cNvSpPr txBox="1">
            <a:spLocks/>
          </p:cNvSpPr>
          <p:nvPr/>
        </p:nvSpPr>
        <p:spPr>
          <a:xfrm>
            <a:off x="2896189" y="-11946"/>
            <a:ext cx="6399622" cy="737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Экранизация «Бесов»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3D6BE83-0162-4690-8285-DDE712861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21" y="942681"/>
            <a:ext cx="7221716" cy="547697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/>
              <a:t>Сериал «Бесы» — это экранизация одноимённого романа Фёдора Достоевского, выпущенная в 2014 году. Он был создан режиссёром Владимиром Хотиненко в России для телеканала "Россия 1".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Действие разворачивается в небольшом провинциальном городе в XIX веке, где под влиянием революционных идей начинается политическое и моральное смятение.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Сериал исследует темы веры, морали и разрушительных последствий радикальной идеологии. В центре сюжета — сложные судьбы героев, включая загадочного Николая Ставрогина и молодого идеолога Петра </a:t>
            </a:r>
            <a:r>
              <a:rPr lang="ru-RU" dirty="0" err="1"/>
              <a:t>Верховенского</a:t>
            </a:r>
            <a:r>
              <a:rPr lang="ru-RU" dirty="0"/>
              <a:t>. Отличается качественной актёрской игрой и стилизованной под эпоху атмосферой.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87A023-14B3-4488-AA71-07B50065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288005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8</a:t>
            </a:fld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3A2377-C135-4718-8F4A-B159DC690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50054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31003"/>
      </p:ext>
    </p:extLst>
  </p:cSld>
  <p:clrMapOvr>
    <a:masterClrMapping/>
  </p:clrMapOvr>
  <p:transition spd="slow" advTm="3000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C4AE5-D241-46DF-9F56-AC66EFF8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241" y="320675"/>
            <a:ext cx="4301359" cy="1325563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rgbClr val="FF0000"/>
                </a:solidFill>
              </a:rPr>
              <a:t>ВНИМАНИЕ!!!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1B43B1-6ED5-4AEA-9620-5C664E5F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515"/>
            <a:ext cx="10515600" cy="18424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/>
              <a:t>Далее информация не для слабонервных, просьба закрыть глаза, чтобы не видеть ужаса, продемонстрированного на видео.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3C1A1B-8F95-4BD3-8B63-FA66566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799" y="6354762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9</a:t>
            </a:fld>
            <a:endParaRPr lang="ru-RU" sz="28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B425F64-2F59-4440-87EA-3E9B4EBAE86B}"/>
              </a:ext>
            </a:extLst>
          </p:cNvPr>
          <p:cNvSpPr txBox="1">
            <a:spLocks/>
          </p:cNvSpPr>
          <p:nvPr/>
        </p:nvSpPr>
        <p:spPr>
          <a:xfrm>
            <a:off x="419888" y="3196897"/>
            <a:ext cx="11352223" cy="2753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dirty="0">
                <a:solidFill>
                  <a:srgbClr val="FF0000"/>
                </a:solidFill>
              </a:rPr>
              <a:t>А ТАКЖЕ НА СЛЕДУЮЩЕМ СЛАЙДЕ ПРИСУТСТВУЮТ СПОЙЛЕРЫ К КНИГЕ И СЕРИАЛУ!!!</a:t>
            </a:r>
          </a:p>
        </p:txBody>
      </p:sp>
    </p:spTree>
    <p:extLst>
      <p:ext uri="{BB962C8B-B14F-4D97-AF65-F5344CB8AC3E}">
        <p14:creationId xmlns:p14="http://schemas.microsoft.com/office/powerpoint/2010/main" val="1372490860"/>
      </p:ext>
    </p:extLst>
  </p:cSld>
  <p:clrMapOvr>
    <a:masterClrMapping/>
  </p:clrMapOvr>
  <p:transition spd="slow" advTm="500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7F6E606-FBE9-4311-ADBD-A79975412425}"/>
              </a:ext>
            </a:extLst>
          </p:cNvPr>
          <p:cNvSpPr txBox="1">
            <a:spLocks/>
          </p:cNvSpPr>
          <p:nvPr/>
        </p:nvSpPr>
        <p:spPr>
          <a:xfrm>
            <a:off x="2896189" y="-11946"/>
            <a:ext cx="6399622" cy="737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Красавец Ставрогин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87A023-14B3-4488-AA71-07B50065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800" y="6288005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10</a:t>
            </a:fld>
            <a:endParaRPr lang="ru-RU" sz="2800" dirty="0"/>
          </a:p>
        </p:txBody>
      </p:sp>
      <p:pic>
        <p:nvPicPr>
          <p:cNvPr id="8" name="Вы - Ставрогин 💟 [ Вальс _Спящая красавица_ ]">
            <a:hlinkClick r:id="" action="ppaction://media"/>
            <a:extLst>
              <a:ext uri="{FF2B5EF4-FFF2-40B4-BE49-F238E27FC236}">
                <a16:creationId xmlns:a16="http://schemas.microsoft.com/office/drawing/2014/main" id="{F415F21A-6535-461C-A716-6C16EA18415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015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8400" y="6858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31059"/>
      </p:ext>
    </p:extLst>
  </p:cSld>
  <p:clrMapOvr>
    <a:masterClrMapping/>
  </p:clrMapOvr>
  <p:transition spd="slow" advTm="36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1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3415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E35B8F-4852-4E84-B43E-44C090C3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964" y="2295152"/>
            <a:ext cx="7050071" cy="2267695"/>
          </a:xfrm>
        </p:spPr>
        <p:txBody>
          <a:bodyPr>
            <a:normAutofit/>
          </a:bodyPr>
          <a:lstStyle/>
          <a:p>
            <a:r>
              <a:rPr lang="ru-RU" sz="5400" dirty="0"/>
              <a:t>Спасибо за внимание!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57BEAD-A141-4710-8F69-BA6CC6FD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52799" y="6328069"/>
            <a:ext cx="2743200" cy="365125"/>
          </a:xfrm>
        </p:spPr>
        <p:txBody>
          <a:bodyPr/>
          <a:lstStyle/>
          <a:p>
            <a:fld id="{2D2400CF-52D6-4D59-B660-F1516802AADE}" type="slidenum">
              <a:rPr lang="ru-RU" sz="2800" smtClean="0"/>
              <a:t>11</a:t>
            </a:fld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6896149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215</TotalTime>
  <Words>771</Words>
  <Application>Microsoft Office PowerPoint</Application>
  <PresentationFormat>Широкоэкранный</PresentationFormat>
  <Paragraphs>61</Paragraphs>
  <Slides>11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Source Sans Pro</vt:lpstr>
      <vt:lpstr>Times New Roman</vt:lpstr>
      <vt:lpstr>Тема Office</vt:lpstr>
      <vt:lpstr>Министерство науки и высшего образования Российской Федерации Федеральное государственное автономное образовательное учреждение высшего образования ТОМСКИЙ ГОСУДАРСТВЕННЫЙ УНИВЕРСИТЕТ СИСТЕМ УПРАВЛЕНИЯ И РАДИОЭЛЕКТРОНИКИ (ТУСУР) Кафедра экономической математики, информатики и статики (ЭМИС) </vt:lpstr>
      <vt:lpstr>Достоевский</vt:lpstr>
      <vt:lpstr>Работы Достоевского</vt:lpstr>
      <vt:lpstr>Книги Достоевского</vt:lpstr>
      <vt:lpstr>Взаимосвязь произведение Великого Пятикнижия</vt:lpstr>
      <vt:lpstr>Достоевский irl</vt:lpstr>
      <vt:lpstr>Презентация PowerPoint</vt:lpstr>
      <vt:lpstr>Презентация PowerPoint</vt:lpstr>
      <vt:lpstr>ВНИМАНИЕ!!!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Федеральное государственное автономное образовательное учреждение высшего образования ТОМСКИЙ ГОСУДАРСТВЕННЫЙ УНИВЕРСИТЕТ СИСТЕМ УПРАВЛЕНИЯ И РАДИОЭЛЕКТРОНИКИ (ТУСУР) Кафедра экономической математики, информатики и статики (ЭМИС)</dc:title>
  <dc:creator>kitty swirth</dc:creator>
  <cp:lastModifiedBy>kitty swirth</cp:lastModifiedBy>
  <cp:revision>29</cp:revision>
  <dcterms:created xsi:type="dcterms:W3CDTF">2024-11-09T07:06:24Z</dcterms:created>
  <dcterms:modified xsi:type="dcterms:W3CDTF">2024-12-03T12:27:01Z</dcterms:modified>
</cp:coreProperties>
</file>